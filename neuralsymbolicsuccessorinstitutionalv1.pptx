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ae2b377b134e19" /><Relationship Type="http://schemas.openxmlformats.org/officeDocument/2006/relationships/extended-properties" Target="/docProps/app.xml" Id="Rbc5429fb00284b04" /><Relationship Type="http://schemas.openxmlformats.org/officeDocument/2006/relationships/officeDocument" Target="/ppt/presentation.xml" Id="R683668b0a29b42b2" /></Relationships>
</file>

<file path=ppt/presentation.xml><?xml version="1.0" encoding="utf-8"?>
<p:presentation xmlns:p="http://schemas.openxmlformats.org/presentationml/2006/main">
  <p:sldMasterIdLst>
    <p:sldMasterId xmlns:r="http://schemas.openxmlformats.org/officeDocument/2006/relationships" id="2147483648" r:id="Ra726dabe1fdd440a"/>
  </p:sldMasterIdLst>
  <p:notesMasterIdLst>
    <p:notesMasterId xmlns:r="http://schemas.openxmlformats.org/officeDocument/2006/relationships" r:id="R805c097028ea4301"/>
  </p:notesMasterIdLst>
  <p:sldIdLst>
    <p:sldId xmlns:r="http://schemas.openxmlformats.org/officeDocument/2006/relationships" id="256" r:id="Rbc1822da24ca44e3"/>
    <p:sldId xmlns:r="http://schemas.openxmlformats.org/officeDocument/2006/relationships" id="257" r:id="R851c2bf796c34c48"/>
    <p:sldId xmlns:r="http://schemas.openxmlformats.org/officeDocument/2006/relationships" id="258" r:id="R0ce9beaaeecc4c53"/>
    <p:sldId xmlns:r="http://schemas.openxmlformats.org/officeDocument/2006/relationships" id="259" r:id="Ra3092b3e9f8c46f4"/>
    <p:sldId xmlns:r="http://schemas.openxmlformats.org/officeDocument/2006/relationships" id="260" r:id="Rde58ebc17962496f"/>
    <p:sldId xmlns:r="http://schemas.openxmlformats.org/officeDocument/2006/relationships" id="261" r:id="Rc6831009ed9e4837"/>
    <p:sldId xmlns:r="http://schemas.openxmlformats.org/officeDocument/2006/relationships" id="262" r:id="R4b9b5cca5eb64636"/>
    <p:sldId xmlns:r="http://schemas.openxmlformats.org/officeDocument/2006/relationships" id="263" r:id="R0d91d5e6946e4c00"/>
    <p:sldId xmlns:r="http://schemas.openxmlformats.org/officeDocument/2006/relationships" id="264" r:id="Rdcbafb5af1d74a1b"/>
    <p:sldId xmlns:r="http://schemas.openxmlformats.org/officeDocument/2006/relationships" id="265" r:id="R099cc765ce264345"/>
    <p:sldId xmlns:r="http://schemas.openxmlformats.org/officeDocument/2006/relationships" id="266" r:id="Reb2991590b6946a2"/>
    <p:sldId xmlns:r="http://schemas.openxmlformats.org/officeDocument/2006/relationships" id="267" r:id="R7eacea4447ad48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75f5db90a94c1d" /><Relationship Type="http://schemas.openxmlformats.org/officeDocument/2006/relationships/slideMaster" Target="/ppt/slideMasters/slideMaster1.xml" Id="Ra726dabe1fdd440a" /><Relationship Type="http://schemas.openxmlformats.org/officeDocument/2006/relationships/notesMaster" Target="/ppt/notesMasters/notesMaster1.xml" Id="R805c097028ea4301" /><Relationship Type="http://schemas.openxmlformats.org/officeDocument/2006/relationships/presProps" Target="/ppt/presProps.xml" Id="R0d2b2d94b0ac48bd" /><Relationship Type="http://schemas.openxmlformats.org/officeDocument/2006/relationships/tableStyles" Target="/ppt/tableStyles.xml" Id="Re29cc4ff89f44d1d" /><Relationship Type="http://schemas.openxmlformats.org/officeDocument/2006/relationships/slide" Target="/ppt/slides/slide1.xml" Id="Rbc1822da24ca44e3" /><Relationship Type="http://schemas.openxmlformats.org/officeDocument/2006/relationships/slide" Target="/ppt/slides/slide2.xml" Id="R851c2bf796c34c48" /><Relationship Type="http://schemas.openxmlformats.org/officeDocument/2006/relationships/slide" Target="/ppt/slides/slide3.xml" Id="R0ce9beaaeecc4c53" /><Relationship Type="http://schemas.openxmlformats.org/officeDocument/2006/relationships/slide" Target="/ppt/slides/slide4.xml" Id="Ra3092b3e9f8c46f4" /><Relationship Type="http://schemas.openxmlformats.org/officeDocument/2006/relationships/slide" Target="/ppt/slides/slide5.xml" Id="Rde58ebc17962496f" /><Relationship Type="http://schemas.openxmlformats.org/officeDocument/2006/relationships/slide" Target="/ppt/slides/slide6.xml" Id="Rc6831009ed9e4837" /><Relationship Type="http://schemas.openxmlformats.org/officeDocument/2006/relationships/slide" Target="/ppt/slides/slide7.xml" Id="R4b9b5cca5eb64636" /><Relationship Type="http://schemas.openxmlformats.org/officeDocument/2006/relationships/slide" Target="/ppt/slides/slide8.xml" Id="R0d91d5e6946e4c00" /><Relationship Type="http://schemas.openxmlformats.org/officeDocument/2006/relationships/slide" Target="/ppt/slides/slide9.xml" Id="Rdcbafb5af1d74a1b" /><Relationship Type="http://schemas.openxmlformats.org/officeDocument/2006/relationships/slide" Target="/ppt/slides/slide10.xml" Id="R099cc765ce264345" /><Relationship Type="http://schemas.openxmlformats.org/officeDocument/2006/relationships/slide" Target="/ppt/slides/slide11.xml" Id="Reb2991590b6946a2" /><Relationship Type="http://schemas.openxmlformats.org/officeDocument/2006/relationships/slide" Target="/ppt/slides/slide12.xml" Id="R7eacea4447ad48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f76b72893648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8dc8009cc47ed" /><Relationship Type="http://schemas.openxmlformats.org/officeDocument/2006/relationships/notesMaster" Target="/ppt/notesMasters/notesMaster1.xml" Id="R05dedad2669445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fd2bcc5484e28" /><Relationship Type="http://schemas.openxmlformats.org/officeDocument/2006/relationships/notesMaster" Target="/ppt/notesMasters/notesMaster1.xml" Id="R02cada3a3f4641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dbccaf119a4f14" /><Relationship Type="http://schemas.openxmlformats.org/officeDocument/2006/relationships/notesMaster" Target="/ppt/notesMasters/notesMaster1.xml" Id="Re1582d9b28d848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a561445a974806" /><Relationship Type="http://schemas.openxmlformats.org/officeDocument/2006/relationships/notesMaster" Target="/ppt/notesMasters/notesMaster1.xml" Id="R5d343db58b974b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fd5c5451e445f6" /><Relationship Type="http://schemas.openxmlformats.org/officeDocument/2006/relationships/notesMaster" Target="/ppt/notesMasters/notesMaster1.xml" Id="R465b8424f1cd41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da808c597c4b4a" /><Relationship Type="http://schemas.openxmlformats.org/officeDocument/2006/relationships/notesMaster" Target="/ppt/notesMasters/notesMaster1.xml" Id="R5ed9c334edde40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d04671ca294932" /><Relationship Type="http://schemas.openxmlformats.org/officeDocument/2006/relationships/notesMaster" Target="/ppt/notesMasters/notesMaster1.xml" Id="Rd4c4d4e77bc448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66bac18ad24c1e" /><Relationship Type="http://schemas.openxmlformats.org/officeDocument/2006/relationships/notesMaster" Target="/ppt/notesMasters/notesMaster1.xml" Id="Ra8b314b75f614d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7e199c2bb74a99" /><Relationship Type="http://schemas.openxmlformats.org/officeDocument/2006/relationships/notesMaster" Target="/ppt/notesMasters/notesMaster1.xml" Id="R6bcac8080ce745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5df257e2a94e18" /><Relationship Type="http://schemas.openxmlformats.org/officeDocument/2006/relationships/notesMaster" Target="/ppt/notesMasters/notesMaster1.xml" Id="Rf34ff3d6e20342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2976b9e28a4ce5" /><Relationship Type="http://schemas.openxmlformats.org/officeDocument/2006/relationships/notesMaster" Target="/ppt/notesMasters/notesMaster1.xml" Id="R4355288df4904f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16bf9895344a5e" /><Relationship Type="http://schemas.openxmlformats.org/officeDocument/2006/relationships/notesMaster" Target="/ppt/notesMasters/notesMaster1.xml" Id="Rbfef2f972a194b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7, 11 (separate decision gates; governing invariant).</a:t>
            </a:r>
          </a:p>
          <a:p xmlns:a="http://schemas.openxmlformats.org/drawingml/2006/main">
            <a:r>
              <a:t>- Commissioned conceptual editorial visualization: exec-1a978d70-d5ee-44c9-9619-43a62a1eab46.png.</a:t>
            </a:r>
          </a:p>
          <a:p xmlns:a="http://schemas.openxmlformats.org/drawingml/2006/main">
            <a:r>
              <a:t/>
            </a:r>
          </a:p>
          <a:p xmlns:a="http://schemas.openxmlformats.org/drawingml/2006/main">
            <a:r>
              <a:t>Conceptual editorial visualization — not deployed infrastructure, empirical evidence, or a proof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4–10 (executive thesis, category, durable unit of competition, ownership definition).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canonical four-compartment visual specification, 26 August 2026.</a:t>
            </a:r>
          </a:p>
          <a:p xmlns:a="http://schemas.openxmlformats.org/drawingml/2006/main">
            <a:r>
              <a:t>- MONTREAL.AI, Neural-Symbolic SUCCESSOR Ω white paper, pp. 10–12, 26–35 (canonical definitions, proof, authority and separation of powers).</a:t>
            </a:r>
          </a:p>
          <a:p xmlns:a="http://schemas.openxmlformats.org/drawingml/2006/main">
            <a:r>
              <a:t/>
            </a:r>
          </a:p>
          <a:p xmlns:a="http://schemas.openxmlformats.org/drawingml/2006/main">
            <a:r>
              <a:t>Proof is externally governed; Authority is customer-granted and externally enforced. The four compartments are not four claimant-owned executable programs.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20–21 (continuous evolution without uncontrolled self-modification).</a:t>
            </a:r>
          </a:p>
          <a:p xmlns:a="http://schemas.openxmlformats.org/drawingml/2006/main">
            <a:r>
              <a:t/>
            </a:r>
          </a:p>
          <a:p xmlns:a="http://schemas.openxmlformats.org/drawingml/2006/main">
            <a:r>
              <a:t>Improvement is recursive but governed: each material descendant freezes, undergoes fresh proof, and receives a new admission before serving.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8–11, 27–30 (baseline, Spread, Alpha, Specialist ASI and proof validity).</a:t>
            </a:r>
          </a:p>
          <a:p xmlns:a="http://schemas.openxmlformats.org/drawingml/2006/main">
            <a:r>
              <a:t/>
            </a:r>
          </a:p>
          <a:p xmlns:a="http://schemas.openxmlformats.org/drawingml/2006/main">
            <a:r>
              <a:t>Mission Alpha is perishable and may be absent. The baseline is the better of the incumbent and relevant AI Beta under comparable mission utility, constraints, cost, latency, security, and operating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5–6, 11–12, 26–35 (constitutional separation, proof, admission and execution).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26–30 (fresh proof, protocol, independence levels, receipt and validity).</a:t>
            </a:r>
          </a:p>
          <a:p xmlns:a="http://schemas.openxmlformats.org/drawingml/2006/main">
            <a:r>
              <a:t>- Commissioned conceptual editorial visualization: exec-9a49d2f7-d56a-4674-aeb0-03427935ad27.png.</a:t>
            </a:r>
          </a:p>
          <a:p xmlns:a="http://schemas.openxmlformats.org/drawingml/2006/main">
            <a:r>
              <a:t/>
            </a:r>
          </a:p>
          <a:p xmlns:a="http://schemas.openxmlformats.org/drawingml/2006/main">
            <a:r>
              <a:t>Conceptual editorial visualization — not deployed infrastructure, empirical evidence, or a proof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29–35 (proof impairment, authority levels, Authority Envelope and Deployment Controller).</a:t>
            </a:r>
          </a:p>
          <a:p xmlns:a="http://schemas.openxmlformats.org/drawingml/2006/main">
            <a:r>
              <a:t/>
            </a:r>
          </a:p>
          <a:p xmlns:a="http://schemas.openxmlformats.org/drawingml/2006/main">
            <a:r>
              <a:t>Nothing automatically restores authority. A proof result does not itself grant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9–10, 35–39 (ownership definition, durable package, portability and export-and-rebuild test).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pp. 20–21, 53–54 (governed descendants, Chronicle and succession).</a:t>
            </a:r>
          </a:p>
          <a:p xmlns:a="http://schemas.openxmlformats.org/drawingml/2006/main">
            <a:r>
              <a:t>- Commissioned conceptual editorial visualization: exec-ab183ff6-e50b-4a26-976a-99eab96ba730.png.</a:t>
            </a:r>
          </a:p>
          <a:p xmlns:a="http://schemas.openxmlformats.org/drawingml/2006/main">
            <a:r>
              <a:t/>
            </a:r>
          </a:p>
          <a:p xmlns:a="http://schemas.openxmlformats.org/drawingml/2006/main">
            <a:r>
              <a:t>Conceptual editorial visualization — not deployed infrastructure, empirical evidence, or a proof receipt. Transfers remain subject to evidence rights, policy, retention and privacy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 7 and Appendix D, pp. 57–58 (D0–D4 executive decision sequence and pass/fail gates).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MONTREAL.AI, Neural-Symbolic SUCCESSOR Ω white paper, p. 7 and Appendix D, pp. 57–58 (D0 underwrite evidence, maximum permitted state and D1 return conditions).</a:t>
            </a:r>
          </a:p>
          <a:p xmlns:a="http://schemas.openxmlformats.org/drawingml/2006/main">
            <a:r>
              <a:t/>
            </a:r>
          </a:p>
          <a:p xmlns:a="http://schemas.openxmlformats.org/drawingml/2006/main">
            <a:r>
              <a:t>Recommended resolution language is an executive synthesis of the paper's D0 and D1 gates. It does not authorize production autonomy.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cfacd13f4945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e5b10359694b1a" /><Relationship Type="http://schemas.openxmlformats.org/officeDocument/2006/relationships/slideLayout" Target="/ppt/slideLayouts/slideLayout1.xml" Id="Rb664995296bc43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64995296bc43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180a27eb9846a8" /><Relationship Type="http://schemas.openxmlformats.org/officeDocument/2006/relationships/image" Target="/ppt/media/image.png" Id="R06c84dc3451b4ef3" /><Relationship Type="http://schemas.openxmlformats.org/officeDocument/2006/relationships/notesSlide" Target="/ppt/notesSlides/notesSlide1.xml" Id="Rf8c7d040353646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13b07ce4bd4984" /><Relationship Type="http://schemas.openxmlformats.org/officeDocument/2006/relationships/notesSlide" Target="/ppt/notesSlides/notesSlide2.xml" Id="Re13715316f884e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ae952ea43744c9" /><Relationship Type="http://schemas.openxmlformats.org/officeDocument/2006/relationships/notesSlide" Target="/ppt/notesSlides/notesSlide3.xml" Id="R1ae1f463f07b4e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826dd433914b99" /><Relationship Type="http://schemas.openxmlformats.org/officeDocument/2006/relationships/notesSlide" Target="/ppt/notesSlides/notesSlide4.xml" Id="Rb01ac6f2dfb243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409cea08844a90" /><Relationship Type="http://schemas.openxmlformats.org/officeDocument/2006/relationships/notesSlide" Target="/ppt/notesSlides/notesSlide5.xml" Id="Rc3a722fb8f5d4e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2985522af74043" /><Relationship Type="http://schemas.openxmlformats.org/officeDocument/2006/relationships/notesSlide" Target="/ppt/notesSlides/notesSlide6.xml" Id="Recf5401d4e714e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b23090fa7f4558" /><Relationship Type="http://schemas.openxmlformats.org/officeDocument/2006/relationships/image" Target="/ppt/media/image2.png" Id="Rc993bd110c664f93" /><Relationship Type="http://schemas.openxmlformats.org/officeDocument/2006/relationships/notesSlide" Target="/ppt/notesSlides/notesSlide7.xml" Id="Re84b67f2e6ce47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014f4cd3cc4fbd" /><Relationship Type="http://schemas.openxmlformats.org/officeDocument/2006/relationships/notesSlide" Target="/ppt/notesSlides/notesSlide8.xml" Id="Rd1932199589243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ac707d878543c6" /><Relationship Type="http://schemas.openxmlformats.org/officeDocument/2006/relationships/notesSlide" Target="/ppt/notesSlides/notesSlide9.xml" Id="R2cf468d0e90746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0285735cba42e6" /><Relationship Type="http://schemas.openxmlformats.org/officeDocument/2006/relationships/image" Target="/ppt/media/image3.png" Id="R3b44ac9263814cbb" /><Relationship Type="http://schemas.openxmlformats.org/officeDocument/2006/relationships/notesSlide" Target="/ppt/notesSlides/notesSlide10.xml" Id="Rfffc051fa4db41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1bdf4ce42964b44" /><Relationship Type="http://schemas.openxmlformats.org/officeDocument/2006/relationships/notesSlide" Target="/ppt/notesSlides/notesSlide11.xml" Id="R2ce355704ed54c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1aa19c5b8443ee" /><Relationship Type="http://schemas.openxmlformats.org/officeDocument/2006/relationships/notesSlide" Target="/ppt/notesSlides/notesSlide12.xml" Id="R4bc975de86b84593" /></Relationships>
</file>

<file path=ppt/slides/slide1.xml><?xml version="1.0" encoding="utf-8"?>
<p:sld xmlns:p="http://schemas.openxmlformats.org/presentationml/2006/main">
  <p:cSld>
    <p:bg>
      <p:bgPr>
        <a:solidFill xmlns:a="http://schemas.openxmlformats.org/drawingml/2006/main">
          <a:srgbClr val="031426"/>
        </a:solidFill>
      </p:bgPr>
    </p:bg>
    <p:spTree>
      <p:nvGrpSpPr>
        <p:cNvPr id="1" name=""/>
        <p:cNvGrpSpPr/>
        <p:nvPr/>
      </p:nvGrpSpPr>
      <p:grpSpPr>
        <a:xfrm xmlns:a="http://schemas.openxmlformats.org/drawingml/2006/main"/>
      </p:grpSpPr>
      <p:pic>
        <p:nvPicPr>
          <p:cNvPr id="10" name="Canonical SUCCESSOR Omega institution" descr="Canonical customer-owned SUCCESSOR Ω institution in an external proof chamber."/>
          <p:cNvPicPr>
            <a:picLocks xmlns:a="http://schemas.openxmlformats.org/drawingml/2006/main" noChangeAspect="1"/>
          </p:cNvPicPr>
          <p:nvPr/>
        </p:nvPicPr>
        <p:blipFill>
          <a:blip xmlns:r="http://schemas.openxmlformats.org/officeDocument/2006/relationships" xmlns:a="http://schemas.openxmlformats.org/drawingml/2006/main" r:embed="R06c84dc3451b4ef3"/>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op-shade">
            <a:extLst xmlns:a="http://schemas.openxmlformats.org/drawingml/2006/main">
              <a:ext uri="{FF2B5EF4-FFF2-40B4-BE49-F238E27FC236}">
                <a16:creationId xmlns:a16="http://schemas.microsoft.com/office/drawing/2014/main" id="{1D133C0D-AFA3-47F6-BB94-E481C57D0F72}"/>
              </a:ext>
            </a:extLst>
          </p:cNvPr>
          <p:cNvSpPr>
            <a:spLocks xmlns:a="http://schemas.openxmlformats.org/drawingml/2006/main" noGrp="1"/>
          </p:cNvSpPr>
          <p:nvPr/>
        </p:nvSpPr>
        <p:spPr>
          <a:xfrm xmlns:a="http://schemas.openxmlformats.org/drawingml/2006/main">
            <a:off x="0" y="0"/>
            <a:ext cx="12192000" cy="2381250"/>
          </a:xfrm>
          <a:prstGeom xmlns:a="http://schemas.openxmlformats.org/drawingml/2006/main" prst="rect">
            <a:avLst/>
          </a:prstGeom>
          <a:solidFill xmlns:a="http://schemas.openxmlformats.org/drawingml/2006/main">
            <a:srgbClr val="031426">
              <a:alpha val="85098"/>
            </a:srgbClr>
          </a:solidFill>
          <a:ln xmlns:a="http://schemas.openxmlformats.org/drawingml/2006/main" w="0">
            <a:noFill/>
            <a:prstDash val="solid"/>
          </a:ln>
        </p:spPr>
      </p:sp>
      <p:sp>
        <p:nvSpPr>
          <p:cNvPr id="3" name="cover-bottom-shade">
            <a:extLst xmlns:a="http://schemas.openxmlformats.org/drawingml/2006/main">
              <a:ext uri="{FF2B5EF4-FFF2-40B4-BE49-F238E27FC236}">
                <a16:creationId xmlns:a16="http://schemas.microsoft.com/office/drawing/2014/main" id="{B4E9CC93-6D02-4583-B7B3-048C02C4A372}"/>
              </a:ext>
            </a:extLst>
          </p:cNvPr>
          <p:cNvSpPr>
            <a:spLocks xmlns:a="http://schemas.openxmlformats.org/drawingml/2006/main" noGrp="1"/>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031426">
              <a:alpha val="90980"/>
            </a:srgbClr>
          </a:solidFill>
          <a:ln xmlns:a="http://schemas.openxmlformats.org/drawingml/2006/main" w="0">
            <a:noFill/>
            <a:prstDash val="solid"/>
          </a:ln>
        </p:spPr>
      </p:sp>
      <p:sp>
        <p:nvSpPr>
          <p:cNvPr id="4" name="eyebrow-MONTREAL.A">
            <a:extLst xmlns:a="http://schemas.openxmlformats.org/drawingml/2006/main">
              <a:ext uri="{FF2B5EF4-FFF2-40B4-BE49-F238E27FC236}">
                <a16:creationId xmlns:a16="http://schemas.microsoft.com/office/drawing/2014/main" id="{DA2E477D-B22F-40FF-992B-AD19341AB3FB}"/>
              </a:ext>
            </a:extLst>
          </p:cNvPr>
          <p:cNvSpPr>
            <a:spLocks xmlns:a="http://schemas.openxmlformats.org/drawingml/2006/main" noGrp="1"/>
          </p:cNvSpPr>
          <p:nvPr/>
        </p:nvSpPr>
        <p:spPr>
          <a:xfrm xmlns:a="http://schemas.openxmlformats.org/drawingml/2006/main">
            <a:off x="609600" y="361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E7C978"/>
                </a:solidFill>
                <a:latin typeface="DejaVu Sans"/>
                <a:ea typeface="DejaVu Sans"/>
                <a:cs typeface="DejaVu Sans"/>
              </a:defRPr>
            </a:pPr>
            <a:r>
              <a:rPr sz="1050" b="1" i="0">
                <a:solidFill>
                  <a:srgbClr val="E7C978"/>
                </a:solidFill>
                <a:latin typeface="DejaVu Sans"/>
                <a:ea typeface="DejaVu Sans"/>
                <a:cs typeface="DejaVu Sans"/>
              </a:rPr>
              <a:t>MONTREAL.AI  ◆  BOARD DECISION PACK</a:t>
            </a:r>
          </a:p>
        </p:txBody>
      </p:sp>
      <p:sp>
        <p:nvSpPr>
          <p:cNvPr id="5" name="cover-title">
            <a:extLst xmlns:a="http://schemas.openxmlformats.org/drawingml/2006/main">
              <a:ext uri="{FF2B5EF4-FFF2-40B4-BE49-F238E27FC236}">
                <a16:creationId xmlns:a16="http://schemas.microsoft.com/office/drawing/2014/main" id="{8EED3B68-0046-4FB0-988E-E0DE2688C044}"/>
              </a:ext>
            </a:extLst>
          </p:cNvPr>
          <p:cNvSpPr>
            <a:spLocks xmlns:a="http://schemas.openxmlformats.org/drawingml/2006/main" noGrp="1"/>
          </p:cNvSpPr>
          <p:nvPr/>
        </p:nvSpPr>
        <p:spPr>
          <a:xfrm xmlns:a="http://schemas.openxmlformats.org/drawingml/2006/main">
            <a:off x="609600" y="742950"/>
            <a:ext cx="7429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i="0">
                <a:solidFill>
                  <a:srgbClr val="F7F1E6"/>
                </a:solidFill>
                <a:latin typeface="DejaVu Serif"/>
                <a:ea typeface="DejaVu Serif"/>
                <a:cs typeface="DejaVu Serif"/>
              </a:defRPr>
            </a:pPr>
            <a:r>
              <a:rPr sz="4350" b="1" i="0">
                <a:solidFill>
                  <a:srgbClr val="F7F1E6"/>
                </a:solidFill>
                <a:latin typeface="DejaVu Serif"/>
                <a:ea typeface="DejaVu Serif"/>
                <a:cs typeface="DejaVu Serif"/>
              </a:rPr>
              <a:t>Authorize one bounded</a:t>
            </a:r>
          </a:p>
          <a:p xmlns:a="http://schemas.openxmlformats.org/drawingml/2006/main">
            <a:pPr algn="l">
              <a:defRPr sz="4350" b="1" i="0">
                <a:solidFill>
                  <a:srgbClr val="F7F1E6"/>
                </a:solidFill>
                <a:latin typeface="DejaVu Serif"/>
                <a:ea typeface="DejaVu Serif"/>
                <a:cs typeface="DejaVu Serif"/>
              </a:defRPr>
            </a:pPr>
            <a:r>
              <a:rPr sz="4350" b="1" i="0">
                <a:solidFill>
                  <a:srgbClr val="F7F1E6"/>
                </a:solidFill>
                <a:latin typeface="DejaVu Serif"/>
                <a:ea typeface="DejaVu Serif"/>
                <a:cs typeface="DejaVu Serif"/>
              </a:rPr>
              <a:t>proof trajectory.</a:t>
            </a:r>
          </a:p>
        </p:txBody>
      </p:sp>
      <p:sp>
        <p:nvSpPr>
          <p:cNvPr id="6" name="cover-subtitle">
            <a:extLst xmlns:a="http://schemas.openxmlformats.org/drawingml/2006/main">
              <a:ext uri="{FF2B5EF4-FFF2-40B4-BE49-F238E27FC236}">
                <a16:creationId xmlns:a16="http://schemas.microsoft.com/office/drawing/2014/main" id="{8D500980-2675-4367-9CD7-CA0E21271FEA}"/>
              </a:ext>
            </a:extLst>
          </p:cNvPr>
          <p:cNvSpPr>
            <a:spLocks xmlns:a="http://schemas.openxmlformats.org/drawingml/2006/main" noGrp="1"/>
          </p:cNvSpPr>
          <p:nvPr/>
        </p:nvSpPr>
        <p:spPr>
          <a:xfrm xmlns:a="http://schemas.openxmlformats.org/drawingml/2006/main">
            <a:off x="609600" y="51054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FFFFFF"/>
                </a:solidFill>
                <a:latin typeface="DejaVu Sans"/>
                <a:ea typeface="DejaVu Sans"/>
                <a:cs typeface="DejaVu Sans"/>
              </a:defRPr>
            </a:pPr>
            <a:r>
              <a:rPr sz="1875" b="1" i="0">
                <a:solidFill>
                  <a:srgbClr val="FFFFFF"/>
                </a:solidFill>
                <a:latin typeface="DejaVu Sans"/>
                <a:ea typeface="DejaVu Sans"/>
                <a:cs typeface="DejaVu Sans"/>
              </a:rPr>
              <a:t>NEURAL-SYMBOLIC SUCCESSOR Ω</a:t>
            </a:r>
          </a:p>
        </p:txBody>
      </p:sp>
      <p:sp>
        <p:nvSpPr>
          <p:cNvPr id="7" name="cover-decision">
            <a:extLst xmlns:a="http://schemas.openxmlformats.org/drawingml/2006/main">
              <a:ext uri="{FF2B5EF4-FFF2-40B4-BE49-F238E27FC236}">
                <a16:creationId xmlns:a16="http://schemas.microsoft.com/office/drawing/2014/main" id="{5C7EB951-FAD5-449F-8B8B-84BACF5685B2}"/>
              </a:ext>
            </a:extLst>
          </p:cNvPr>
          <p:cNvSpPr>
            <a:spLocks xmlns:a="http://schemas.openxmlformats.org/drawingml/2006/main" noGrp="1"/>
          </p:cNvSpPr>
          <p:nvPr/>
        </p:nvSpPr>
        <p:spPr>
          <a:xfrm xmlns:a="http://schemas.openxmlformats.org/drawingml/2006/main">
            <a:off x="609600" y="58102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E7C978"/>
                </a:solidFill>
                <a:latin typeface="DejaVu Sans"/>
                <a:ea typeface="DejaVu Sans"/>
                <a:cs typeface="DejaVu Sans"/>
              </a:defRPr>
            </a:pPr>
            <a:r>
              <a:rPr sz="1500" b="1" i="0">
                <a:solidFill>
                  <a:srgbClr val="E7C978"/>
                </a:solidFill>
                <a:latin typeface="DejaVu Sans"/>
                <a:ea typeface="DejaVu Sans"/>
                <a:cs typeface="DejaVu Sans"/>
              </a:rPr>
              <a:t>Decision today: D0 — Underwrite one mission. No production authority.</a:t>
            </a:r>
          </a:p>
        </p:txBody>
      </p:sp>
      <p:sp>
        <p:nvSpPr>
          <p:cNvPr id="8" name="cover-disclosure">
            <a:extLst xmlns:a="http://schemas.openxmlformats.org/drawingml/2006/main">
              <a:ext uri="{FF2B5EF4-FFF2-40B4-BE49-F238E27FC236}">
                <a16:creationId xmlns:a16="http://schemas.microsoft.com/office/drawing/2014/main" id="{1D4267D7-90D5-48BB-9E67-E2680BBE6D0B}"/>
              </a:ext>
            </a:extLst>
          </p:cNvPr>
          <p:cNvSpPr>
            <a:spLocks xmlns:a="http://schemas.openxmlformats.org/drawingml/2006/main" noGrp="1"/>
          </p:cNvSpPr>
          <p:nvPr/>
        </p:nvSpPr>
        <p:spPr>
          <a:xfrm xmlns:a="http://schemas.openxmlformats.org/drawingml/2006/main">
            <a:off x="609600" y="6238875"/>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75" b="0" i="0">
                <a:solidFill>
                  <a:srgbClr val="C7D0DA"/>
                </a:solidFill>
                <a:latin typeface="DejaVu Sans"/>
                <a:ea typeface="DejaVu Sans"/>
                <a:cs typeface="DejaVu Sans"/>
              </a:defRPr>
            </a:pPr>
            <a:r>
              <a:rPr sz="975" b="0" i="0">
                <a:solidFill>
                  <a:srgbClr val="C7D0DA"/>
                </a:solidFill>
                <a:latin typeface="DejaVu Sans"/>
                <a:ea typeface="DejaVu Sans"/>
                <a:cs typeface="DejaVu Sans"/>
              </a:rPr>
              <a:t>Target architecture · Release-specific claims must be earned</a:t>
            </a:r>
          </a:p>
        </p:txBody>
      </p:sp>
      <p:sp>
        <p:nvSpPr>
          <p:cNvPr id="9" name="cover-date">
            <a:extLst xmlns:a="http://schemas.openxmlformats.org/drawingml/2006/main">
              <a:ext uri="{FF2B5EF4-FFF2-40B4-BE49-F238E27FC236}">
                <a16:creationId xmlns:a16="http://schemas.microsoft.com/office/drawing/2014/main" id="{1DC850F1-77CB-43E7-B060-0F6B8CF1F091}"/>
              </a:ext>
            </a:extLst>
          </p:cNvPr>
          <p:cNvSpPr>
            <a:spLocks xmlns:a="http://schemas.openxmlformats.org/drawingml/2006/main" noGrp="1"/>
          </p:cNvSpPr>
          <p:nvPr/>
        </p:nvSpPr>
        <p:spPr>
          <a:xfrm xmlns:a="http://schemas.openxmlformats.org/drawingml/2006/main">
            <a:off x="10001250" y="623887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75" b="1" i="0">
                <a:solidFill>
                  <a:srgbClr val="F7F1E6"/>
                </a:solidFill>
                <a:latin typeface="DejaVu Sans"/>
                <a:ea typeface="DejaVu Sans"/>
                <a:cs typeface="DejaVu Sans"/>
              </a:defRPr>
            </a:pPr>
            <a:r>
              <a:rPr sz="975" b="1" i="0">
                <a:solidFill>
                  <a:srgbClr val="F7F1E6"/>
                </a:solidFill>
                <a:latin typeface="DejaVu Sans"/>
                <a:ea typeface="DejaVu Sans"/>
                <a:cs typeface="DejaVu Sans"/>
              </a:rPr>
              <a:t>26 AUGUST 2026</a:t>
            </a:r>
          </a:p>
        </p:txBody>
      </p:sp>
    </p:spTree>
    <p:extLst>
      <p:ext uri="{BB962C8B-B14F-4D97-AF65-F5344CB8AC3E}">
        <p14:creationId xmlns:p14="http://schemas.microsoft.com/office/powerpoint/2010/main" val="905851878"/>
      </p:ext>
    </p:extLst>
  </p:cSld>
</p:sld>
</file>

<file path=ppt/slides/slide2.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3" name="owned-half">
            <a:extLst xmlns:a="http://schemas.openxmlformats.org/drawingml/2006/main">
              <a:ext uri="{FF2B5EF4-FFF2-40B4-BE49-F238E27FC236}">
                <a16:creationId xmlns:a16="http://schemas.microsoft.com/office/drawing/2014/main" id="{7CC9A1AD-05BB-4FAD-83C1-962454840D52}"/>
              </a:ext>
            </a:extLst>
          </p:cNvPr>
          <p:cNvSpPr>
            <a:spLocks xmlns:a="http://schemas.openxmlformats.org/drawingml/2006/main" noGrp="1"/>
          </p:cNvSpPr>
          <p:nvPr/>
        </p:nvSpPr>
        <p:spPr>
          <a:xfrm xmlns:a="http://schemas.openxmlformats.org/drawingml/2006/main">
            <a:off x="5905500" y="0"/>
            <a:ext cx="6286500" cy="6858000"/>
          </a:xfrm>
          <a:prstGeom xmlns:a="http://schemas.openxmlformats.org/drawingml/2006/main" prst="rect">
            <a:avLst/>
          </a:prstGeom>
          <a:solidFill xmlns:a="http://schemas.openxmlformats.org/drawingml/2006/main">
            <a:srgbClr val="031426"/>
          </a:solidFill>
          <a:ln xmlns:a="http://schemas.openxmlformats.org/drawingml/2006/main" w="0">
            <a:noFill/>
            <a:prstDash val="solid"/>
          </a:ln>
        </p:spPr>
      </p:sp>
      <p:sp>
        <p:nvSpPr>
          <p:cNvPr id="2" name="eyebrow-MONTREAL.A">
            <a:extLst xmlns:a="http://schemas.openxmlformats.org/drawingml/2006/main">
              <a:ext uri="{FF2B5EF4-FFF2-40B4-BE49-F238E27FC236}">
                <a16:creationId xmlns:a16="http://schemas.microsoft.com/office/drawing/2014/main" id="{5EBC7366-6F87-4906-8FB4-F4042B53DF5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CUSTOMER-OWNED MISSION INTELLIGENCE</a:t>
            </a:r>
          </a:p>
        </p:txBody>
      </p:sp>
      <p:sp>
        <p:nvSpPr>
          <p:cNvPr id="3" name="split-rule">
            <a:extLst xmlns:a="http://schemas.openxmlformats.org/drawingml/2006/main">
              <a:ext uri="{FF2B5EF4-FFF2-40B4-BE49-F238E27FC236}">
                <a16:creationId xmlns:a16="http://schemas.microsoft.com/office/drawing/2014/main" id="{0C7AFE9A-07B1-48A1-85CB-DE72C6DD342D}"/>
              </a:ext>
            </a:extLst>
          </p:cNvPr>
          <p:cNvSpPr>
            <a:spLocks xmlns:a="http://schemas.openxmlformats.org/drawingml/2006/main" noGrp="1"/>
          </p:cNvSpPr>
          <p:nvPr/>
        </p:nvSpPr>
        <p:spPr>
          <a:xfrm xmlns:a="http://schemas.openxmlformats.org/drawingml/2006/main">
            <a:off x="5905500" y="419100"/>
            <a:ext cx="0" cy="5905500"/>
          </a:xfrm>
          <a:prstGeom xmlns:a="http://schemas.openxmlformats.org/drawingml/2006/main" prst="line">
            <a:avLst/>
          </a:prstGeom>
          <a:noFill xmlns:a="http://schemas.openxmlformats.org/drawingml/2006/main"/>
          <a:ln xmlns:a="http://schemas.openxmlformats.org/drawingml/2006/main" w="28575">
            <a:solidFill>
              <a:srgbClr val="C8942A"/>
            </a:solidFill>
            <a:prstDash val="solid"/>
          </a:ln>
        </p:spPr>
      </p:sp>
      <p:sp>
        <p:nvSpPr>
          <p:cNvPr id="4" name="rent-kicker">
            <a:extLst xmlns:a="http://schemas.openxmlformats.org/drawingml/2006/main">
              <a:ext uri="{FF2B5EF4-FFF2-40B4-BE49-F238E27FC236}">
                <a16:creationId xmlns:a16="http://schemas.microsoft.com/office/drawing/2014/main" id="{2A6A80DB-C35C-4A0F-9124-9162919E5C81}"/>
              </a:ext>
            </a:extLst>
          </p:cNvPr>
          <p:cNvSpPr>
            <a:spLocks xmlns:a="http://schemas.openxmlformats.org/drawingml/2006/main" noGrp="1"/>
          </p:cNvSpPr>
          <p:nvPr/>
        </p:nvSpPr>
        <p:spPr>
          <a:xfrm xmlns:a="http://schemas.openxmlformats.org/drawingml/2006/main">
            <a:off x="609600" y="1047750"/>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i="0">
                <a:solidFill>
                  <a:srgbClr val="66717F"/>
                </a:solidFill>
                <a:latin typeface="DejaVu Serif"/>
                <a:ea typeface="DejaVu Serif"/>
                <a:cs typeface="DejaVu Serif"/>
              </a:defRPr>
            </a:pPr>
            <a:r>
              <a:rPr sz="3525" b="1" i="0">
                <a:solidFill>
                  <a:srgbClr val="66717F"/>
                </a:solidFill>
                <a:latin typeface="DejaVu Serif"/>
                <a:ea typeface="DejaVu Serif"/>
                <a:cs typeface="DejaVu Serif"/>
              </a:rPr>
              <a:t>RENT</a:t>
            </a:r>
          </a:p>
        </p:txBody>
      </p:sp>
      <p:sp>
        <p:nvSpPr>
          <p:cNvPr id="5" name="rent-title">
            <a:extLst xmlns:a="http://schemas.openxmlformats.org/drawingml/2006/main">
              <a:ext uri="{FF2B5EF4-FFF2-40B4-BE49-F238E27FC236}">
                <a16:creationId xmlns:a16="http://schemas.microsoft.com/office/drawing/2014/main" id="{BEDE2E9E-E6A9-451E-B50A-F3F4E914C3CD}"/>
              </a:ext>
            </a:extLst>
          </p:cNvPr>
          <p:cNvSpPr>
            <a:spLocks xmlns:a="http://schemas.openxmlformats.org/drawingml/2006/main" noGrp="1"/>
          </p:cNvSpPr>
          <p:nvPr/>
        </p:nvSpPr>
        <p:spPr>
          <a:xfrm xmlns:a="http://schemas.openxmlformats.org/drawingml/2006/main">
            <a:off x="609600" y="17526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071B31"/>
                </a:solidFill>
                <a:latin typeface="DejaVu Sans"/>
                <a:ea typeface="DejaVu Sans"/>
                <a:cs typeface="DejaVu Sans"/>
              </a:defRPr>
            </a:pPr>
            <a:r>
              <a:rPr sz="2100" b="1" i="0">
                <a:solidFill>
                  <a:srgbClr val="071B31"/>
                </a:solidFill>
                <a:latin typeface="DejaVu Sans"/>
                <a:ea typeface="DejaVu Sans"/>
                <a:cs typeface="DejaVu Sans"/>
              </a:rPr>
              <a:t>Replaceable cognition</a:t>
            </a:r>
          </a:p>
        </p:txBody>
      </p:sp>
      <p:sp>
        <p:nvSpPr>
          <p:cNvPr id="6" name="rent-body">
            <a:extLst xmlns:a="http://schemas.openxmlformats.org/drawingml/2006/main">
              <a:ext uri="{FF2B5EF4-FFF2-40B4-BE49-F238E27FC236}">
                <a16:creationId xmlns:a16="http://schemas.microsoft.com/office/drawing/2014/main" id="{3CB7C588-AC47-4BF0-8221-F69BF8E701DF}"/>
              </a:ext>
            </a:extLst>
          </p:cNvPr>
          <p:cNvSpPr>
            <a:spLocks xmlns:a="http://schemas.openxmlformats.org/drawingml/2006/main" noGrp="1"/>
          </p:cNvSpPr>
          <p:nvPr/>
        </p:nvSpPr>
        <p:spPr>
          <a:xfrm xmlns:a="http://schemas.openxmlformats.org/drawingml/2006/main">
            <a:off x="609600" y="2381250"/>
            <a:ext cx="4191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66717F"/>
                </a:solidFill>
                <a:latin typeface="DejaVu Sans"/>
                <a:ea typeface="DejaVu Sans"/>
                <a:cs typeface="DejaVu Sans"/>
              </a:defRPr>
            </a:pPr>
            <a:r>
              <a:rPr sz="1800" b="0" i="0">
                <a:solidFill>
                  <a:srgbClr val="66717F"/>
                </a:solidFill>
                <a:latin typeface="DejaVu Sans"/>
                <a:ea typeface="DejaVu Sans"/>
                <a:cs typeface="DejaVu Sans"/>
              </a:rPr>
              <a:t>Frontier models</a:t>
            </a:r>
          </a:p>
          <a:p xmlns:a="http://schemas.openxmlformats.org/drawingml/2006/main">
            <a:pPr algn="l">
              <a:defRPr sz="1800" b="0" i="0">
                <a:solidFill>
                  <a:srgbClr val="66717F"/>
                </a:solidFill>
                <a:latin typeface="DejaVu Sans"/>
                <a:ea typeface="DejaVu Sans"/>
                <a:cs typeface="DejaVu Sans"/>
              </a:defRPr>
            </a:pPr>
            <a:r>
              <a:rPr sz="1800" b="0" i="0">
                <a:solidFill>
                  <a:srgbClr val="66717F"/>
                </a:solidFill>
                <a:latin typeface="DejaVu Sans"/>
                <a:ea typeface="DejaVu Sans"/>
                <a:cs typeface="DejaVu Sans"/>
              </a:rPr>
              <a:t>Agent platforms</a:t>
            </a:r>
          </a:p>
          <a:p xmlns:a="http://schemas.openxmlformats.org/drawingml/2006/main">
            <a:pPr algn="l">
              <a:defRPr sz="1800" b="0" i="0">
                <a:solidFill>
                  <a:srgbClr val="66717F"/>
                </a:solidFill>
                <a:latin typeface="DejaVu Sans"/>
                <a:ea typeface="DejaVu Sans"/>
                <a:cs typeface="DejaVu Sans"/>
              </a:defRPr>
            </a:pPr>
            <a:r>
              <a:rPr sz="1800" b="0" i="0">
                <a:solidFill>
                  <a:srgbClr val="66717F"/>
                </a:solidFill>
                <a:latin typeface="DejaVu Sans"/>
                <a:ea typeface="DejaVu Sans"/>
                <a:cs typeface="DejaVu Sans"/>
              </a:rPr>
              <a:t>Compute and tools</a:t>
            </a:r>
          </a:p>
        </p:txBody>
      </p:sp>
      <p:sp>
        <p:nvSpPr>
          <p:cNvPr id="7" name="rent-foot">
            <a:extLst xmlns:a="http://schemas.openxmlformats.org/drawingml/2006/main">
              <a:ext uri="{FF2B5EF4-FFF2-40B4-BE49-F238E27FC236}">
                <a16:creationId xmlns:a16="http://schemas.microsoft.com/office/drawing/2014/main" id="{E7CC07F2-AD0D-40BE-9326-6FFA3999A2CE}"/>
              </a:ext>
            </a:extLst>
          </p:cNvPr>
          <p:cNvSpPr>
            <a:spLocks xmlns:a="http://schemas.openxmlformats.org/drawingml/2006/main" noGrp="1"/>
          </p:cNvSpPr>
          <p:nvPr/>
        </p:nvSpPr>
        <p:spPr>
          <a:xfrm xmlns:a="http://schemas.openxmlformats.org/drawingml/2006/main">
            <a:off x="609600" y="4972050"/>
            <a:ext cx="4476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1">
                <a:solidFill>
                  <a:srgbClr val="071B31"/>
                </a:solidFill>
                <a:latin typeface="DejaVu Sans"/>
                <a:ea typeface="DejaVu Sans"/>
                <a:cs typeface="DejaVu Sans"/>
              </a:defRPr>
            </a:pPr>
            <a:r>
              <a:rPr sz="1425" b="0" i="1">
                <a:solidFill>
                  <a:srgbClr val="071B31"/>
                </a:solidFill>
                <a:latin typeface="DejaVu Sans"/>
                <a:ea typeface="DejaVu Sans"/>
                <a:cs typeface="DejaVu Sans"/>
              </a:rPr>
              <a:t>Useful. Fast-moving. Increasingly available to competitors.</a:t>
            </a:r>
          </a:p>
        </p:txBody>
      </p:sp>
      <p:sp>
        <p:nvSpPr>
          <p:cNvPr id="8" name="own-kicker">
            <a:extLst xmlns:a="http://schemas.openxmlformats.org/drawingml/2006/main">
              <a:ext uri="{FF2B5EF4-FFF2-40B4-BE49-F238E27FC236}">
                <a16:creationId xmlns:a16="http://schemas.microsoft.com/office/drawing/2014/main" id="{B0D7EDEB-80FF-40DD-9E79-2AC34EE9971A}"/>
              </a:ext>
            </a:extLst>
          </p:cNvPr>
          <p:cNvSpPr>
            <a:spLocks xmlns:a="http://schemas.openxmlformats.org/drawingml/2006/main" noGrp="1"/>
          </p:cNvSpPr>
          <p:nvPr/>
        </p:nvSpPr>
        <p:spPr>
          <a:xfrm xmlns:a="http://schemas.openxmlformats.org/drawingml/2006/main">
            <a:off x="6515100" y="1047750"/>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i="0">
                <a:solidFill>
                  <a:srgbClr val="E7C978"/>
                </a:solidFill>
                <a:latin typeface="DejaVu Serif"/>
                <a:ea typeface="DejaVu Serif"/>
                <a:cs typeface="DejaVu Serif"/>
              </a:defRPr>
            </a:pPr>
            <a:r>
              <a:rPr sz="3525" b="1" i="0">
                <a:solidFill>
                  <a:srgbClr val="E7C978"/>
                </a:solidFill>
                <a:latin typeface="DejaVu Serif"/>
                <a:ea typeface="DejaVu Serif"/>
                <a:cs typeface="DejaVu Serif"/>
              </a:rPr>
              <a:t>OWN</a:t>
            </a:r>
          </a:p>
        </p:txBody>
      </p:sp>
      <p:sp>
        <p:nvSpPr>
          <p:cNvPr id="9" name="own-title">
            <a:extLst xmlns:a="http://schemas.openxmlformats.org/drawingml/2006/main">
              <a:ext uri="{FF2B5EF4-FFF2-40B4-BE49-F238E27FC236}">
                <a16:creationId xmlns:a16="http://schemas.microsoft.com/office/drawing/2014/main" id="{D933FA5B-4E04-4ED5-9BB7-0869912BBA73}"/>
              </a:ext>
            </a:extLst>
          </p:cNvPr>
          <p:cNvSpPr>
            <a:spLocks xmlns:a="http://schemas.openxmlformats.org/drawingml/2006/main" noGrp="1"/>
          </p:cNvSpPr>
          <p:nvPr/>
        </p:nvSpPr>
        <p:spPr>
          <a:xfrm xmlns:a="http://schemas.openxmlformats.org/drawingml/2006/main">
            <a:off x="6515100" y="17526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F7F1E6"/>
                </a:solidFill>
                <a:latin typeface="DejaVu Sans"/>
                <a:ea typeface="DejaVu Sans"/>
                <a:cs typeface="DejaVu Sans"/>
              </a:defRPr>
            </a:pPr>
            <a:r>
              <a:rPr sz="2100" b="1" i="0">
                <a:solidFill>
                  <a:srgbClr val="F7F1E6"/>
                </a:solidFill>
                <a:latin typeface="DejaVu Sans"/>
                <a:ea typeface="DejaVu Sans"/>
                <a:cs typeface="DejaVu Sans"/>
              </a:rPr>
              <a:t>The mission institution</a:t>
            </a:r>
          </a:p>
        </p:txBody>
      </p:sp>
      <p:sp>
        <p:nvSpPr>
          <p:cNvPr id="10" name="own-body">
            <a:extLst xmlns:a="http://schemas.openxmlformats.org/drawingml/2006/main">
              <a:ext uri="{FF2B5EF4-FFF2-40B4-BE49-F238E27FC236}">
                <a16:creationId xmlns:a16="http://schemas.microsoft.com/office/drawing/2014/main" id="{C3754371-23F7-408F-A06B-0D1962470EAF}"/>
              </a:ext>
            </a:extLst>
          </p:cNvPr>
          <p:cNvSpPr>
            <a:spLocks xmlns:a="http://schemas.openxmlformats.org/drawingml/2006/main" noGrp="1"/>
          </p:cNvSpPr>
          <p:nvPr/>
        </p:nvSpPr>
        <p:spPr>
          <a:xfrm xmlns:a="http://schemas.openxmlformats.org/drawingml/2006/main">
            <a:off x="6515100" y="2381250"/>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DejaVu Sans"/>
                <a:ea typeface="DejaVu Sans"/>
                <a:cs typeface="DejaVu Sans"/>
              </a:defRPr>
            </a:pPr>
            <a:r>
              <a:rPr sz="1800" b="0" i="0">
                <a:solidFill>
                  <a:srgbClr val="FFFFFF"/>
                </a:solidFill>
                <a:latin typeface="DejaVu Sans"/>
                <a:ea typeface="DejaVu Sans"/>
                <a:cs typeface="DejaVu Sans"/>
              </a:rPr>
              <a:t>Mission Constitution</a:t>
            </a:r>
          </a:p>
          <a:p xmlns:a="http://schemas.openxmlformats.org/drawingml/2006/main">
            <a:pPr algn="l">
              <a:defRPr sz="1800" b="0" i="0">
                <a:solidFill>
                  <a:srgbClr val="FFFFFF"/>
                </a:solidFill>
                <a:latin typeface="DejaVu Sans"/>
                <a:ea typeface="DejaVu Sans"/>
                <a:cs typeface="DejaVu Sans"/>
              </a:defRPr>
            </a:pPr>
            <a:r>
              <a:rPr sz="1800" b="0" i="0">
                <a:solidFill>
                  <a:srgbClr val="FFFFFF"/>
                </a:solidFill>
                <a:latin typeface="DejaVu Sans"/>
                <a:ea typeface="DejaVu Sans"/>
                <a:cs typeface="DejaVu Sans"/>
              </a:rPr>
              <a:t>Evidence and provenance</a:t>
            </a:r>
          </a:p>
          <a:p xmlns:a="http://schemas.openxmlformats.org/drawingml/2006/main">
            <a:pPr algn="l">
              <a:defRPr sz="1800" b="0" i="0">
                <a:solidFill>
                  <a:srgbClr val="FFFFFF"/>
                </a:solidFill>
                <a:latin typeface="DejaVu Sans"/>
                <a:ea typeface="DejaVu Sans"/>
                <a:cs typeface="DejaVu Sans"/>
              </a:defRPr>
            </a:pPr>
            <a:r>
              <a:rPr sz="1800" b="0" i="0">
                <a:solidFill>
                  <a:srgbClr val="FFFFFF"/>
                </a:solidFill>
                <a:latin typeface="DejaVu Sans"/>
                <a:ea typeface="DejaVu Sans"/>
                <a:cs typeface="DejaVu Sans"/>
              </a:rPr>
              <a:t>Executable understanding</a:t>
            </a:r>
          </a:p>
          <a:p xmlns:a="http://schemas.openxmlformats.org/drawingml/2006/main">
            <a:pPr algn="l">
              <a:defRPr sz="1800" b="0" i="0">
                <a:solidFill>
                  <a:srgbClr val="FFFFFF"/>
                </a:solidFill>
                <a:latin typeface="DejaVu Sans"/>
                <a:ea typeface="DejaVu Sans"/>
                <a:cs typeface="DejaVu Sans"/>
              </a:defRPr>
            </a:pPr>
            <a:r>
              <a:rPr sz="1800" b="0" i="0">
                <a:solidFill>
                  <a:srgbClr val="FFFFFF"/>
                </a:solidFill>
                <a:latin typeface="DejaVu Sans"/>
                <a:ea typeface="DejaVu Sans"/>
                <a:cs typeface="DejaVu Sans"/>
              </a:rPr>
              <a:t>Proof, authority and Chronicle</a:t>
            </a:r>
          </a:p>
        </p:txBody>
      </p:sp>
      <p:sp>
        <p:nvSpPr>
          <p:cNvPr id="11" name="own-foot">
            <a:extLst xmlns:a="http://schemas.openxmlformats.org/drawingml/2006/main">
              <a:ext uri="{FF2B5EF4-FFF2-40B4-BE49-F238E27FC236}">
                <a16:creationId xmlns:a16="http://schemas.microsoft.com/office/drawing/2014/main" id="{4728ED86-2946-4EE7-BBF9-B820659BC170}"/>
              </a:ext>
            </a:extLst>
          </p:cNvPr>
          <p:cNvSpPr>
            <a:spLocks xmlns:a="http://schemas.openxmlformats.org/drawingml/2006/main" noGrp="1"/>
          </p:cNvSpPr>
          <p:nvPr/>
        </p:nvSpPr>
        <p:spPr>
          <a:xfrm xmlns:a="http://schemas.openxmlformats.org/drawingml/2006/main">
            <a:off x="6515100" y="4972050"/>
            <a:ext cx="4762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i="0">
                <a:solidFill>
                  <a:srgbClr val="E7C978"/>
                </a:solidFill>
                <a:latin typeface="DejaVu Sans"/>
                <a:ea typeface="DejaVu Sans"/>
                <a:cs typeface="DejaVu Sans"/>
              </a:defRPr>
            </a:pPr>
            <a:r>
              <a:rPr sz="1425" b="1" i="0">
                <a:solidFill>
                  <a:srgbClr val="E7C978"/>
                </a:solidFill>
                <a:latin typeface="DejaVu Sans"/>
                <a:ea typeface="DejaVu Sans"/>
                <a:cs typeface="DejaVu Sans"/>
              </a:rPr>
              <a:t>The supplier may change. The institutional mind persists under customer control.</a:t>
            </a:r>
          </a:p>
        </p:txBody>
      </p:sp>
      <p:sp>
        <p:nvSpPr>
          <p:cNvPr id="12" name="page2">
            <a:extLst xmlns:a="http://schemas.openxmlformats.org/drawingml/2006/main">
              <a:ext uri="{FF2B5EF4-FFF2-40B4-BE49-F238E27FC236}">
                <a16:creationId xmlns:a16="http://schemas.microsoft.com/office/drawing/2014/main" id="{4A625A1C-F4EB-456A-A0A4-DFB4DAD945C1}"/>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F7F1E6"/>
                </a:solidFill>
                <a:latin typeface="DejaVu Sans"/>
                <a:ea typeface="DejaVu Sans"/>
                <a:cs typeface="DejaVu Sans"/>
              </a:defRPr>
            </a:pPr>
            <a:r>
              <a:rPr sz="825" b="1" i="0">
                <a:solidFill>
                  <a:srgbClr val="F7F1E6"/>
                </a:solidFill>
                <a:latin typeface="DejaVu Sans"/>
                <a:ea typeface="DejaVu Sans"/>
                <a:cs typeface="DejaVu Sans"/>
              </a:rPr>
              <a:t>02</a:t>
            </a:r>
          </a:p>
        </p:txBody>
      </p:sp>
    </p:spTree>
    <p:extLst>
      <p:ext uri="{BB962C8B-B14F-4D97-AF65-F5344CB8AC3E}">
        <p14:creationId xmlns:p14="http://schemas.microsoft.com/office/powerpoint/2010/main" val="1331412777"/>
      </p:ext>
    </p:extLst>
  </p:cSld>
</p:sld>
</file>

<file path=ppt/slides/slide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33" name="eyebrow-MONTREAL.A">
            <a:extLst xmlns:a="http://schemas.openxmlformats.org/drawingml/2006/main">
              <a:ext uri="{FF2B5EF4-FFF2-40B4-BE49-F238E27FC236}">
                <a16:creationId xmlns:a16="http://schemas.microsoft.com/office/drawing/2014/main" id="{F91FAE6F-3B4E-4EB1-95D6-E1C4506FB5E5}"/>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3">
            <a:extLst xmlns:a="http://schemas.openxmlformats.org/drawingml/2006/main">
              <a:ext uri="{FF2B5EF4-FFF2-40B4-BE49-F238E27FC236}">
                <a16:creationId xmlns:a16="http://schemas.microsoft.com/office/drawing/2014/main" id="{8E49E760-D1E5-418D-97A1-DCA935E2FFE4}"/>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3">
            <a:extLst xmlns:a="http://schemas.openxmlformats.org/drawingml/2006/main">
              <a:ext uri="{FF2B5EF4-FFF2-40B4-BE49-F238E27FC236}">
                <a16:creationId xmlns:a16="http://schemas.microsoft.com/office/drawing/2014/main" id="{3D9DC77E-DF48-4296-AE58-1D02884F0E8D}"/>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3">
            <a:extLst xmlns:a="http://schemas.openxmlformats.org/drawingml/2006/main">
              <a:ext uri="{FF2B5EF4-FFF2-40B4-BE49-F238E27FC236}">
                <a16:creationId xmlns:a16="http://schemas.microsoft.com/office/drawing/2014/main" id="{69850213-7D58-4A87-A6B7-93D13153E0A5}"/>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3">
            <a:extLst xmlns:a="http://schemas.openxmlformats.org/drawingml/2006/main">
              <a:ext uri="{FF2B5EF4-FFF2-40B4-BE49-F238E27FC236}">
                <a16:creationId xmlns:a16="http://schemas.microsoft.com/office/drawing/2014/main" id="{D7338BEB-56E5-45B9-9E96-BFA80C9DE1F7}"/>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03</a:t>
            </a:r>
          </a:p>
        </p:txBody>
      </p:sp>
      <p:sp>
        <p:nvSpPr>
          <p:cNvPr id="6" name="title-3">
            <a:extLst xmlns:a="http://schemas.openxmlformats.org/drawingml/2006/main">
              <a:ext uri="{FF2B5EF4-FFF2-40B4-BE49-F238E27FC236}">
                <a16:creationId xmlns:a16="http://schemas.microsoft.com/office/drawing/2014/main" id="{7B122258-D078-49CF-AF72-3BD08760B15A}"/>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071B31"/>
                </a:solidFill>
                <a:latin typeface="DejaVu Serif"/>
                <a:ea typeface="DejaVu Serif"/>
                <a:cs typeface="DejaVu Serif"/>
              </a:defRPr>
            </a:pPr>
            <a:r>
              <a:rPr sz="2775" b="1" i="0">
                <a:solidFill>
                  <a:srgbClr val="071B31"/>
                </a:solidFill>
                <a:latin typeface="DejaVu Serif"/>
                <a:ea typeface="DejaVu Serif"/>
                <a:cs typeface="DejaVu Serif"/>
              </a:rPr>
              <a:t>Four compartments keep belief, proof, and permission distinct.</a:t>
            </a:r>
          </a:p>
        </p:txBody>
      </p:sp>
      <p:sp>
        <p:nvSpPr>
          <p:cNvPr id="7" name="title-accent-3">
            <a:extLst xmlns:a="http://schemas.openxmlformats.org/drawingml/2006/main">
              <a:ext uri="{FF2B5EF4-FFF2-40B4-BE49-F238E27FC236}">
                <a16:creationId xmlns:a16="http://schemas.microsoft.com/office/drawing/2014/main" id="{074217CD-CD3E-49E6-9E8F-3217F094EC55}"/>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compartment-0">
            <a:extLst xmlns:a="http://schemas.openxmlformats.org/drawingml/2006/main">
              <a:ext uri="{FF2B5EF4-FFF2-40B4-BE49-F238E27FC236}">
                <a16:creationId xmlns:a16="http://schemas.microsoft.com/office/drawing/2014/main" id="{E0FB6542-E728-4B55-A4AA-68E60E27E581}"/>
              </a:ext>
            </a:extLst>
          </p:cNvPr>
          <p:cNvSpPr>
            <a:spLocks xmlns:a="http://schemas.openxmlformats.org/drawingml/2006/main" noGrp="1"/>
          </p:cNvSpPr>
          <p:nvPr/>
        </p:nvSpPr>
        <p:spPr>
          <a:xfrm xmlns:a="http://schemas.openxmlformats.org/drawingml/2006/main">
            <a:off x="609600" y="2152650"/>
            <a:ext cx="2381250" cy="3124200"/>
          </a:xfrm>
          <a:prstGeom xmlns:a="http://schemas.openxmlformats.org/drawingml/2006/main" prst="roundRect">
            <a:avLst>
              <a:gd name="adj" fmla="val 4800"/>
            </a:avLst>
          </a:prstGeom>
          <a:solidFill xmlns:a="http://schemas.openxmlformats.org/drawingml/2006/main">
            <a:srgbClr val="F7F1E6"/>
          </a:solidFill>
          <a:ln xmlns:a="http://schemas.openxmlformats.org/drawingml/2006/main" w="11430">
            <a:solidFill>
              <a:srgbClr val="D7C7A5"/>
            </a:solidFill>
            <a:prstDash val="solid"/>
          </a:ln>
        </p:spPr>
      </p:sp>
      <p:sp>
        <p:nvSpPr>
          <p:cNvPr id="9" name="compartment-accent-0">
            <a:extLst xmlns:a="http://schemas.openxmlformats.org/drawingml/2006/main">
              <a:ext uri="{FF2B5EF4-FFF2-40B4-BE49-F238E27FC236}">
                <a16:creationId xmlns:a16="http://schemas.microsoft.com/office/drawing/2014/main" id="{75F6422F-6CFD-47F4-B5C1-31D524D3DAEA}"/>
              </a:ext>
            </a:extLst>
          </p:cNvPr>
          <p:cNvSpPr>
            <a:spLocks xmlns:a="http://schemas.openxmlformats.org/drawingml/2006/main" noGrp="1"/>
          </p:cNvSpPr>
          <p:nvPr/>
        </p:nvSpPr>
        <p:spPr>
          <a:xfrm xmlns:a="http://schemas.openxmlformats.org/drawingml/2006/main">
            <a:off x="609600" y="2152650"/>
            <a:ext cx="2381250" cy="95250"/>
          </a:xfrm>
          <a:prstGeom xmlns:a="http://schemas.openxmlformats.org/drawingml/2006/main" prst="rect">
            <a:avLst/>
          </a:prstGeom>
          <a:solidFill xmlns:a="http://schemas.openxmlformats.org/drawingml/2006/main">
            <a:srgbClr val="167DFF"/>
          </a:solidFill>
          <a:ln xmlns:a="http://schemas.openxmlformats.org/drawingml/2006/main" w="0">
            <a:noFill/>
            <a:prstDash val="solid"/>
          </a:ln>
        </p:spPr>
      </p:sp>
      <p:sp>
        <p:nvSpPr>
          <p:cNvPr id="10" name="compartment-label-0">
            <a:extLst xmlns:a="http://schemas.openxmlformats.org/drawingml/2006/main">
              <a:ext uri="{FF2B5EF4-FFF2-40B4-BE49-F238E27FC236}">
                <a16:creationId xmlns:a16="http://schemas.microsoft.com/office/drawing/2014/main" id="{5F4B3FCD-0A58-47D3-925B-7DE79DF1FECA}"/>
              </a:ext>
            </a:extLst>
          </p:cNvPr>
          <p:cNvSpPr>
            <a:spLocks xmlns:a="http://schemas.openxmlformats.org/drawingml/2006/main" noGrp="1"/>
          </p:cNvSpPr>
          <p:nvPr/>
        </p:nvSpPr>
        <p:spPr>
          <a:xfrm xmlns:a="http://schemas.openxmlformats.org/drawingml/2006/main">
            <a:off x="819150" y="243840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167DFF"/>
                </a:solidFill>
                <a:latin typeface="DejaVu Sans"/>
                <a:ea typeface="DejaVu Sans"/>
                <a:cs typeface="DejaVu Sans"/>
              </a:defRPr>
            </a:pPr>
            <a:r>
              <a:rPr sz="1650" b="1" i="0">
                <a:solidFill>
                  <a:srgbClr val="167DFF"/>
                </a:solidFill>
                <a:latin typeface="DejaVu Sans"/>
                <a:ea typeface="DejaVu Sans"/>
                <a:cs typeface="DejaVu Sans"/>
              </a:rPr>
              <a:t>WORLD</a:t>
            </a:r>
          </a:p>
        </p:txBody>
      </p:sp>
      <p:sp>
        <p:nvSpPr>
          <p:cNvPr id="11" name="compartment-question-0">
            <a:extLst xmlns:a="http://schemas.openxmlformats.org/drawingml/2006/main">
              <a:ext uri="{FF2B5EF4-FFF2-40B4-BE49-F238E27FC236}">
                <a16:creationId xmlns:a16="http://schemas.microsoft.com/office/drawing/2014/main" id="{F383C722-05A6-4118-B7BD-6CE3D20C899B}"/>
              </a:ext>
            </a:extLst>
          </p:cNvPr>
          <p:cNvSpPr>
            <a:spLocks xmlns:a="http://schemas.openxmlformats.org/drawingml/2006/main" noGrp="1"/>
          </p:cNvSpPr>
          <p:nvPr/>
        </p:nvSpPr>
        <p:spPr>
          <a:xfrm xmlns:a="http://schemas.openxmlformats.org/drawingml/2006/main">
            <a:off x="819150" y="3028950"/>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71B31"/>
                </a:solidFill>
                <a:latin typeface="DejaVu Serif"/>
                <a:ea typeface="DejaVu Serif"/>
                <a:cs typeface="DejaVu Serif"/>
              </a:defRPr>
            </a:pPr>
            <a:r>
              <a:rPr sz="1650" b="1" i="0">
                <a:solidFill>
                  <a:srgbClr val="071B31"/>
                </a:solidFill>
                <a:latin typeface="DejaVu Serif"/>
                <a:ea typeface="DejaVu Serif"/>
                <a:cs typeface="DejaVu Serif"/>
              </a:rPr>
              <a:t>What the evidence currently supports</a:t>
            </a:r>
          </a:p>
        </p:txBody>
      </p:sp>
      <p:sp>
        <p:nvSpPr>
          <p:cNvPr id="12" name="compartment-rule-0">
            <a:extLst xmlns:a="http://schemas.openxmlformats.org/drawingml/2006/main">
              <a:ext uri="{FF2B5EF4-FFF2-40B4-BE49-F238E27FC236}">
                <a16:creationId xmlns:a16="http://schemas.microsoft.com/office/drawing/2014/main" id="{9408F3CB-57AE-4EE6-9AE5-8F908FBFF0F0}"/>
              </a:ext>
            </a:extLst>
          </p:cNvPr>
          <p:cNvSpPr>
            <a:spLocks xmlns:a="http://schemas.openxmlformats.org/drawingml/2006/main" noGrp="1"/>
          </p:cNvSpPr>
          <p:nvPr/>
        </p:nvSpPr>
        <p:spPr>
          <a:xfrm xmlns:a="http://schemas.openxmlformats.org/drawingml/2006/main">
            <a:off x="819150" y="4191000"/>
            <a:ext cx="647700" cy="0"/>
          </a:xfrm>
          <a:prstGeom xmlns:a="http://schemas.openxmlformats.org/drawingml/2006/main" prst="line">
            <a:avLst/>
          </a:prstGeom>
          <a:noFill xmlns:a="http://schemas.openxmlformats.org/drawingml/2006/main"/>
          <a:ln xmlns:a="http://schemas.openxmlformats.org/drawingml/2006/main" w="23813">
            <a:solidFill>
              <a:srgbClr val="167DFF"/>
            </a:solidFill>
            <a:prstDash val="solid"/>
          </a:ln>
        </p:spPr>
      </p:sp>
      <p:sp>
        <p:nvSpPr>
          <p:cNvPr id="13" name="compartment-body-0">
            <a:extLst xmlns:a="http://schemas.openxmlformats.org/drawingml/2006/main">
              <a:ext uri="{FF2B5EF4-FFF2-40B4-BE49-F238E27FC236}">
                <a16:creationId xmlns:a16="http://schemas.microsoft.com/office/drawing/2014/main" id="{4ECEB1F2-794A-4D7B-BB08-03DA7EBC1269}"/>
              </a:ext>
            </a:extLst>
          </p:cNvPr>
          <p:cNvSpPr>
            <a:spLocks xmlns:a="http://schemas.openxmlformats.org/drawingml/2006/main" noGrp="1"/>
          </p:cNvSpPr>
          <p:nvPr/>
        </p:nvSpPr>
        <p:spPr>
          <a:xfrm xmlns:a="http://schemas.openxmlformats.org/drawingml/2006/main">
            <a:off x="819150" y="4362450"/>
            <a:ext cx="1962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66717F"/>
                </a:solidFill>
                <a:latin typeface="DejaVu Sans"/>
                <a:ea typeface="DejaVu Sans"/>
                <a:cs typeface="DejaVu Sans"/>
              </a:defRPr>
            </a:pPr>
            <a:r>
              <a:rPr sz="1200" b="0" i="0">
                <a:solidFill>
                  <a:srgbClr val="66717F"/>
                </a:solidFill>
                <a:latin typeface="DejaVu Sans"/>
                <a:ea typeface="DejaVu Sans"/>
                <a:cs typeface="DejaVu Sans"/>
              </a:rPr>
              <a:t>Versioned beliefs, predictions, uncertainty and falsifiers</a:t>
            </a:r>
          </a:p>
        </p:txBody>
      </p:sp>
      <p:sp>
        <p:nvSpPr>
          <p:cNvPr id="14" name="compartment-1">
            <a:extLst xmlns:a="http://schemas.openxmlformats.org/drawingml/2006/main">
              <a:ext uri="{FF2B5EF4-FFF2-40B4-BE49-F238E27FC236}">
                <a16:creationId xmlns:a16="http://schemas.microsoft.com/office/drawing/2014/main" id="{0DBE6747-E6E8-41B7-A888-1ED8D7E7F293}"/>
              </a:ext>
            </a:extLst>
          </p:cNvPr>
          <p:cNvSpPr>
            <a:spLocks xmlns:a="http://schemas.openxmlformats.org/drawingml/2006/main" noGrp="1"/>
          </p:cNvSpPr>
          <p:nvPr/>
        </p:nvSpPr>
        <p:spPr>
          <a:xfrm xmlns:a="http://schemas.openxmlformats.org/drawingml/2006/main">
            <a:off x="3371850" y="2152650"/>
            <a:ext cx="2381250" cy="3124200"/>
          </a:xfrm>
          <a:prstGeom xmlns:a="http://schemas.openxmlformats.org/drawingml/2006/main" prst="roundRect">
            <a:avLst>
              <a:gd name="adj" fmla="val 4800"/>
            </a:avLst>
          </a:prstGeom>
          <a:solidFill xmlns:a="http://schemas.openxmlformats.org/drawingml/2006/main">
            <a:srgbClr val="F7F1E6"/>
          </a:solidFill>
          <a:ln xmlns:a="http://schemas.openxmlformats.org/drawingml/2006/main" w="11430">
            <a:solidFill>
              <a:srgbClr val="D7C7A5"/>
            </a:solidFill>
            <a:prstDash val="solid"/>
          </a:ln>
        </p:spPr>
      </p:sp>
      <p:sp>
        <p:nvSpPr>
          <p:cNvPr id="15" name="compartment-accent-1">
            <a:extLst xmlns:a="http://schemas.openxmlformats.org/drawingml/2006/main">
              <a:ext uri="{FF2B5EF4-FFF2-40B4-BE49-F238E27FC236}">
                <a16:creationId xmlns:a16="http://schemas.microsoft.com/office/drawing/2014/main" id="{F21F44FA-B178-470E-B764-D3BDF182208E}"/>
              </a:ext>
            </a:extLst>
          </p:cNvPr>
          <p:cNvSpPr>
            <a:spLocks xmlns:a="http://schemas.openxmlformats.org/drawingml/2006/main" noGrp="1"/>
          </p:cNvSpPr>
          <p:nvPr/>
        </p:nvSpPr>
        <p:spPr>
          <a:xfrm xmlns:a="http://schemas.openxmlformats.org/drawingml/2006/main">
            <a:off x="3371850" y="2152650"/>
            <a:ext cx="2381250" cy="95250"/>
          </a:xfrm>
          <a:prstGeom xmlns:a="http://schemas.openxmlformats.org/drawingml/2006/main" prst="rect">
            <a:avLst/>
          </a:prstGeom>
          <a:solidFill xmlns:a="http://schemas.openxmlformats.org/drawingml/2006/main">
            <a:srgbClr val="C8942A"/>
          </a:solidFill>
          <a:ln xmlns:a="http://schemas.openxmlformats.org/drawingml/2006/main" w="0">
            <a:noFill/>
            <a:prstDash val="solid"/>
          </a:ln>
        </p:spPr>
      </p:sp>
      <p:sp>
        <p:nvSpPr>
          <p:cNvPr id="16" name="compartment-label-1">
            <a:extLst xmlns:a="http://schemas.openxmlformats.org/drawingml/2006/main">
              <a:ext uri="{FF2B5EF4-FFF2-40B4-BE49-F238E27FC236}">
                <a16:creationId xmlns:a16="http://schemas.microsoft.com/office/drawing/2014/main" id="{95F04233-FDF8-421E-B888-A47269C55620}"/>
              </a:ext>
            </a:extLst>
          </p:cNvPr>
          <p:cNvSpPr>
            <a:spLocks xmlns:a="http://schemas.openxmlformats.org/drawingml/2006/main" noGrp="1"/>
          </p:cNvSpPr>
          <p:nvPr/>
        </p:nvSpPr>
        <p:spPr>
          <a:xfrm xmlns:a="http://schemas.openxmlformats.org/drawingml/2006/main">
            <a:off x="3581400" y="243840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C8942A"/>
                </a:solidFill>
                <a:latin typeface="DejaVu Sans"/>
                <a:ea typeface="DejaVu Sans"/>
                <a:cs typeface="DejaVu Sans"/>
              </a:defRPr>
            </a:pPr>
            <a:r>
              <a:rPr sz="1650" b="1" i="0">
                <a:solidFill>
                  <a:srgbClr val="C8942A"/>
                </a:solidFill>
                <a:latin typeface="DejaVu Sans"/>
                <a:ea typeface="DejaVu Sans"/>
                <a:cs typeface="DejaVu Sans"/>
              </a:rPr>
              <a:t>POLICY</a:t>
            </a:r>
          </a:p>
        </p:txBody>
      </p:sp>
      <p:sp>
        <p:nvSpPr>
          <p:cNvPr id="17" name="compartment-question-1">
            <a:extLst xmlns:a="http://schemas.openxmlformats.org/drawingml/2006/main">
              <a:ext uri="{FF2B5EF4-FFF2-40B4-BE49-F238E27FC236}">
                <a16:creationId xmlns:a16="http://schemas.microsoft.com/office/drawing/2014/main" id="{DCD74E76-D699-4A7F-8514-700D6246DB2D}"/>
              </a:ext>
            </a:extLst>
          </p:cNvPr>
          <p:cNvSpPr>
            <a:spLocks xmlns:a="http://schemas.openxmlformats.org/drawingml/2006/main" noGrp="1"/>
          </p:cNvSpPr>
          <p:nvPr/>
        </p:nvSpPr>
        <p:spPr>
          <a:xfrm xmlns:a="http://schemas.openxmlformats.org/drawingml/2006/main">
            <a:off x="3581400" y="3028950"/>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71B31"/>
                </a:solidFill>
                <a:latin typeface="DejaVu Serif"/>
                <a:ea typeface="DejaVu Serif"/>
                <a:cs typeface="DejaVu Serif"/>
              </a:defRPr>
            </a:pPr>
            <a:r>
              <a:rPr sz="1650" b="1" i="0">
                <a:solidFill>
                  <a:srgbClr val="071B31"/>
                </a:solidFill>
                <a:latin typeface="DejaVu Serif"/>
                <a:ea typeface="DejaVu Serif"/>
                <a:cs typeface="DejaVu Serif"/>
              </a:rPr>
              <a:t>What the institution proposes</a:t>
            </a:r>
          </a:p>
        </p:txBody>
      </p:sp>
      <p:sp>
        <p:nvSpPr>
          <p:cNvPr id="18" name="compartment-rule-1">
            <a:extLst xmlns:a="http://schemas.openxmlformats.org/drawingml/2006/main">
              <a:ext uri="{FF2B5EF4-FFF2-40B4-BE49-F238E27FC236}">
                <a16:creationId xmlns:a16="http://schemas.microsoft.com/office/drawing/2014/main" id="{5EB8D871-8B8C-455A-B534-DB76BC46904F}"/>
              </a:ext>
            </a:extLst>
          </p:cNvPr>
          <p:cNvSpPr>
            <a:spLocks xmlns:a="http://schemas.openxmlformats.org/drawingml/2006/main" noGrp="1"/>
          </p:cNvSpPr>
          <p:nvPr/>
        </p:nvSpPr>
        <p:spPr>
          <a:xfrm xmlns:a="http://schemas.openxmlformats.org/drawingml/2006/main">
            <a:off x="3581400" y="4191000"/>
            <a:ext cx="647700" cy="0"/>
          </a:xfrm>
          <a:prstGeom xmlns:a="http://schemas.openxmlformats.org/drawingml/2006/main" prst="line">
            <a:avLst/>
          </a:prstGeom>
          <a:noFill xmlns:a="http://schemas.openxmlformats.org/drawingml/2006/main"/>
          <a:ln xmlns:a="http://schemas.openxmlformats.org/drawingml/2006/main" w="23813">
            <a:solidFill>
              <a:srgbClr val="C8942A"/>
            </a:solidFill>
            <a:prstDash val="solid"/>
          </a:ln>
        </p:spPr>
      </p:sp>
      <p:sp>
        <p:nvSpPr>
          <p:cNvPr id="19" name="compartment-body-1">
            <a:extLst xmlns:a="http://schemas.openxmlformats.org/drawingml/2006/main">
              <a:ext uri="{FF2B5EF4-FFF2-40B4-BE49-F238E27FC236}">
                <a16:creationId xmlns:a16="http://schemas.microsoft.com/office/drawing/2014/main" id="{83E2DAEA-E11E-414C-843F-F16301835951}"/>
              </a:ext>
            </a:extLst>
          </p:cNvPr>
          <p:cNvSpPr>
            <a:spLocks xmlns:a="http://schemas.openxmlformats.org/drawingml/2006/main" noGrp="1"/>
          </p:cNvSpPr>
          <p:nvPr/>
        </p:nvSpPr>
        <p:spPr>
          <a:xfrm xmlns:a="http://schemas.openxmlformats.org/drawingml/2006/main">
            <a:off x="3581400" y="4362450"/>
            <a:ext cx="1962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66717F"/>
                </a:solidFill>
                <a:latin typeface="DejaVu Sans"/>
                <a:ea typeface="DejaVu Sans"/>
                <a:cs typeface="DejaVu Sans"/>
              </a:defRPr>
            </a:pPr>
            <a:r>
              <a:rPr sz="1200" b="0" i="0">
                <a:solidFill>
                  <a:srgbClr val="66717F"/>
                </a:solidFill>
                <a:latin typeface="DejaVu Sans"/>
                <a:ea typeface="DejaVu Sans"/>
                <a:cs typeface="DejaVu Sans"/>
              </a:rPr>
              <a:t>Constraints, options, preconditions and intended outcomes</a:t>
            </a:r>
          </a:p>
        </p:txBody>
      </p:sp>
      <p:sp>
        <p:nvSpPr>
          <p:cNvPr id="20" name="compartment-2">
            <a:extLst xmlns:a="http://schemas.openxmlformats.org/drawingml/2006/main">
              <a:ext uri="{FF2B5EF4-FFF2-40B4-BE49-F238E27FC236}">
                <a16:creationId xmlns:a16="http://schemas.microsoft.com/office/drawing/2014/main" id="{8BF02BDE-402F-49F3-97D9-B63C1247D6A5}"/>
              </a:ext>
            </a:extLst>
          </p:cNvPr>
          <p:cNvSpPr>
            <a:spLocks xmlns:a="http://schemas.openxmlformats.org/drawingml/2006/main" noGrp="1"/>
          </p:cNvSpPr>
          <p:nvPr/>
        </p:nvSpPr>
        <p:spPr>
          <a:xfrm xmlns:a="http://schemas.openxmlformats.org/drawingml/2006/main">
            <a:off x="6134100" y="2152650"/>
            <a:ext cx="2381250" cy="312420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11430">
            <a:solidFill>
              <a:srgbClr val="D7C7A5"/>
            </a:solidFill>
            <a:prstDash val="solid"/>
          </a:ln>
        </p:spPr>
      </p:sp>
      <p:sp>
        <p:nvSpPr>
          <p:cNvPr id="21" name="compartment-accent-2">
            <a:extLst xmlns:a="http://schemas.openxmlformats.org/drawingml/2006/main">
              <a:ext uri="{FF2B5EF4-FFF2-40B4-BE49-F238E27FC236}">
                <a16:creationId xmlns:a16="http://schemas.microsoft.com/office/drawing/2014/main" id="{9B22857C-B883-4816-A858-CBC4A41D7F9E}"/>
              </a:ext>
            </a:extLst>
          </p:cNvPr>
          <p:cNvSpPr>
            <a:spLocks xmlns:a="http://schemas.openxmlformats.org/drawingml/2006/main" noGrp="1"/>
          </p:cNvSpPr>
          <p:nvPr/>
        </p:nvSpPr>
        <p:spPr>
          <a:xfrm xmlns:a="http://schemas.openxmlformats.org/drawingml/2006/main">
            <a:off x="6134100" y="2152650"/>
            <a:ext cx="2381250" cy="95250"/>
          </a:xfrm>
          <a:prstGeom xmlns:a="http://schemas.openxmlformats.org/drawingml/2006/main" prst="rect">
            <a:avLst/>
          </a:prstGeom>
          <a:solidFill xmlns:a="http://schemas.openxmlformats.org/drawingml/2006/main">
            <a:srgbClr val="0BA47C"/>
          </a:solidFill>
          <a:ln xmlns:a="http://schemas.openxmlformats.org/drawingml/2006/main" w="0">
            <a:noFill/>
            <a:prstDash val="solid"/>
          </a:ln>
        </p:spPr>
      </p:sp>
      <p:sp>
        <p:nvSpPr>
          <p:cNvPr id="22" name="compartment-label-2">
            <a:extLst xmlns:a="http://schemas.openxmlformats.org/drawingml/2006/main">
              <a:ext uri="{FF2B5EF4-FFF2-40B4-BE49-F238E27FC236}">
                <a16:creationId xmlns:a16="http://schemas.microsoft.com/office/drawing/2014/main" id="{FE700B40-EF2B-41BD-8DCE-4A673CC84B69}"/>
              </a:ext>
            </a:extLst>
          </p:cNvPr>
          <p:cNvSpPr>
            <a:spLocks xmlns:a="http://schemas.openxmlformats.org/drawingml/2006/main" noGrp="1"/>
          </p:cNvSpPr>
          <p:nvPr/>
        </p:nvSpPr>
        <p:spPr>
          <a:xfrm xmlns:a="http://schemas.openxmlformats.org/drawingml/2006/main">
            <a:off x="6343650" y="243840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0BA47C"/>
                </a:solidFill>
                <a:latin typeface="DejaVu Sans"/>
                <a:ea typeface="DejaVu Sans"/>
                <a:cs typeface="DejaVu Sans"/>
              </a:defRPr>
            </a:pPr>
            <a:r>
              <a:rPr sz="1650" b="1" i="0">
                <a:solidFill>
                  <a:srgbClr val="0BA47C"/>
                </a:solidFill>
                <a:latin typeface="DejaVu Sans"/>
                <a:ea typeface="DejaVu Sans"/>
                <a:cs typeface="DejaVu Sans"/>
              </a:rPr>
              <a:t>PROOF</a:t>
            </a:r>
          </a:p>
        </p:txBody>
      </p:sp>
      <p:sp>
        <p:nvSpPr>
          <p:cNvPr id="23" name="compartment-question-2">
            <a:extLst xmlns:a="http://schemas.openxmlformats.org/drawingml/2006/main">
              <a:ext uri="{FF2B5EF4-FFF2-40B4-BE49-F238E27FC236}">
                <a16:creationId xmlns:a16="http://schemas.microsoft.com/office/drawing/2014/main" id="{E0A6C027-1A70-44A4-993C-DE6186D0A95D}"/>
              </a:ext>
            </a:extLst>
          </p:cNvPr>
          <p:cNvSpPr>
            <a:spLocks xmlns:a="http://schemas.openxmlformats.org/drawingml/2006/main" noGrp="1"/>
          </p:cNvSpPr>
          <p:nvPr/>
        </p:nvSpPr>
        <p:spPr>
          <a:xfrm xmlns:a="http://schemas.openxmlformats.org/drawingml/2006/main">
            <a:off x="6343650" y="3028950"/>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71B31"/>
                </a:solidFill>
                <a:latin typeface="DejaVu Serif"/>
                <a:ea typeface="DejaVu Serif"/>
                <a:cs typeface="DejaVu Serif"/>
              </a:defRPr>
            </a:pPr>
            <a:r>
              <a:rPr sz="1650" b="1" i="0">
                <a:solidFill>
                  <a:srgbClr val="071B31"/>
                </a:solidFill>
                <a:latin typeface="DejaVu Serif"/>
                <a:ea typeface="DejaVu Serif"/>
                <a:cs typeface="DejaVu Serif"/>
              </a:rPr>
              <a:t>What one frozen release demonstrated</a:t>
            </a:r>
          </a:p>
        </p:txBody>
      </p:sp>
      <p:sp>
        <p:nvSpPr>
          <p:cNvPr id="24" name="compartment-rule-2">
            <a:extLst xmlns:a="http://schemas.openxmlformats.org/drawingml/2006/main">
              <a:ext uri="{FF2B5EF4-FFF2-40B4-BE49-F238E27FC236}">
                <a16:creationId xmlns:a16="http://schemas.microsoft.com/office/drawing/2014/main" id="{19D0E9CA-F00C-4DB1-9D25-1B73ED04C633}"/>
              </a:ext>
            </a:extLst>
          </p:cNvPr>
          <p:cNvSpPr>
            <a:spLocks xmlns:a="http://schemas.openxmlformats.org/drawingml/2006/main" noGrp="1"/>
          </p:cNvSpPr>
          <p:nvPr/>
        </p:nvSpPr>
        <p:spPr>
          <a:xfrm xmlns:a="http://schemas.openxmlformats.org/drawingml/2006/main">
            <a:off x="6343650" y="4191000"/>
            <a:ext cx="647700" cy="0"/>
          </a:xfrm>
          <a:prstGeom xmlns:a="http://schemas.openxmlformats.org/drawingml/2006/main" prst="line">
            <a:avLst/>
          </a:prstGeom>
          <a:noFill xmlns:a="http://schemas.openxmlformats.org/drawingml/2006/main"/>
          <a:ln xmlns:a="http://schemas.openxmlformats.org/drawingml/2006/main" w="23813">
            <a:solidFill>
              <a:srgbClr val="0BA47C"/>
            </a:solidFill>
            <a:prstDash val="solid"/>
          </a:ln>
        </p:spPr>
      </p:sp>
      <p:sp>
        <p:nvSpPr>
          <p:cNvPr id="25" name="compartment-body-2">
            <a:extLst xmlns:a="http://schemas.openxmlformats.org/drawingml/2006/main">
              <a:ext uri="{FF2B5EF4-FFF2-40B4-BE49-F238E27FC236}">
                <a16:creationId xmlns:a16="http://schemas.microsoft.com/office/drawing/2014/main" id="{73CF5363-F2D1-4F2B-A314-D9BFBE3F7677}"/>
              </a:ext>
            </a:extLst>
          </p:cNvPr>
          <p:cNvSpPr>
            <a:spLocks xmlns:a="http://schemas.openxmlformats.org/drawingml/2006/main" noGrp="1"/>
          </p:cNvSpPr>
          <p:nvPr/>
        </p:nvSpPr>
        <p:spPr>
          <a:xfrm xmlns:a="http://schemas.openxmlformats.org/drawingml/2006/main">
            <a:off x="6343650" y="4362450"/>
            <a:ext cx="1962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66717F"/>
                </a:solidFill>
                <a:latin typeface="DejaVu Sans"/>
                <a:ea typeface="DejaVu Sans"/>
                <a:cs typeface="DejaVu Sans"/>
              </a:defRPr>
            </a:pPr>
            <a:r>
              <a:rPr sz="1200" b="0" i="0">
                <a:solidFill>
                  <a:srgbClr val="66717F"/>
                </a:solidFill>
                <a:latin typeface="DejaVu Sans"/>
                <a:ea typeface="DejaVu Sans"/>
                <a:cs typeface="DejaVu Sans"/>
              </a:rPr>
              <a:t>Fresh evidence, explicit scope, validity and expiry</a:t>
            </a:r>
          </a:p>
        </p:txBody>
      </p:sp>
      <p:sp>
        <p:nvSpPr>
          <p:cNvPr id="26" name="compartment-3">
            <a:extLst xmlns:a="http://schemas.openxmlformats.org/drawingml/2006/main">
              <a:ext uri="{FF2B5EF4-FFF2-40B4-BE49-F238E27FC236}">
                <a16:creationId xmlns:a16="http://schemas.microsoft.com/office/drawing/2014/main" id="{9463FCE4-347D-4159-BFE8-551B2BD1EEC1}"/>
              </a:ext>
            </a:extLst>
          </p:cNvPr>
          <p:cNvSpPr>
            <a:spLocks xmlns:a="http://schemas.openxmlformats.org/drawingml/2006/main" noGrp="1"/>
          </p:cNvSpPr>
          <p:nvPr/>
        </p:nvSpPr>
        <p:spPr>
          <a:xfrm xmlns:a="http://schemas.openxmlformats.org/drawingml/2006/main">
            <a:off x="8896350" y="2152650"/>
            <a:ext cx="2381250" cy="312420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11430">
            <a:solidFill>
              <a:srgbClr val="D7C7A5"/>
            </a:solidFill>
            <a:prstDash val="solid"/>
          </a:ln>
        </p:spPr>
      </p:sp>
      <p:sp>
        <p:nvSpPr>
          <p:cNvPr id="27" name="compartment-accent-3">
            <a:extLst xmlns:a="http://schemas.openxmlformats.org/drawingml/2006/main">
              <a:ext uri="{FF2B5EF4-FFF2-40B4-BE49-F238E27FC236}">
                <a16:creationId xmlns:a16="http://schemas.microsoft.com/office/drawing/2014/main" id="{5D6C6534-0F25-4C0D-A054-95FC179FA97B}"/>
              </a:ext>
            </a:extLst>
          </p:cNvPr>
          <p:cNvSpPr>
            <a:spLocks xmlns:a="http://schemas.openxmlformats.org/drawingml/2006/main" noGrp="1"/>
          </p:cNvSpPr>
          <p:nvPr/>
        </p:nvSpPr>
        <p:spPr>
          <a:xfrm xmlns:a="http://schemas.openxmlformats.org/drawingml/2006/main">
            <a:off x="8896350" y="2152650"/>
            <a:ext cx="2381250" cy="95250"/>
          </a:xfrm>
          <a:prstGeom xmlns:a="http://schemas.openxmlformats.org/drawingml/2006/main" prst="rect">
            <a:avLst/>
          </a:prstGeom>
          <a:solidFill xmlns:a="http://schemas.openxmlformats.org/drawingml/2006/main">
            <a:srgbClr val="D06A2C"/>
          </a:solidFill>
          <a:ln xmlns:a="http://schemas.openxmlformats.org/drawingml/2006/main" w="0">
            <a:noFill/>
            <a:prstDash val="solid"/>
          </a:ln>
        </p:spPr>
      </p:sp>
      <p:sp>
        <p:nvSpPr>
          <p:cNvPr id="28" name="compartment-label-3">
            <a:extLst xmlns:a="http://schemas.openxmlformats.org/drawingml/2006/main">
              <a:ext uri="{FF2B5EF4-FFF2-40B4-BE49-F238E27FC236}">
                <a16:creationId xmlns:a16="http://schemas.microsoft.com/office/drawing/2014/main" id="{6333D454-23DC-4C3A-83AE-A2B03C275869}"/>
              </a:ext>
            </a:extLst>
          </p:cNvPr>
          <p:cNvSpPr>
            <a:spLocks xmlns:a="http://schemas.openxmlformats.org/drawingml/2006/main" noGrp="1"/>
          </p:cNvSpPr>
          <p:nvPr/>
        </p:nvSpPr>
        <p:spPr>
          <a:xfrm xmlns:a="http://schemas.openxmlformats.org/drawingml/2006/main">
            <a:off x="9105900" y="243840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i="0">
                <a:solidFill>
                  <a:srgbClr val="D06A2C"/>
                </a:solidFill>
                <a:latin typeface="DejaVu Sans"/>
                <a:ea typeface="DejaVu Sans"/>
                <a:cs typeface="DejaVu Sans"/>
              </a:defRPr>
            </a:pPr>
            <a:r>
              <a:rPr sz="1650" b="1" i="0">
                <a:solidFill>
                  <a:srgbClr val="D06A2C"/>
                </a:solidFill>
                <a:latin typeface="DejaVu Sans"/>
                <a:ea typeface="DejaVu Sans"/>
                <a:cs typeface="DejaVu Sans"/>
              </a:rPr>
              <a:t>AUTHORITY</a:t>
            </a:r>
          </a:p>
        </p:txBody>
      </p:sp>
      <p:sp>
        <p:nvSpPr>
          <p:cNvPr id="29" name="compartment-question-3">
            <a:extLst xmlns:a="http://schemas.openxmlformats.org/drawingml/2006/main">
              <a:ext uri="{FF2B5EF4-FFF2-40B4-BE49-F238E27FC236}">
                <a16:creationId xmlns:a16="http://schemas.microsoft.com/office/drawing/2014/main" id="{F7832ABD-8AFE-4D98-AFB7-9B58E0CFE1A2}"/>
              </a:ext>
            </a:extLst>
          </p:cNvPr>
          <p:cNvSpPr>
            <a:spLocks xmlns:a="http://schemas.openxmlformats.org/drawingml/2006/main" noGrp="1"/>
          </p:cNvSpPr>
          <p:nvPr/>
        </p:nvSpPr>
        <p:spPr>
          <a:xfrm xmlns:a="http://schemas.openxmlformats.org/drawingml/2006/main">
            <a:off x="9105900" y="3028950"/>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71B31"/>
                </a:solidFill>
                <a:latin typeface="DejaVu Serif"/>
                <a:ea typeface="DejaVu Serif"/>
                <a:cs typeface="DejaVu Serif"/>
              </a:defRPr>
            </a:pPr>
            <a:r>
              <a:rPr sz="1650" b="1" i="0">
                <a:solidFill>
                  <a:srgbClr val="071B31"/>
                </a:solidFill>
                <a:latin typeface="DejaVu Serif"/>
                <a:ea typeface="DejaVu Serif"/>
                <a:cs typeface="DejaVu Serif"/>
              </a:rPr>
              <a:t>What customer governance permits</a:t>
            </a:r>
          </a:p>
        </p:txBody>
      </p:sp>
      <p:sp>
        <p:nvSpPr>
          <p:cNvPr id="30" name="compartment-rule-3">
            <a:extLst xmlns:a="http://schemas.openxmlformats.org/drawingml/2006/main">
              <a:ext uri="{FF2B5EF4-FFF2-40B4-BE49-F238E27FC236}">
                <a16:creationId xmlns:a16="http://schemas.microsoft.com/office/drawing/2014/main" id="{EDDF3AEA-59DB-4913-8A04-DD40DDD5DBAE}"/>
              </a:ext>
            </a:extLst>
          </p:cNvPr>
          <p:cNvSpPr>
            <a:spLocks xmlns:a="http://schemas.openxmlformats.org/drawingml/2006/main" noGrp="1"/>
          </p:cNvSpPr>
          <p:nvPr/>
        </p:nvSpPr>
        <p:spPr>
          <a:xfrm xmlns:a="http://schemas.openxmlformats.org/drawingml/2006/main">
            <a:off x="9105900" y="4191000"/>
            <a:ext cx="647700" cy="0"/>
          </a:xfrm>
          <a:prstGeom xmlns:a="http://schemas.openxmlformats.org/drawingml/2006/main" prst="line">
            <a:avLst/>
          </a:prstGeom>
          <a:noFill xmlns:a="http://schemas.openxmlformats.org/drawingml/2006/main"/>
          <a:ln xmlns:a="http://schemas.openxmlformats.org/drawingml/2006/main" w="23813">
            <a:solidFill>
              <a:srgbClr val="D06A2C"/>
            </a:solidFill>
            <a:prstDash val="solid"/>
          </a:ln>
        </p:spPr>
      </p:sp>
      <p:sp>
        <p:nvSpPr>
          <p:cNvPr id="31" name="compartment-body-3">
            <a:extLst xmlns:a="http://schemas.openxmlformats.org/drawingml/2006/main">
              <a:ext uri="{FF2B5EF4-FFF2-40B4-BE49-F238E27FC236}">
                <a16:creationId xmlns:a16="http://schemas.microsoft.com/office/drawing/2014/main" id="{A94E4FE9-E2C8-488F-9E97-05B11C7CDE6B}"/>
              </a:ext>
            </a:extLst>
          </p:cNvPr>
          <p:cNvSpPr>
            <a:spLocks xmlns:a="http://schemas.openxmlformats.org/drawingml/2006/main" noGrp="1"/>
          </p:cNvSpPr>
          <p:nvPr/>
        </p:nvSpPr>
        <p:spPr>
          <a:xfrm xmlns:a="http://schemas.openxmlformats.org/drawingml/2006/main">
            <a:off x="9105900" y="4362450"/>
            <a:ext cx="1962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66717F"/>
                </a:solidFill>
                <a:latin typeface="DejaVu Sans"/>
                <a:ea typeface="DejaVu Sans"/>
                <a:cs typeface="DejaVu Sans"/>
              </a:defRPr>
            </a:pPr>
            <a:r>
              <a:rPr sz="1200" b="0" i="0">
                <a:solidFill>
                  <a:srgbClr val="66717F"/>
                </a:solidFill>
                <a:latin typeface="DejaVu Sans"/>
                <a:ea typeface="DejaVu Sans"/>
                <a:cs typeface="DejaVu Sans"/>
              </a:rPr>
              <a:t>Externally enforced actions, limits, monitoring and rollback</a:t>
            </a:r>
          </a:p>
        </p:txBody>
      </p:sp>
      <p:sp>
        <p:nvSpPr>
          <p:cNvPr id="32" name="compartment-law">
            <a:extLst xmlns:a="http://schemas.openxmlformats.org/drawingml/2006/main">
              <a:ext uri="{FF2B5EF4-FFF2-40B4-BE49-F238E27FC236}">
                <a16:creationId xmlns:a16="http://schemas.microsoft.com/office/drawing/2014/main" id="{3E19CCBB-C02B-4D63-B873-202758E18D50}"/>
              </a:ext>
            </a:extLst>
          </p:cNvPr>
          <p:cNvSpPr>
            <a:spLocks xmlns:a="http://schemas.openxmlformats.org/drawingml/2006/main" noGrp="1"/>
          </p:cNvSpPr>
          <p:nvPr/>
        </p:nvSpPr>
        <p:spPr>
          <a:xfrm xmlns:a="http://schemas.openxmlformats.org/drawingml/2006/main">
            <a:off x="609600" y="5676900"/>
            <a:ext cx="1062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i="0">
                <a:solidFill>
                  <a:srgbClr val="071B31"/>
                </a:solidFill>
                <a:latin typeface="DejaVu Serif"/>
                <a:ea typeface="DejaVu Serif"/>
                <a:cs typeface="DejaVu Serif"/>
              </a:defRPr>
            </a:pPr>
            <a:r>
              <a:rPr sz="2100" b="1" i="0">
                <a:solidFill>
                  <a:srgbClr val="071B31"/>
                </a:solidFill>
                <a:latin typeface="DejaVu Serif"/>
                <a:ea typeface="DejaVu Serif"/>
                <a:cs typeface="DejaVu Serif"/>
              </a:rPr>
              <a:t>Capability ≠ proof ≠ authority</a:t>
            </a:r>
          </a:p>
        </p:txBody>
      </p:sp>
    </p:spTree>
    <p:extLst>
      <p:ext uri="{BB962C8B-B14F-4D97-AF65-F5344CB8AC3E}">
        <p14:creationId xmlns:p14="http://schemas.microsoft.com/office/powerpoint/2010/main" val="916172952"/>
      </p:ext>
    </p:extLst>
  </p:cSld>
</p:sld>
</file>

<file path=ppt/slides/slide4.xml><?xml version="1.0" encoding="utf-8"?>
<p:sld xmlns:p="http://schemas.openxmlformats.org/presentationml/2006/main">
  <p:cSld>
    <p:bg>
      <p:bgPr>
        <a:solidFill xmlns:a="http://schemas.openxmlformats.org/drawingml/2006/main">
          <a:srgbClr val="031426"/>
        </a:solidFill>
      </p:bgPr>
    </p:bg>
    <p:spTree>
      <p:nvGrpSpPr>
        <p:cNvPr id="1" name=""/>
        <p:cNvGrpSpPr/>
        <p:nvPr/>
      </p:nvGrpSpPr>
      <p:grpSpPr>
        <a:xfrm xmlns:a="http://schemas.openxmlformats.org/drawingml/2006/main"/>
      </p:grpSpPr>
      <p:sp>
        <p:nvSpPr>
          <p:cNvPr id="29" name="eyebrow-MONTREAL.A">
            <a:extLst xmlns:a="http://schemas.openxmlformats.org/drawingml/2006/main">
              <a:ext uri="{FF2B5EF4-FFF2-40B4-BE49-F238E27FC236}">
                <a16:creationId xmlns:a16="http://schemas.microsoft.com/office/drawing/2014/main" id="{4FC5DCB8-5431-4A4E-A76E-C9AE81BA0FD5}"/>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E7C978"/>
                </a:solidFill>
                <a:latin typeface="DejaVu Sans"/>
                <a:ea typeface="DejaVu Sans"/>
                <a:cs typeface="DejaVu Sans"/>
              </a:defRPr>
            </a:pPr>
            <a:r>
              <a:rPr sz="1050" b="1" i="0">
                <a:solidFill>
                  <a:srgbClr val="E7C978"/>
                </a:solidFill>
                <a:latin typeface="DejaVu Sans"/>
                <a:ea typeface="DejaVu Sans"/>
                <a:cs typeface="DejaVu Sans"/>
              </a:rPr>
              <a:t>MONTREAL.AI  ◆  BOARD DECISION PACK</a:t>
            </a:r>
          </a:p>
        </p:txBody>
      </p:sp>
      <p:sp>
        <p:nvSpPr>
          <p:cNvPr id="2" name="top-rule-4">
            <a:extLst xmlns:a="http://schemas.openxmlformats.org/drawingml/2006/main">
              <a:ext uri="{FF2B5EF4-FFF2-40B4-BE49-F238E27FC236}">
                <a16:creationId xmlns:a16="http://schemas.microsoft.com/office/drawing/2014/main" id="{3821C3C5-358F-4E85-9E6B-1112D4CA9433}"/>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C8942A"/>
            </a:solidFill>
            <a:prstDash val="solid"/>
          </a:ln>
        </p:spPr>
      </p:sp>
      <p:sp>
        <p:nvSpPr>
          <p:cNvPr id="3" name="bottom-rule-4">
            <a:extLst xmlns:a="http://schemas.openxmlformats.org/drawingml/2006/main">
              <a:ext uri="{FF2B5EF4-FFF2-40B4-BE49-F238E27FC236}">
                <a16:creationId xmlns:a16="http://schemas.microsoft.com/office/drawing/2014/main" id="{AEBA2078-1117-4A2D-88C7-CF436DB873F8}"/>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765A28"/>
            </a:solidFill>
            <a:prstDash val="solid"/>
          </a:ln>
        </p:spPr>
      </p:sp>
      <p:sp>
        <p:nvSpPr>
          <p:cNvPr id="4" name="footer-4">
            <a:extLst xmlns:a="http://schemas.openxmlformats.org/drawingml/2006/main">
              <a:ext uri="{FF2B5EF4-FFF2-40B4-BE49-F238E27FC236}">
                <a16:creationId xmlns:a16="http://schemas.microsoft.com/office/drawing/2014/main" id="{689D3420-D6B8-4248-A367-BBB0D49D9E19}"/>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B7C1CC"/>
                </a:solidFill>
                <a:latin typeface="DejaVu Sans"/>
                <a:ea typeface="DejaVu Sans"/>
                <a:cs typeface="DejaVu Sans"/>
              </a:defRPr>
            </a:pPr>
            <a:r>
              <a:rPr sz="825" b="1" i="0">
                <a:solidFill>
                  <a:srgbClr val="B7C1CC"/>
                </a:solidFill>
                <a:latin typeface="DejaVu Sans"/>
                <a:ea typeface="DejaVu Sans"/>
                <a:cs typeface="DejaVu Sans"/>
              </a:rPr>
              <a:t>NEURAL-SYMBOLIC SUCCESSOR Ω</a:t>
            </a:r>
          </a:p>
        </p:txBody>
      </p:sp>
      <p:sp>
        <p:nvSpPr>
          <p:cNvPr id="5" name="page-4">
            <a:extLst xmlns:a="http://schemas.openxmlformats.org/drawingml/2006/main">
              <a:ext uri="{FF2B5EF4-FFF2-40B4-BE49-F238E27FC236}">
                <a16:creationId xmlns:a16="http://schemas.microsoft.com/office/drawing/2014/main" id="{646ED4B2-23F8-4D25-9B61-B5DD98B40099}"/>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F7F1E6"/>
                </a:solidFill>
                <a:latin typeface="DejaVu Sans"/>
                <a:ea typeface="DejaVu Sans"/>
                <a:cs typeface="DejaVu Sans"/>
              </a:defRPr>
            </a:pPr>
            <a:r>
              <a:rPr sz="825" b="1" i="0">
                <a:solidFill>
                  <a:srgbClr val="F7F1E6"/>
                </a:solidFill>
                <a:latin typeface="DejaVu Sans"/>
                <a:ea typeface="DejaVu Sans"/>
                <a:cs typeface="DejaVu Sans"/>
              </a:rPr>
              <a:t>04</a:t>
            </a:r>
          </a:p>
        </p:txBody>
      </p:sp>
      <p:sp>
        <p:nvSpPr>
          <p:cNvPr id="6" name="title-4">
            <a:extLst xmlns:a="http://schemas.openxmlformats.org/drawingml/2006/main">
              <a:ext uri="{FF2B5EF4-FFF2-40B4-BE49-F238E27FC236}">
                <a16:creationId xmlns:a16="http://schemas.microsoft.com/office/drawing/2014/main" id="{CCABFE04-1137-4B5B-8C0A-8D15ECF4B301}"/>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F7F1E6"/>
                </a:solidFill>
                <a:latin typeface="DejaVu Serif"/>
                <a:ea typeface="DejaVu Serif"/>
                <a:cs typeface="DejaVu Serif"/>
              </a:defRPr>
            </a:pPr>
            <a:r>
              <a:rPr sz="2775" b="1" i="0">
                <a:solidFill>
                  <a:srgbClr val="F7F1E6"/>
                </a:solidFill>
                <a:latin typeface="DejaVu Serif"/>
                <a:ea typeface="DejaVu Serif"/>
                <a:cs typeface="DejaVu Serif"/>
              </a:rPr>
              <a:t>Improvement can recurse without production self-modification.</a:t>
            </a:r>
          </a:p>
        </p:txBody>
      </p:sp>
      <p:sp>
        <p:nvSpPr>
          <p:cNvPr id="7" name="title-accent-4">
            <a:extLst xmlns:a="http://schemas.openxmlformats.org/drawingml/2006/main">
              <a:ext uri="{FF2B5EF4-FFF2-40B4-BE49-F238E27FC236}">
                <a16:creationId xmlns:a16="http://schemas.microsoft.com/office/drawing/2014/main" id="{AC6E5BB7-6CDB-4782-94EE-1E74843DC785}"/>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E7C978"/>
            </a:solidFill>
            <a:prstDash val="solid"/>
          </a:ln>
        </p:spPr>
      </p:sp>
      <p:sp>
        <p:nvSpPr>
          <p:cNvPr id="8" name="serve-label">
            <a:extLst xmlns:a="http://schemas.openxmlformats.org/drawingml/2006/main">
              <a:ext uri="{FF2B5EF4-FFF2-40B4-BE49-F238E27FC236}">
                <a16:creationId xmlns:a16="http://schemas.microsoft.com/office/drawing/2014/main" id="{ABC7F5D7-4558-4D35-8D89-9A92E4EEE66D}"/>
              </a:ext>
            </a:extLst>
          </p:cNvPr>
          <p:cNvSpPr>
            <a:spLocks xmlns:a="http://schemas.openxmlformats.org/drawingml/2006/main" noGrp="1"/>
          </p:cNvSpPr>
          <p:nvPr/>
        </p:nvSpPr>
        <p:spPr>
          <a:xfrm xmlns:a="http://schemas.openxmlformats.org/drawingml/2006/main">
            <a:off x="609600" y="2190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E7C978"/>
                </a:solidFill>
                <a:latin typeface="DejaVu Sans"/>
                <a:ea typeface="DejaVu Sans"/>
                <a:cs typeface="DejaVu Sans"/>
              </a:defRPr>
            </a:pPr>
            <a:r>
              <a:rPr sz="1200" b="1" i="0">
                <a:solidFill>
                  <a:srgbClr val="E7C978"/>
                </a:solidFill>
                <a:latin typeface="DejaVu Sans"/>
                <a:ea typeface="DejaVu Sans"/>
                <a:cs typeface="DejaVu Sans"/>
              </a:rPr>
              <a:t>SERVING RELEASE  R(t)</a:t>
            </a:r>
          </a:p>
        </p:txBody>
      </p:sp>
      <p:sp>
        <p:nvSpPr>
          <p:cNvPr id="9" name="serve-lane">
            <a:extLst xmlns:a="http://schemas.openxmlformats.org/drawingml/2006/main">
              <a:ext uri="{FF2B5EF4-FFF2-40B4-BE49-F238E27FC236}">
                <a16:creationId xmlns:a16="http://schemas.microsoft.com/office/drawing/2014/main" id="{70F8D860-BE94-4D33-AA22-18AA30D564E8}"/>
              </a:ext>
            </a:extLst>
          </p:cNvPr>
          <p:cNvSpPr>
            <a:spLocks xmlns:a="http://schemas.openxmlformats.org/drawingml/2006/main" noGrp="1"/>
          </p:cNvSpPr>
          <p:nvPr/>
        </p:nvSpPr>
        <p:spPr>
          <a:xfrm xmlns:a="http://schemas.openxmlformats.org/drawingml/2006/main">
            <a:off x="609600" y="2571750"/>
            <a:ext cx="4953000" cy="1257300"/>
          </a:xfrm>
          <a:prstGeom xmlns:a="http://schemas.openxmlformats.org/drawingml/2006/main" prst="roundRect">
            <a:avLst>
              <a:gd name="adj" fmla="val 9091"/>
            </a:avLst>
          </a:prstGeom>
          <a:solidFill xmlns:a="http://schemas.openxmlformats.org/drawingml/2006/main">
            <a:srgbClr val="071B31"/>
          </a:solidFill>
          <a:ln xmlns:a="http://schemas.openxmlformats.org/drawingml/2006/main" w="14288">
            <a:solidFill>
              <a:srgbClr val="36516C"/>
            </a:solidFill>
            <a:prstDash val="solid"/>
          </a:ln>
        </p:spPr>
      </p:sp>
      <p:sp>
        <p:nvSpPr>
          <p:cNvPr id="10" name="serve-title">
            <a:extLst xmlns:a="http://schemas.openxmlformats.org/drawingml/2006/main">
              <a:ext uri="{FF2B5EF4-FFF2-40B4-BE49-F238E27FC236}">
                <a16:creationId xmlns:a16="http://schemas.microsoft.com/office/drawing/2014/main" id="{9BECF33F-BA06-44A7-879C-6DAA44C83D49}"/>
              </a:ext>
            </a:extLst>
          </p:cNvPr>
          <p:cNvSpPr>
            <a:spLocks xmlns:a="http://schemas.openxmlformats.org/drawingml/2006/main" noGrp="1"/>
          </p:cNvSpPr>
          <p:nvPr/>
        </p:nvSpPr>
        <p:spPr>
          <a:xfrm xmlns:a="http://schemas.openxmlformats.org/drawingml/2006/main">
            <a:off x="876300" y="28003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FFFFF"/>
                </a:solidFill>
                <a:latin typeface="DejaVu Serif"/>
                <a:ea typeface="DejaVu Serif"/>
                <a:cs typeface="DejaVu Serif"/>
              </a:defRPr>
            </a:pPr>
            <a:r>
              <a:rPr sz="1950" b="1" i="0">
                <a:solidFill>
                  <a:srgbClr val="FFFFFF"/>
                </a:solidFill>
                <a:latin typeface="DejaVu Serif"/>
                <a:ea typeface="DejaVu Serif"/>
                <a:cs typeface="DejaVu Serif"/>
              </a:rPr>
              <a:t>Frozen and admitted</a:t>
            </a:r>
          </a:p>
        </p:txBody>
      </p:sp>
      <p:sp>
        <p:nvSpPr>
          <p:cNvPr id="11" name="serve-copy">
            <a:extLst xmlns:a="http://schemas.openxmlformats.org/drawingml/2006/main">
              <a:ext uri="{FF2B5EF4-FFF2-40B4-BE49-F238E27FC236}">
                <a16:creationId xmlns:a16="http://schemas.microsoft.com/office/drawing/2014/main" id="{954780AA-8016-4FBF-931E-42486D33A884}"/>
              </a:ext>
            </a:extLst>
          </p:cNvPr>
          <p:cNvSpPr>
            <a:spLocks xmlns:a="http://schemas.openxmlformats.org/drawingml/2006/main" noGrp="1"/>
          </p:cNvSpPr>
          <p:nvPr/>
        </p:nvSpPr>
        <p:spPr>
          <a:xfrm xmlns:a="http://schemas.openxmlformats.org/drawingml/2006/main">
            <a:off x="876300" y="32766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C7D0DA"/>
                </a:solidFill>
                <a:latin typeface="DejaVu Sans"/>
                <a:ea typeface="DejaVu Sans"/>
                <a:cs typeface="DejaVu Sans"/>
              </a:defRPr>
            </a:pPr>
            <a:r>
              <a:rPr sz="1350" b="0" i="0">
                <a:solidFill>
                  <a:srgbClr val="C7D0DA"/>
                </a:solidFill>
                <a:latin typeface="DejaVu Sans"/>
                <a:ea typeface="DejaVu Sans"/>
                <a:cs typeface="DejaVu Sans"/>
              </a:rPr>
              <a:t>Acts only inside current proof and authority.</a:t>
            </a:r>
          </a:p>
          <a:p xmlns:a="http://schemas.openxmlformats.org/drawingml/2006/main">
            <a:pPr algn="l">
              <a:defRPr sz="1350" b="0" i="0">
                <a:solidFill>
                  <a:srgbClr val="C7D0DA"/>
                </a:solidFill>
                <a:latin typeface="DejaVu Sans"/>
                <a:ea typeface="DejaVu Sans"/>
                <a:cs typeface="DejaVu Sans"/>
              </a:defRPr>
            </a:pPr>
            <a:r>
              <a:rPr sz="1350" b="0" i="0">
                <a:solidFill>
                  <a:srgbClr val="C7D0DA"/>
                </a:solidFill>
                <a:latin typeface="DejaVu Sans"/>
                <a:ea typeface="DejaVu Sans"/>
                <a:cs typeface="DejaVu Sans"/>
              </a:rPr>
              <a:t>No material self-modification.</a:t>
            </a:r>
          </a:p>
        </p:txBody>
      </p:sp>
      <p:sp>
        <p:nvSpPr>
          <p:cNvPr id="12" name="learn-label">
            <a:extLst xmlns:a="http://schemas.openxmlformats.org/drawingml/2006/main">
              <a:ext uri="{FF2B5EF4-FFF2-40B4-BE49-F238E27FC236}">
                <a16:creationId xmlns:a16="http://schemas.microsoft.com/office/drawing/2014/main" id="{5B8DCBAA-640C-4E62-BB02-C490D386992C}"/>
              </a:ext>
            </a:extLst>
          </p:cNvPr>
          <p:cNvSpPr>
            <a:spLocks xmlns:a="http://schemas.openxmlformats.org/drawingml/2006/main" noGrp="1"/>
          </p:cNvSpPr>
          <p:nvPr/>
        </p:nvSpPr>
        <p:spPr>
          <a:xfrm xmlns:a="http://schemas.openxmlformats.org/drawingml/2006/main">
            <a:off x="609600" y="4248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167DFF"/>
                </a:solidFill>
                <a:latin typeface="DejaVu Sans"/>
                <a:ea typeface="DejaVu Sans"/>
                <a:cs typeface="DejaVu Sans"/>
              </a:defRPr>
            </a:pPr>
            <a:r>
              <a:rPr sz="1200" b="1" i="0">
                <a:solidFill>
                  <a:srgbClr val="167DFF"/>
                </a:solidFill>
                <a:latin typeface="DejaVu Sans"/>
                <a:ea typeface="DejaVu Sans"/>
                <a:cs typeface="DejaVu Sans"/>
              </a:rPr>
              <a:t>SHADOW SUCCESSOR  C(t+1)</a:t>
            </a:r>
          </a:p>
        </p:txBody>
      </p:sp>
      <p:sp>
        <p:nvSpPr>
          <p:cNvPr id="13" name="learn-lane">
            <a:extLst xmlns:a="http://schemas.openxmlformats.org/drawingml/2006/main">
              <a:ext uri="{FF2B5EF4-FFF2-40B4-BE49-F238E27FC236}">
                <a16:creationId xmlns:a16="http://schemas.microsoft.com/office/drawing/2014/main" id="{D9BE74B2-C2FD-42A6-BD12-88BF28A02FB1}"/>
              </a:ext>
            </a:extLst>
          </p:cNvPr>
          <p:cNvSpPr>
            <a:spLocks xmlns:a="http://schemas.openxmlformats.org/drawingml/2006/main" noGrp="1"/>
          </p:cNvSpPr>
          <p:nvPr/>
        </p:nvSpPr>
        <p:spPr>
          <a:xfrm xmlns:a="http://schemas.openxmlformats.org/drawingml/2006/main">
            <a:off x="609600" y="4629150"/>
            <a:ext cx="4953000" cy="1257300"/>
          </a:xfrm>
          <a:prstGeom xmlns:a="http://schemas.openxmlformats.org/drawingml/2006/main" prst="roundRect">
            <a:avLst>
              <a:gd name="adj" fmla="val 9091"/>
            </a:avLst>
          </a:prstGeom>
          <a:solidFill xmlns:a="http://schemas.openxmlformats.org/drawingml/2006/main">
            <a:srgbClr val="09223E"/>
          </a:solidFill>
          <a:ln xmlns:a="http://schemas.openxmlformats.org/drawingml/2006/main" w="14288">
            <a:solidFill>
              <a:srgbClr val="245E9A"/>
            </a:solidFill>
            <a:prstDash val="solid"/>
          </a:ln>
        </p:spPr>
      </p:sp>
      <p:sp>
        <p:nvSpPr>
          <p:cNvPr id="14" name="learn-title">
            <a:extLst xmlns:a="http://schemas.openxmlformats.org/drawingml/2006/main">
              <a:ext uri="{FF2B5EF4-FFF2-40B4-BE49-F238E27FC236}">
                <a16:creationId xmlns:a16="http://schemas.microsoft.com/office/drawing/2014/main" id="{BD3513F8-5708-4B33-A1D7-C00B9BF24AE2}"/>
              </a:ext>
            </a:extLst>
          </p:cNvPr>
          <p:cNvSpPr>
            <a:spLocks xmlns:a="http://schemas.openxmlformats.org/drawingml/2006/main" noGrp="1"/>
          </p:cNvSpPr>
          <p:nvPr/>
        </p:nvSpPr>
        <p:spPr>
          <a:xfrm xmlns:a="http://schemas.openxmlformats.org/drawingml/2006/main">
            <a:off x="876300" y="48577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FFFFFF"/>
                </a:solidFill>
                <a:latin typeface="DejaVu Serif"/>
                <a:ea typeface="DejaVu Serif"/>
                <a:cs typeface="DejaVu Serif"/>
              </a:defRPr>
            </a:pPr>
            <a:r>
              <a:rPr sz="1875" b="1" i="0">
                <a:solidFill>
                  <a:srgbClr val="FFFFFF"/>
                </a:solidFill>
                <a:latin typeface="DejaVu Serif"/>
                <a:ea typeface="DejaVu Serif"/>
                <a:cs typeface="DejaVu Serif"/>
              </a:rPr>
              <a:t>Learns, synthesizes, reorganizes</a:t>
            </a:r>
          </a:p>
        </p:txBody>
      </p:sp>
      <p:sp>
        <p:nvSpPr>
          <p:cNvPr id="15" name="learn-copy">
            <a:extLst xmlns:a="http://schemas.openxmlformats.org/drawingml/2006/main">
              <a:ext uri="{FF2B5EF4-FFF2-40B4-BE49-F238E27FC236}">
                <a16:creationId xmlns:a16="http://schemas.microsoft.com/office/drawing/2014/main" id="{05FE5E8A-2CC3-471A-BD79-FEFC01A5EE0A}"/>
              </a:ext>
            </a:extLst>
          </p:cNvPr>
          <p:cNvSpPr>
            <a:spLocks xmlns:a="http://schemas.openxmlformats.org/drawingml/2006/main" noGrp="1"/>
          </p:cNvSpPr>
          <p:nvPr/>
        </p:nvSpPr>
        <p:spPr>
          <a:xfrm xmlns:a="http://schemas.openxmlformats.org/drawingml/2006/main">
            <a:off x="876300" y="53340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C7D0DA"/>
                </a:solidFill>
                <a:latin typeface="DejaVu Sans"/>
                <a:ea typeface="DejaVu Sans"/>
                <a:cs typeface="DejaVu Sans"/>
              </a:defRPr>
            </a:pPr>
            <a:r>
              <a:rPr sz="1275" b="0" i="0">
                <a:solidFill>
                  <a:srgbClr val="C7D0DA"/>
                </a:solidFill>
                <a:latin typeface="DejaVu Sans"/>
                <a:ea typeface="DejaVu Sans"/>
                <a:cs typeface="DejaVu Sans"/>
              </a:rPr>
              <a:t>May learn from Chronicle evidence under policy.</a:t>
            </a:r>
          </a:p>
          <a:p xmlns:a="http://schemas.openxmlformats.org/drawingml/2006/main">
            <a:pPr algn="l">
              <a:defRPr sz="1275" b="0" i="0">
                <a:solidFill>
                  <a:srgbClr val="C7D0DA"/>
                </a:solidFill>
                <a:latin typeface="DejaVu Sans"/>
                <a:ea typeface="DejaVu Sans"/>
                <a:cs typeface="DejaVu Sans"/>
              </a:defRPr>
            </a:pPr>
            <a:r>
              <a:rPr sz="1275" b="0" i="0">
                <a:solidFill>
                  <a:srgbClr val="C7D0DA"/>
                </a:solidFill>
                <a:latin typeface="DejaVu Sans"/>
                <a:ea typeface="DejaVu Sans"/>
                <a:cs typeface="DejaVu Sans"/>
              </a:rPr>
              <a:t>No consequential production authority.</a:t>
            </a:r>
          </a:p>
        </p:txBody>
      </p:sp>
      <p:sp>
        <p:nvSpPr>
          <p:cNvPr id="16" name="promotion-arrow">
            <a:extLst xmlns:a="http://schemas.openxmlformats.org/drawingml/2006/main">
              <a:ext uri="{FF2B5EF4-FFF2-40B4-BE49-F238E27FC236}">
                <a16:creationId xmlns:a16="http://schemas.microsoft.com/office/drawing/2014/main" id="{F62CB38C-3E47-4C8F-BB53-3237948A396B}"/>
              </a:ext>
            </a:extLst>
          </p:cNvPr>
          <p:cNvSpPr>
            <a:spLocks xmlns:a="http://schemas.openxmlformats.org/drawingml/2006/main" noGrp="1"/>
          </p:cNvSpPr>
          <p:nvPr/>
        </p:nvSpPr>
        <p:spPr>
          <a:xfrm xmlns:a="http://schemas.openxmlformats.org/drawingml/2006/main">
            <a:off x="5753100" y="3714750"/>
            <a:ext cx="742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i="0">
                <a:solidFill>
                  <a:srgbClr val="E7C978"/>
                </a:solidFill>
                <a:latin typeface="DejaVu Sans"/>
                <a:ea typeface="DejaVu Sans"/>
                <a:cs typeface="DejaVu Sans"/>
              </a:defRPr>
            </a:pPr>
            <a:r>
              <a:rPr sz="3600" b="1" i="0">
                <a:solidFill>
                  <a:srgbClr val="E7C978"/>
                </a:solidFill>
                <a:latin typeface="DejaVu Sans"/>
                <a:ea typeface="DejaVu Sans"/>
                <a:cs typeface="DejaVu Sans"/>
              </a:rPr>
              <a:t>→</a:t>
            </a:r>
          </a:p>
        </p:txBody>
      </p:sp>
      <p:sp>
        <p:nvSpPr>
          <p:cNvPr id="17" name="promotion-gate">
            <a:extLst xmlns:a="http://schemas.openxmlformats.org/drawingml/2006/main">
              <a:ext uri="{FF2B5EF4-FFF2-40B4-BE49-F238E27FC236}">
                <a16:creationId xmlns:a16="http://schemas.microsoft.com/office/drawing/2014/main" id="{25B5DABD-F7D3-4F4E-A6E1-55266C2EBAA6}"/>
              </a:ext>
            </a:extLst>
          </p:cNvPr>
          <p:cNvSpPr>
            <a:spLocks xmlns:a="http://schemas.openxmlformats.org/drawingml/2006/main" noGrp="1"/>
          </p:cNvSpPr>
          <p:nvPr/>
        </p:nvSpPr>
        <p:spPr>
          <a:xfrm xmlns:a="http://schemas.openxmlformats.org/drawingml/2006/main">
            <a:off x="6667500" y="2190750"/>
            <a:ext cx="4914900" cy="3695700"/>
          </a:xfrm>
          <a:prstGeom xmlns:a="http://schemas.openxmlformats.org/drawingml/2006/main" prst="roundRect">
            <a:avLst>
              <a:gd name="adj" fmla="val 3608"/>
            </a:avLst>
          </a:prstGeom>
          <a:solidFill xmlns:a="http://schemas.openxmlformats.org/drawingml/2006/main">
            <a:srgbClr val="071B31"/>
          </a:solidFill>
          <a:ln xmlns:a="http://schemas.openxmlformats.org/drawingml/2006/main" w="14288">
            <a:solidFill>
              <a:srgbClr val="C8942A"/>
            </a:solidFill>
            <a:prstDash val="solid"/>
          </a:ln>
        </p:spPr>
      </p:sp>
      <p:sp>
        <p:nvSpPr>
          <p:cNvPr id="18" name="eyebrow-PROMOTION ">
            <a:extLst xmlns:a="http://schemas.openxmlformats.org/drawingml/2006/main">
              <a:ext uri="{FF2B5EF4-FFF2-40B4-BE49-F238E27FC236}">
                <a16:creationId xmlns:a16="http://schemas.microsoft.com/office/drawing/2014/main" id="{241BC70F-C912-498E-8980-C67C21EC7687}"/>
              </a:ext>
            </a:extLst>
          </p:cNvPr>
          <p:cNvSpPr>
            <a:spLocks xmlns:a="http://schemas.openxmlformats.org/drawingml/2006/main" noGrp="1"/>
          </p:cNvSpPr>
          <p:nvPr/>
        </p:nvSpPr>
        <p:spPr>
          <a:xfrm xmlns:a="http://schemas.openxmlformats.org/drawingml/2006/main">
            <a:off x="6991350" y="24193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E7C978"/>
                </a:solidFill>
                <a:latin typeface="DejaVu Sans"/>
                <a:ea typeface="DejaVu Sans"/>
                <a:cs typeface="DejaVu Sans"/>
              </a:defRPr>
            </a:pPr>
            <a:r>
              <a:rPr sz="1050" b="1" i="0">
                <a:solidFill>
                  <a:srgbClr val="E7C978"/>
                </a:solidFill>
                <a:latin typeface="DejaVu Sans"/>
                <a:ea typeface="DejaVu Sans"/>
                <a:cs typeface="DejaVu Sans"/>
              </a:rPr>
              <a:t>PROMOTION REQUIRES A NEW ADMISSION</a:t>
            </a:r>
          </a:p>
        </p:txBody>
      </p:sp>
      <p:sp>
        <p:nvSpPr>
          <p:cNvPr id="19" name="step-1">
            <a:extLst xmlns:a="http://schemas.openxmlformats.org/drawingml/2006/main">
              <a:ext uri="{FF2B5EF4-FFF2-40B4-BE49-F238E27FC236}">
                <a16:creationId xmlns:a16="http://schemas.microsoft.com/office/drawing/2014/main" id="{FAD6033B-0C5A-4B46-AACC-FDA25786C391}"/>
              </a:ext>
            </a:extLst>
          </p:cNvPr>
          <p:cNvSpPr>
            <a:spLocks xmlns:a="http://schemas.openxmlformats.org/drawingml/2006/main" noGrp="1"/>
          </p:cNvSpPr>
          <p:nvPr/>
        </p:nvSpPr>
        <p:spPr>
          <a:xfrm xmlns:a="http://schemas.openxmlformats.org/drawingml/2006/main">
            <a:off x="7029450" y="2895600"/>
            <a:ext cx="438150" cy="438150"/>
          </a:xfrm>
          <a:prstGeom xmlns:a="http://schemas.openxmlformats.org/drawingml/2006/main" prst="ellipse">
            <a:avLst/>
          </a:prstGeom>
          <a:solidFill xmlns:a="http://schemas.openxmlformats.org/drawingml/2006/main">
            <a:srgbClr val="031426"/>
          </a:solidFill>
          <a:ln xmlns:a="http://schemas.openxmlformats.org/drawingml/2006/main" w="19050">
            <a:solidFill>
              <a:srgbClr val="E7C97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E7C978"/>
                </a:solidFill>
                <a:latin typeface="DejaVu Sans"/>
                <a:ea typeface="DejaVu Sans"/>
                <a:cs typeface="DejaVu Sans"/>
              </a:defRPr>
            </a:pPr>
            <a:r>
              <a:rPr sz="1425" b="1">
                <a:solidFill>
                  <a:srgbClr val="E7C978"/>
                </a:solidFill>
                <a:latin typeface="DejaVu Sans"/>
                <a:ea typeface="DejaVu Sans"/>
                <a:cs typeface="DejaVu Sans"/>
              </a:rPr>
              <a:t>1</a:t>
            </a:r>
          </a:p>
        </p:txBody>
      </p:sp>
      <p:sp>
        <p:nvSpPr>
          <p:cNvPr id="20" name="stage-0">
            <a:extLst xmlns:a="http://schemas.openxmlformats.org/drawingml/2006/main">
              <a:ext uri="{FF2B5EF4-FFF2-40B4-BE49-F238E27FC236}">
                <a16:creationId xmlns:a16="http://schemas.microsoft.com/office/drawing/2014/main" id="{7219E350-2095-4A0E-97BF-222F79B465A7}"/>
              </a:ext>
            </a:extLst>
          </p:cNvPr>
          <p:cNvSpPr>
            <a:spLocks xmlns:a="http://schemas.openxmlformats.org/drawingml/2006/main" noGrp="1"/>
          </p:cNvSpPr>
          <p:nvPr/>
        </p:nvSpPr>
        <p:spPr>
          <a:xfrm xmlns:a="http://schemas.openxmlformats.org/drawingml/2006/main">
            <a:off x="7639050" y="28956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Compile · train · stress</a:t>
            </a:r>
          </a:p>
        </p:txBody>
      </p:sp>
      <p:sp>
        <p:nvSpPr>
          <p:cNvPr id="21" name="step-2">
            <a:extLst xmlns:a="http://schemas.openxmlformats.org/drawingml/2006/main">
              <a:ext uri="{FF2B5EF4-FFF2-40B4-BE49-F238E27FC236}">
                <a16:creationId xmlns:a16="http://schemas.microsoft.com/office/drawing/2014/main" id="{465BDF39-DF92-4AE4-A1E6-29D05165FE2F}"/>
              </a:ext>
            </a:extLst>
          </p:cNvPr>
          <p:cNvSpPr>
            <a:spLocks xmlns:a="http://schemas.openxmlformats.org/drawingml/2006/main" noGrp="1"/>
          </p:cNvSpPr>
          <p:nvPr/>
        </p:nvSpPr>
        <p:spPr>
          <a:xfrm xmlns:a="http://schemas.openxmlformats.org/drawingml/2006/main">
            <a:off x="7029450" y="3448050"/>
            <a:ext cx="438150" cy="438150"/>
          </a:xfrm>
          <a:prstGeom xmlns:a="http://schemas.openxmlformats.org/drawingml/2006/main" prst="ellipse">
            <a:avLst/>
          </a:prstGeom>
          <a:solidFill xmlns:a="http://schemas.openxmlformats.org/drawingml/2006/main">
            <a:srgbClr val="031426"/>
          </a:solidFill>
          <a:ln xmlns:a="http://schemas.openxmlformats.org/drawingml/2006/main" w="19050">
            <a:solidFill>
              <a:srgbClr val="E7C97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E7C978"/>
                </a:solidFill>
                <a:latin typeface="DejaVu Sans"/>
                <a:ea typeface="DejaVu Sans"/>
                <a:cs typeface="DejaVu Sans"/>
              </a:defRPr>
            </a:pPr>
            <a:r>
              <a:rPr sz="1425" b="1">
                <a:solidFill>
                  <a:srgbClr val="E7C978"/>
                </a:solidFill>
                <a:latin typeface="DejaVu Sans"/>
                <a:ea typeface="DejaVu Sans"/>
                <a:cs typeface="DejaVu Sans"/>
              </a:rPr>
              <a:t>2</a:t>
            </a:r>
          </a:p>
        </p:txBody>
      </p:sp>
      <p:sp>
        <p:nvSpPr>
          <p:cNvPr id="22" name="stage-1">
            <a:extLst xmlns:a="http://schemas.openxmlformats.org/drawingml/2006/main">
              <a:ext uri="{FF2B5EF4-FFF2-40B4-BE49-F238E27FC236}">
                <a16:creationId xmlns:a16="http://schemas.microsoft.com/office/drawing/2014/main" id="{3D9F6879-19CD-4F2C-934E-1DC179841A58}"/>
              </a:ext>
            </a:extLst>
          </p:cNvPr>
          <p:cNvSpPr>
            <a:spLocks xmlns:a="http://schemas.openxmlformats.org/drawingml/2006/main" noGrp="1"/>
          </p:cNvSpPr>
          <p:nvPr/>
        </p:nvSpPr>
        <p:spPr>
          <a:xfrm xmlns:a="http://schemas.openxmlformats.org/drawingml/2006/main">
            <a:off x="7639050" y="344805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Freeze the exact candidate</a:t>
            </a:r>
          </a:p>
        </p:txBody>
      </p:sp>
      <p:sp>
        <p:nvSpPr>
          <p:cNvPr id="23" name="step-3">
            <a:extLst xmlns:a="http://schemas.openxmlformats.org/drawingml/2006/main">
              <a:ext uri="{FF2B5EF4-FFF2-40B4-BE49-F238E27FC236}">
                <a16:creationId xmlns:a16="http://schemas.microsoft.com/office/drawing/2014/main" id="{00C5D8E0-D35D-4A2C-9EDE-0BD9C1DD1432}"/>
              </a:ext>
            </a:extLst>
          </p:cNvPr>
          <p:cNvSpPr>
            <a:spLocks xmlns:a="http://schemas.openxmlformats.org/drawingml/2006/main" noGrp="1"/>
          </p:cNvSpPr>
          <p:nvPr/>
        </p:nvSpPr>
        <p:spPr>
          <a:xfrm xmlns:a="http://schemas.openxmlformats.org/drawingml/2006/main">
            <a:off x="7029450" y="4000500"/>
            <a:ext cx="438150" cy="438150"/>
          </a:xfrm>
          <a:prstGeom xmlns:a="http://schemas.openxmlformats.org/drawingml/2006/main" prst="ellipse">
            <a:avLst/>
          </a:prstGeom>
          <a:solidFill xmlns:a="http://schemas.openxmlformats.org/drawingml/2006/main">
            <a:srgbClr val="031426"/>
          </a:solidFill>
          <a:ln xmlns:a="http://schemas.openxmlformats.org/drawingml/2006/main" w="19050">
            <a:solidFill>
              <a:srgbClr val="E7C97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E7C978"/>
                </a:solidFill>
                <a:latin typeface="DejaVu Sans"/>
                <a:ea typeface="DejaVu Sans"/>
                <a:cs typeface="DejaVu Sans"/>
              </a:defRPr>
            </a:pPr>
            <a:r>
              <a:rPr sz="1425" b="1">
                <a:solidFill>
                  <a:srgbClr val="E7C978"/>
                </a:solidFill>
                <a:latin typeface="DejaVu Sans"/>
                <a:ea typeface="DejaVu Sans"/>
                <a:cs typeface="DejaVu Sans"/>
              </a:rPr>
              <a:t>3</a:t>
            </a:r>
          </a:p>
        </p:txBody>
      </p:sp>
      <p:sp>
        <p:nvSpPr>
          <p:cNvPr id="24" name="stage-2">
            <a:extLst xmlns:a="http://schemas.openxmlformats.org/drawingml/2006/main">
              <a:ext uri="{FF2B5EF4-FFF2-40B4-BE49-F238E27FC236}">
                <a16:creationId xmlns:a16="http://schemas.microsoft.com/office/drawing/2014/main" id="{BDC0BA9E-BA8F-4FB1-B676-D03F7B73C243}"/>
              </a:ext>
            </a:extLst>
          </p:cNvPr>
          <p:cNvSpPr>
            <a:spLocks xmlns:a="http://schemas.openxmlformats.org/drawingml/2006/main" noGrp="1"/>
          </p:cNvSpPr>
          <p:nvPr/>
        </p:nvSpPr>
        <p:spPr>
          <a:xfrm xmlns:a="http://schemas.openxmlformats.org/drawingml/2006/main">
            <a:off x="7639050" y="40005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Fresh independent proof</a:t>
            </a:r>
          </a:p>
        </p:txBody>
      </p:sp>
      <p:sp>
        <p:nvSpPr>
          <p:cNvPr id="25" name="step-4">
            <a:extLst xmlns:a="http://schemas.openxmlformats.org/drawingml/2006/main">
              <a:ext uri="{FF2B5EF4-FFF2-40B4-BE49-F238E27FC236}">
                <a16:creationId xmlns:a16="http://schemas.microsoft.com/office/drawing/2014/main" id="{3CE28BBA-4DB3-40A2-A5EF-D29A29E8EF16}"/>
              </a:ext>
            </a:extLst>
          </p:cNvPr>
          <p:cNvSpPr>
            <a:spLocks xmlns:a="http://schemas.openxmlformats.org/drawingml/2006/main" noGrp="1"/>
          </p:cNvSpPr>
          <p:nvPr/>
        </p:nvSpPr>
        <p:spPr>
          <a:xfrm xmlns:a="http://schemas.openxmlformats.org/drawingml/2006/main">
            <a:off x="7029450" y="4552950"/>
            <a:ext cx="438150" cy="438150"/>
          </a:xfrm>
          <a:prstGeom xmlns:a="http://schemas.openxmlformats.org/drawingml/2006/main" prst="ellipse">
            <a:avLst/>
          </a:prstGeom>
          <a:solidFill xmlns:a="http://schemas.openxmlformats.org/drawingml/2006/main">
            <a:srgbClr val="031426"/>
          </a:solidFill>
          <a:ln xmlns:a="http://schemas.openxmlformats.org/drawingml/2006/main" w="19050">
            <a:solidFill>
              <a:srgbClr val="E7C97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E7C978"/>
                </a:solidFill>
                <a:latin typeface="DejaVu Sans"/>
                <a:ea typeface="DejaVu Sans"/>
                <a:cs typeface="DejaVu Sans"/>
              </a:defRPr>
            </a:pPr>
            <a:r>
              <a:rPr sz="1425" b="1">
                <a:solidFill>
                  <a:srgbClr val="E7C978"/>
                </a:solidFill>
                <a:latin typeface="DejaVu Sans"/>
                <a:ea typeface="DejaVu Sans"/>
                <a:cs typeface="DejaVu Sans"/>
              </a:rPr>
              <a:t>4</a:t>
            </a:r>
          </a:p>
        </p:txBody>
      </p:sp>
      <p:sp>
        <p:nvSpPr>
          <p:cNvPr id="26" name="stage-3">
            <a:extLst xmlns:a="http://schemas.openxmlformats.org/drawingml/2006/main">
              <a:ext uri="{FF2B5EF4-FFF2-40B4-BE49-F238E27FC236}">
                <a16:creationId xmlns:a16="http://schemas.microsoft.com/office/drawing/2014/main" id="{1EE9E2B6-3C8D-43B2-AFA5-00BF5FC526DD}"/>
              </a:ext>
            </a:extLst>
          </p:cNvPr>
          <p:cNvSpPr>
            <a:spLocks xmlns:a="http://schemas.openxmlformats.org/drawingml/2006/main" noGrp="1"/>
          </p:cNvSpPr>
          <p:nvPr/>
        </p:nvSpPr>
        <p:spPr>
          <a:xfrm xmlns:a="http://schemas.openxmlformats.org/drawingml/2006/main">
            <a:off x="7639050" y="455295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Accountable admission</a:t>
            </a:r>
          </a:p>
        </p:txBody>
      </p:sp>
      <p:sp>
        <p:nvSpPr>
          <p:cNvPr id="27" name="step-5">
            <a:extLst xmlns:a="http://schemas.openxmlformats.org/drawingml/2006/main">
              <a:ext uri="{FF2B5EF4-FFF2-40B4-BE49-F238E27FC236}">
                <a16:creationId xmlns:a16="http://schemas.microsoft.com/office/drawing/2014/main" id="{7ECD04F7-C0B7-482D-88A2-D7AF48B07B24}"/>
              </a:ext>
            </a:extLst>
          </p:cNvPr>
          <p:cNvSpPr>
            <a:spLocks xmlns:a="http://schemas.openxmlformats.org/drawingml/2006/main" noGrp="1"/>
          </p:cNvSpPr>
          <p:nvPr/>
        </p:nvSpPr>
        <p:spPr>
          <a:xfrm xmlns:a="http://schemas.openxmlformats.org/drawingml/2006/main">
            <a:off x="7029450" y="5105400"/>
            <a:ext cx="438150" cy="438150"/>
          </a:xfrm>
          <a:prstGeom xmlns:a="http://schemas.openxmlformats.org/drawingml/2006/main" prst="ellipse">
            <a:avLst/>
          </a:prstGeom>
          <a:solidFill xmlns:a="http://schemas.openxmlformats.org/drawingml/2006/main">
            <a:srgbClr val="0BA47C"/>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5</a:t>
            </a:r>
          </a:p>
        </p:txBody>
      </p:sp>
      <p:sp>
        <p:nvSpPr>
          <p:cNvPr id="28" name="stage-4">
            <a:extLst xmlns:a="http://schemas.openxmlformats.org/drawingml/2006/main">
              <a:ext uri="{FF2B5EF4-FFF2-40B4-BE49-F238E27FC236}">
                <a16:creationId xmlns:a16="http://schemas.microsoft.com/office/drawing/2014/main" id="{E9513A3B-B1B8-4A10-AB3F-31B674141385}"/>
              </a:ext>
            </a:extLst>
          </p:cNvPr>
          <p:cNvSpPr>
            <a:spLocks xmlns:a="http://schemas.openxmlformats.org/drawingml/2006/main" noGrp="1"/>
          </p:cNvSpPr>
          <p:nvPr/>
        </p:nvSpPr>
        <p:spPr>
          <a:xfrm xmlns:a="http://schemas.openxmlformats.org/drawingml/2006/main">
            <a:off x="7639050" y="51054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DFF5EE"/>
                </a:solidFill>
                <a:latin typeface="DejaVu Sans"/>
                <a:ea typeface="DejaVu Sans"/>
                <a:cs typeface="DejaVu Sans"/>
              </a:defRPr>
            </a:pPr>
            <a:r>
              <a:rPr sz="1500" b="1" i="0">
                <a:solidFill>
                  <a:srgbClr val="DFF5EE"/>
                </a:solidFill>
                <a:latin typeface="DejaVu Sans"/>
                <a:ea typeface="DejaVu Sans"/>
                <a:cs typeface="DejaVu Sans"/>
              </a:rPr>
              <a:t>Serve as R(t+1)</a:t>
            </a:r>
          </a:p>
        </p:txBody>
      </p:sp>
    </p:spTree>
    <p:extLst>
      <p:ext uri="{BB962C8B-B14F-4D97-AF65-F5344CB8AC3E}">
        <p14:creationId xmlns:p14="http://schemas.microsoft.com/office/powerpoint/2010/main" val="1694598712"/>
      </p:ext>
    </p:extLst>
  </p:cSld>
</p:sld>
</file>

<file path=ppt/slides/slide5.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25" name="eyebrow-MONTREAL.A">
            <a:extLst xmlns:a="http://schemas.openxmlformats.org/drawingml/2006/main">
              <a:ext uri="{FF2B5EF4-FFF2-40B4-BE49-F238E27FC236}">
                <a16:creationId xmlns:a16="http://schemas.microsoft.com/office/drawing/2014/main" id="{0F1D47CA-6341-4E0B-B937-23D438E3D814}"/>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5">
            <a:extLst xmlns:a="http://schemas.openxmlformats.org/drawingml/2006/main">
              <a:ext uri="{FF2B5EF4-FFF2-40B4-BE49-F238E27FC236}">
                <a16:creationId xmlns:a16="http://schemas.microsoft.com/office/drawing/2014/main" id="{1AA2EEA7-4001-43ED-B1A5-C86EEED200CB}"/>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5">
            <a:extLst xmlns:a="http://schemas.openxmlformats.org/drawingml/2006/main">
              <a:ext uri="{FF2B5EF4-FFF2-40B4-BE49-F238E27FC236}">
                <a16:creationId xmlns:a16="http://schemas.microsoft.com/office/drawing/2014/main" id="{57AB0683-D0FF-4278-8B5C-4AD26250F23A}"/>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5">
            <a:extLst xmlns:a="http://schemas.openxmlformats.org/drawingml/2006/main">
              <a:ext uri="{FF2B5EF4-FFF2-40B4-BE49-F238E27FC236}">
                <a16:creationId xmlns:a16="http://schemas.microsoft.com/office/drawing/2014/main" id="{6E495DFD-EFAE-461D-99BB-418C84BEFE1B}"/>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5">
            <a:extLst xmlns:a="http://schemas.openxmlformats.org/drawingml/2006/main">
              <a:ext uri="{FF2B5EF4-FFF2-40B4-BE49-F238E27FC236}">
                <a16:creationId xmlns:a16="http://schemas.microsoft.com/office/drawing/2014/main" id="{F0384D9E-1F25-4C03-BE9B-B1DC3D041E6A}"/>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05</a:t>
            </a:r>
          </a:p>
        </p:txBody>
      </p:sp>
      <p:sp>
        <p:nvSpPr>
          <p:cNvPr id="6" name="title-5">
            <a:extLst xmlns:a="http://schemas.openxmlformats.org/drawingml/2006/main">
              <a:ext uri="{FF2B5EF4-FFF2-40B4-BE49-F238E27FC236}">
                <a16:creationId xmlns:a16="http://schemas.microsoft.com/office/drawing/2014/main" id="{7B930FE3-5343-42B0-ADC2-6AD3832AE2B6}"/>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071B31"/>
                </a:solidFill>
                <a:latin typeface="DejaVu Serif"/>
                <a:ea typeface="DejaVu Serif"/>
                <a:cs typeface="DejaVu Serif"/>
              </a:defRPr>
            </a:pPr>
            <a:r>
              <a:rPr sz="2775" b="1" i="0">
                <a:solidFill>
                  <a:srgbClr val="071B31"/>
                </a:solidFill>
                <a:latin typeface="DejaVu Serif"/>
                <a:ea typeface="DejaVu Serif"/>
                <a:cs typeface="DejaVu Serif"/>
              </a:rPr>
              <a:t>Spread is opportunity. Mission Alpha is what survives.</a:t>
            </a:r>
          </a:p>
        </p:txBody>
      </p:sp>
      <p:sp>
        <p:nvSpPr>
          <p:cNvPr id="7" name="title-accent-5">
            <a:extLst xmlns:a="http://schemas.openxmlformats.org/drawingml/2006/main">
              <a:ext uri="{FF2B5EF4-FFF2-40B4-BE49-F238E27FC236}">
                <a16:creationId xmlns:a16="http://schemas.microsoft.com/office/drawing/2014/main" id="{73DE078C-2D2A-400D-8E68-6A49455DE046}"/>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subtitle-5">
            <a:extLst xmlns:a="http://schemas.openxmlformats.org/drawingml/2006/main">
              <a:ext uri="{FF2B5EF4-FFF2-40B4-BE49-F238E27FC236}">
                <a16:creationId xmlns:a16="http://schemas.microsoft.com/office/drawing/2014/main" id="{AE1397A4-F9DF-40F2-B233-E2E7E47F6FDE}"/>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No advantage is admitted until one exact release survives deductions, hard gates, and fresh independent proof.</a:t>
            </a:r>
          </a:p>
        </p:txBody>
      </p:sp>
      <p:sp>
        <p:nvSpPr>
          <p:cNvPr id="9" name="baseline-label">
            <a:extLst xmlns:a="http://schemas.openxmlformats.org/drawingml/2006/main">
              <a:ext uri="{FF2B5EF4-FFF2-40B4-BE49-F238E27FC236}">
                <a16:creationId xmlns:a16="http://schemas.microsoft.com/office/drawing/2014/main" id="{2C9B0F04-E7E4-4B78-8B14-F61AC5D77B8C}"/>
              </a:ext>
            </a:extLst>
          </p:cNvPr>
          <p:cNvSpPr>
            <a:spLocks xmlns:a="http://schemas.openxmlformats.org/drawingml/2006/main" noGrp="1"/>
          </p:cNvSpPr>
          <p:nvPr/>
        </p:nvSpPr>
        <p:spPr>
          <a:xfrm xmlns:a="http://schemas.openxmlformats.org/drawingml/2006/main">
            <a:off x="609600" y="26098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6717F"/>
                </a:solidFill>
                <a:latin typeface="DejaVu Sans"/>
                <a:ea typeface="DejaVu Sans"/>
                <a:cs typeface="DejaVu Sans"/>
              </a:defRPr>
            </a:pPr>
            <a:r>
              <a:rPr sz="1200" b="1" i="0">
                <a:solidFill>
                  <a:srgbClr val="66717F"/>
                </a:solidFill>
                <a:latin typeface="DejaVu Sans"/>
                <a:ea typeface="DejaVu Sans"/>
                <a:cs typeface="DejaVu Sans"/>
              </a:rPr>
              <a:t>BASELINE</a:t>
            </a:r>
          </a:p>
        </p:txBody>
      </p:sp>
      <p:sp>
        <p:nvSpPr>
          <p:cNvPr id="10" name="baseline-def">
            <a:extLst xmlns:a="http://schemas.openxmlformats.org/drawingml/2006/main">
              <a:ext uri="{FF2B5EF4-FFF2-40B4-BE49-F238E27FC236}">
                <a16:creationId xmlns:a16="http://schemas.microsoft.com/office/drawing/2014/main" id="{8A85BF84-AF85-4B3B-8F91-C445B255D36A}"/>
              </a:ext>
            </a:extLst>
          </p:cNvPr>
          <p:cNvSpPr>
            <a:spLocks xmlns:a="http://schemas.openxmlformats.org/drawingml/2006/main" noGrp="1"/>
          </p:cNvSpPr>
          <p:nvPr/>
        </p:nvSpPr>
        <p:spPr>
          <a:xfrm xmlns:a="http://schemas.openxmlformats.org/drawingml/2006/main">
            <a:off x="609600" y="2971800"/>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071B31"/>
                </a:solidFill>
                <a:latin typeface="DejaVu Serif"/>
                <a:ea typeface="DejaVu Serif"/>
                <a:cs typeface="DejaVu Serif"/>
              </a:defRPr>
            </a:pPr>
            <a:r>
              <a:rPr sz="1725" b="1" i="0">
                <a:solidFill>
                  <a:srgbClr val="071B31"/>
                </a:solidFill>
                <a:latin typeface="DejaVu Serif"/>
                <a:ea typeface="DejaVu Serif"/>
                <a:cs typeface="DejaVu Serif"/>
              </a:rPr>
              <a:t>Better of the incumbent and relevant AI Beta</a:t>
            </a:r>
          </a:p>
        </p:txBody>
      </p:sp>
      <p:sp>
        <p:nvSpPr>
          <p:cNvPr id="11" name="baseline-line">
            <a:extLst xmlns:a="http://schemas.openxmlformats.org/drawingml/2006/main">
              <a:ext uri="{FF2B5EF4-FFF2-40B4-BE49-F238E27FC236}">
                <a16:creationId xmlns:a16="http://schemas.microsoft.com/office/drawing/2014/main" id="{8593066B-5207-47A1-B549-69A64FEBE91C}"/>
              </a:ext>
            </a:extLst>
          </p:cNvPr>
          <p:cNvSpPr>
            <a:spLocks xmlns:a="http://schemas.openxmlformats.org/drawingml/2006/main" noGrp="1"/>
          </p:cNvSpPr>
          <p:nvPr/>
        </p:nvSpPr>
        <p:spPr>
          <a:xfrm xmlns:a="http://schemas.openxmlformats.org/drawingml/2006/main">
            <a:off x="609600" y="3905250"/>
            <a:ext cx="3429000" cy="0"/>
          </a:xfrm>
          <a:prstGeom xmlns:a="http://schemas.openxmlformats.org/drawingml/2006/main" prst="line">
            <a:avLst/>
          </a:prstGeom>
          <a:noFill xmlns:a="http://schemas.openxmlformats.org/drawingml/2006/main"/>
          <a:ln xmlns:a="http://schemas.openxmlformats.org/drawingml/2006/main" w="38100">
            <a:solidFill>
              <a:srgbClr val="071B31"/>
            </a:solidFill>
            <a:prstDash val="solid"/>
          </a:ln>
        </p:spPr>
      </p:sp>
      <p:sp>
        <p:nvSpPr>
          <p:cNvPr id="12" name="candidate-label">
            <a:extLst xmlns:a="http://schemas.openxmlformats.org/drawingml/2006/main">
              <a:ext uri="{FF2B5EF4-FFF2-40B4-BE49-F238E27FC236}">
                <a16:creationId xmlns:a16="http://schemas.microsoft.com/office/drawing/2014/main" id="{417A86A1-7BBD-4624-A045-42720A814304}"/>
              </a:ext>
            </a:extLst>
          </p:cNvPr>
          <p:cNvSpPr>
            <a:spLocks xmlns:a="http://schemas.openxmlformats.org/drawingml/2006/main" noGrp="1"/>
          </p:cNvSpPr>
          <p:nvPr/>
        </p:nvSpPr>
        <p:spPr>
          <a:xfrm xmlns:a="http://schemas.openxmlformats.org/drawingml/2006/main">
            <a:off x="4476750" y="26098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167DFF"/>
                </a:solidFill>
                <a:latin typeface="DejaVu Sans"/>
                <a:ea typeface="DejaVu Sans"/>
                <a:cs typeface="DejaVu Sans"/>
              </a:defRPr>
            </a:pPr>
            <a:r>
              <a:rPr sz="1200" b="1" i="0">
                <a:solidFill>
                  <a:srgbClr val="167DFF"/>
                </a:solidFill>
                <a:latin typeface="DejaVu Sans"/>
                <a:ea typeface="DejaVu Sans"/>
                <a:cs typeface="DejaVu Sans"/>
              </a:rPr>
              <a:t>CANDIDATE</a:t>
            </a:r>
          </a:p>
        </p:txBody>
      </p:sp>
      <p:sp>
        <p:nvSpPr>
          <p:cNvPr id="13" name="candidate-def">
            <a:extLst xmlns:a="http://schemas.openxmlformats.org/drawingml/2006/main">
              <a:ext uri="{FF2B5EF4-FFF2-40B4-BE49-F238E27FC236}">
                <a16:creationId xmlns:a16="http://schemas.microsoft.com/office/drawing/2014/main" id="{E544240A-229A-4A53-A050-79F91927356F}"/>
              </a:ext>
            </a:extLst>
          </p:cNvPr>
          <p:cNvSpPr>
            <a:spLocks xmlns:a="http://schemas.openxmlformats.org/drawingml/2006/main" noGrp="1"/>
          </p:cNvSpPr>
          <p:nvPr/>
        </p:nvSpPr>
        <p:spPr>
          <a:xfrm xmlns:a="http://schemas.openxmlformats.org/drawingml/2006/main">
            <a:off x="4476750" y="29718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071B31"/>
                </a:solidFill>
                <a:latin typeface="DejaVu Serif"/>
                <a:ea typeface="DejaVu Serif"/>
                <a:cs typeface="DejaVu Serif"/>
              </a:defRPr>
            </a:pPr>
            <a:r>
              <a:rPr sz="1725" b="1" i="0">
                <a:solidFill>
                  <a:srgbClr val="071B31"/>
                </a:solidFill>
                <a:latin typeface="DejaVu Serif"/>
                <a:ea typeface="DejaVu Serif"/>
                <a:cs typeface="DejaVu Serif"/>
              </a:rPr>
              <a:t>Observed performance above the baseline</a:t>
            </a:r>
          </a:p>
        </p:txBody>
      </p:sp>
      <p:sp>
        <p:nvSpPr>
          <p:cNvPr id="14" name="spread-band">
            <a:extLst xmlns:a="http://schemas.openxmlformats.org/drawingml/2006/main">
              <a:ext uri="{FF2B5EF4-FFF2-40B4-BE49-F238E27FC236}">
                <a16:creationId xmlns:a16="http://schemas.microsoft.com/office/drawing/2014/main" id="{53EB7AFF-2DDF-4F9F-B0C3-C788E96539C7}"/>
              </a:ext>
            </a:extLst>
          </p:cNvPr>
          <p:cNvSpPr>
            <a:spLocks xmlns:a="http://schemas.openxmlformats.org/drawingml/2006/main" noGrp="1"/>
          </p:cNvSpPr>
          <p:nvPr/>
        </p:nvSpPr>
        <p:spPr>
          <a:xfrm xmlns:a="http://schemas.openxmlformats.org/drawingml/2006/main">
            <a:off x="4476750" y="3819525"/>
            <a:ext cx="3143250" cy="171450"/>
          </a:xfrm>
          <a:prstGeom xmlns:a="http://schemas.openxmlformats.org/drawingml/2006/main" prst="rect">
            <a:avLst/>
          </a:prstGeom>
          <a:solidFill xmlns:a="http://schemas.openxmlformats.org/drawingml/2006/main">
            <a:srgbClr val="DCEBFF"/>
          </a:solidFill>
          <a:ln xmlns:a="http://schemas.openxmlformats.org/drawingml/2006/main" w="9525">
            <a:solidFill>
              <a:srgbClr val="167DFF"/>
            </a:solidFill>
            <a:prstDash val="solid"/>
          </a:ln>
        </p:spPr>
      </p:sp>
      <p:sp>
        <p:nvSpPr>
          <p:cNvPr id="15" name="spread-word">
            <a:extLst xmlns:a="http://schemas.openxmlformats.org/drawingml/2006/main">
              <a:ext uri="{FF2B5EF4-FFF2-40B4-BE49-F238E27FC236}">
                <a16:creationId xmlns:a16="http://schemas.microsoft.com/office/drawing/2014/main" id="{9A0ECCC1-F669-409C-ABD6-F2DDF86BE458}"/>
              </a:ext>
            </a:extLst>
          </p:cNvPr>
          <p:cNvSpPr>
            <a:spLocks xmlns:a="http://schemas.openxmlformats.org/drawingml/2006/main" noGrp="1"/>
          </p:cNvSpPr>
          <p:nvPr/>
        </p:nvSpPr>
        <p:spPr>
          <a:xfrm xmlns:a="http://schemas.openxmlformats.org/drawingml/2006/main">
            <a:off x="5219700" y="41719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167DFF"/>
                </a:solidFill>
                <a:latin typeface="DejaVu Sans"/>
                <a:ea typeface="DejaVu Sans"/>
                <a:cs typeface="DejaVu Sans"/>
              </a:defRPr>
            </a:pPr>
            <a:r>
              <a:rPr sz="1800" b="1" i="0">
                <a:solidFill>
                  <a:srgbClr val="167DFF"/>
                </a:solidFill>
                <a:latin typeface="DejaVu Sans"/>
                <a:ea typeface="DejaVu Sans"/>
                <a:cs typeface="DejaVu Sans"/>
              </a:rPr>
              <a:t>SPREAD</a:t>
            </a:r>
          </a:p>
        </p:txBody>
      </p:sp>
      <p:sp>
        <p:nvSpPr>
          <p:cNvPr id="16" name="deductions-arrow">
            <a:extLst xmlns:a="http://schemas.openxmlformats.org/drawingml/2006/main">
              <a:ext uri="{FF2B5EF4-FFF2-40B4-BE49-F238E27FC236}">
                <a16:creationId xmlns:a16="http://schemas.microsoft.com/office/drawing/2014/main" id="{919F5892-60B9-4E4B-87EA-096A87A6618D}"/>
              </a:ext>
            </a:extLst>
          </p:cNvPr>
          <p:cNvSpPr>
            <a:spLocks xmlns:a="http://schemas.openxmlformats.org/drawingml/2006/main" noGrp="1"/>
          </p:cNvSpPr>
          <p:nvPr/>
        </p:nvSpPr>
        <p:spPr>
          <a:xfrm xmlns:a="http://schemas.openxmlformats.org/drawingml/2006/main">
            <a:off x="7696200" y="3514725"/>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450" b="1" i="0">
                <a:solidFill>
                  <a:srgbClr val="C8942A"/>
                </a:solidFill>
                <a:latin typeface="DejaVu Sans"/>
                <a:ea typeface="DejaVu Sans"/>
                <a:cs typeface="DejaVu Sans"/>
              </a:defRPr>
            </a:pPr>
            <a:r>
              <a:rPr sz="3450" b="1" i="0">
                <a:solidFill>
                  <a:srgbClr val="C8942A"/>
                </a:solidFill>
                <a:latin typeface="DejaVu Sans"/>
                <a:ea typeface="DejaVu Sans"/>
                <a:cs typeface="DejaVu Sans"/>
              </a:rPr>
              <a:t>→</a:t>
            </a:r>
          </a:p>
        </p:txBody>
      </p:sp>
      <p:sp>
        <p:nvSpPr>
          <p:cNvPr id="17" name="deductions-label">
            <a:extLst xmlns:a="http://schemas.openxmlformats.org/drawingml/2006/main">
              <a:ext uri="{FF2B5EF4-FFF2-40B4-BE49-F238E27FC236}">
                <a16:creationId xmlns:a16="http://schemas.microsoft.com/office/drawing/2014/main" id="{342B8ADE-B2CF-4EC8-AA78-AE7D8C6601C7}"/>
              </a:ext>
            </a:extLst>
          </p:cNvPr>
          <p:cNvSpPr>
            <a:spLocks xmlns:a="http://schemas.openxmlformats.org/drawingml/2006/main" noGrp="1"/>
          </p:cNvSpPr>
          <p:nvPr/>
        </p:nvSpPr>
        <p:spPr>
          <a:xfrm xmlns:a="http://schemas.openxmlformats.org/drawingml/2006/main">
            <a:off x="8134350" y="2609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D06A2C"/>
                </a:solidFill>
                <a:latin typeface="DejaVu Sans"/>
                <a:ea typeface="DejaVu Sans"/>
                <a:cs typeface="DejaVu Sans"/>
              </a:defRPr>
            </a:pPr>
            <a:r>
              <a:rPr sz="1200" b="1" i="0">
                <a:solidFill>
                  <a:srgbClr val="D06A2C"/>
                </a:solidFill>
                <a:latin typeface="DejaVu Sans"/>
                <a:ea typeface="DejaVu Sans"/>
                <a:cs typeface="DejaVu Sans"/>
              </a:rPr>
              <a:t>DEDUCTIONS</a:t>
            </a:r>
          </a:p>
        </p:txBody>
      </p:sp>
      <p:sp>
        <p:nvSpPr>
          <p:cNvPr id="18" name="deductions">
            <a:extLst xmlns:a="http://schemas.openxmlformats.org/drawingml/2006/main">
              <a:ext uri="{FF2B5EF4-FFF2-40B4-BE49-F238E27FC236}">
                <a16:creationId xmlns:a16="http://schemas.microsoft.com/office/drawing/2014/main" id="{6C66F5CD-F8AF-4164-9F19-FFDE07BA5D80}"/>
              </a:ext>
            </a:extLst>
          </p:cNvPr>
          <p:cNvSpPr>
            <a:spLocks xmlns:a="http://schemas.openxmlformats.org/drawingml/2006/main" noGrp="1"/>
          </p:cNvSpPr>
          <p:nvPr/>
        </p:nvSpPr>
        <p:spPr>
          <a:xfrm xmlns:a="http://schemas.openxmlformats.org/drawingml/2006/main">
            <a:off x="8134350" y="2971800"/>
            <a:ext cx="2000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Cost · risk · human burden</a:t>
            </a:r>
          </a:p>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Imitation · commoditization</a:t>
            </a:r>
          </a:p>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Drift · impairment reserves</a:t>
            </a:r>
          </a:p>
        </p:txBody>
      </p:sp>
      <p:sp>
        <p:nvSpPr>
          <p:cNvPr id="19" name="alpha-arrow">
            <a:extLst xmlns:a="http://schemas.openxmlformats.org/drawingml/2006/main">
              <a:ext uri="{FF2B5EF4-FFF2-40B4-BE49-F238E27FC236}">
                <a16:creationId xmlns:a16="http://schemas.microsoft.com/office/drawing/2014/main" id="{3C8F8BD5-551B-465C-8CC6-4D1A3FBEFF3A}"/>
              </a:ext>
            </a:extLst>
          </p:cNvPr>
          <p:cNvSpPr>
            <a:spLocks xmlns:a="http://schemas.openxmlformats.org/drawingml/2006/main" noGrp="1"/>
          </p:cNvSpPr>
          <p:nvPr/>
        </p:nvSpPr>
        <p:spPr>
          <a:xfrm xmlns:a="http://schemas.openxmlformats.org/drawingml/2006/main">
            <a:off x="10153650" y="3514725"/>
            <a:ext cx="51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i="0">
                <a:solidFill>
                  <a:srgbClr val="C8942A"/>
                </a:solidFill>
                <a:latin typeface="DejaVu Sans"/>
                <a:ea typeface="DejaVu Sans"/>
                <a:cs typeface="DejaVu Sans"/>
              </a:defRPr>
            </a:pPr>
            <a:r>
              <a:rPr sz="3150" b="1" i="0">
                <a:solidFill>
                  <a:srgbClr val="C8942A"/>
                </a:solidFill>
                <a:latin typeface="DejaVu Sans"/>
                <a:ea typeface="DejaVu Sans"/>
                <a:cs typeface="DejaVu Sans"/>
              </a:rPr>
              <a:t>→</a:t>
            </a:r>
          </a:p>
        </p:txBody>
      </p:sp>
      <p:sp>
        <p:nvSpPr>
          <p:cNvPr id="20" name="alpha-crystal">
            <a:extLst xmlns:a="http://schemas.openxmlformats.org/drawingml/2006/main">
              <a:ext uri="{FF2B5EF4-FFF2-40B4-BE49-F238E27FC236}">
                <a16:creationId xmlns:a16="http://schemas.microsoft.com/office/drawing/2014/main" id="{7B4572C3-EE26-4C71-9D7B-C2F923E88D9D}"/>
              </a:ext>
            </a:extLst>
          </p:cNvPr>
          <p:cNvSpPr>
            <a:spLocks xmlns:a="http://schemas.openxmlformats.org/drawingml/2006/main" noGrp="1"/>
          </p:cNvSpPr>
          <p:nvPr/>
        </p:nvSpPr>
        <p:spPr>
          <a:xfrm xmlns:a="http://schemas.openxmlformats.org/drawingml/2006/main">
            <a:off x="10744200" y="3486150"/>
            <a:ext cx="685800" cy="685800"/>
          </a:xfrm>
          <a:prstGeom xmlns:a="http://schemas.openxmlformats.org/drawingml/2006/main" prst="roundRect">
            <a:avLst>
              <a:gd name="adj" fmla="val 11111"/>
            </a:avLst>
          </a:prstGeom>
          <a:solidFill xmlns:a="http://schemas.openxmlformats.org/drawingml/2006/main">
            <a:srgbClr val="0BA47C"/>
          </a:solidFill>
          <a:ln xmlns:a="http://schemas.openxmlformats.org/drawingml/2006/main" w="19050">
            <a:solidFill>
              <a:srgbClr val="071B31"/>
            </a:solidFill>
            <a:prstDash val="solid"/>
          </a:ln>
        </p:spPr>
      </p:sp>
      <p:sp>
        <p:nvSpPr>
          <p:cNvPr id="21" name="alpha-symbol">
            <a:extLst xmlns:a="http://schemas.openxmlformats.org/drawingml/2006/main">
              <a:ext uri="{FF2B5EF4-FFF2-40B4-BE49-F238E27FC236}">
                <a16:creationId xmlns:a16="http://schemas.microsoft.com/office/drawing/2014/main" id="{DB87B726-6624-42B2-B7C4-95872155E123}"/>
              </a:ext>
            </a:extLst>
          </p:cNvPr>
          <p:cNvSpPr>
            <a:spLocks xmlns:a="http://schemas.openxmlformats.org/drawingml/2006/main" noGrp="1"/>
          </p:cNvSpPr>
          <p:nvPr/>
        </p:nvSpPr>
        <p:spPr>
          <a:xfrm xmlns:a="http://schemas.openxmlformats.org/drawingml/2006/main">
            <a:off x="10744200" y="3448050"/>
            <a:ext cx="685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i="0">
                <a:solidFill>
                  <a:srgbClr val="FFFFFF"/>
                </a:solidFill>
                <a:latin typeface="DejaVu Serif"/>
                <a:ea typeface="DejaVu Serif"/>
                <a:cs typeface="DejaVu Serif"/>
              </a:defRPr>
            </a:pPr>
            <a:r>
              <a:rPr sz="3150" b="1" i="0">
                <a:solidFill>
                  <a:srgbClr val="FFFFFF"/>
                </a:solidFill>
                <a:latin typeface="DejaVu Serif"/>
                <a:ea typeface="DejaVu Serif"/>
                <a:cs typeface="DejaVu Serif"/>
              </a:rPr>
              <a:t>α</a:t>
            </a:r>
          </a:p>
        </p:txBody>
      </p:sp>
      <p:sp>
        <p:nvSpPr>
          <p:cNvPr id="22" name="alpha-label">
            <a:extLst xmlns:a="http://schemas.openxmlformats.org/drawingml/2006/main">
              <a:ext uri="{FF2B5EF4-FFF2-40B4-BE49-F238E27FC236}">
                <a16:creationId xmlns:a16="http://schemas.microsoft.com/office/drawing/2014/main" id="{2135EFE0-0E1B-4C9F-A060-776BBFC6274E}"/>
              </a:ext>
            </a:extLst>
          </p:cNvPr>
          <p:cNvSpPr>
            <a:spLocks xmlns:a="http://schemas.openxmlformats.org/drawingml/2006/main" noGrp="1"/>
          </p:cNvSpPr>
          <p:nvPr/>
        </p:nvSpPr>
        <p:spPr>
          <a:xfrm xmlns:a="http://schemas.openxmlformats.org/drawingml/2006/main">
            <a:off x="10382250" y="4343400"/>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A47C"/>
                </a:solidFill>
                <a:latin typeface="DejaVu Sans"/>
                <a:ea typeface="DejaVu Sans"/>
                <a:cs typeface="DejaVu Sans"/>
              </a:defRPr>
            </a:pPr>
            <a:r>
              <a:rPr sz="1575" b="1" i="0">
                <a:solidFill>
                  <a:srgbClr val="0BA47C"/>
                </a:solidFill>
                <a:latin typeface="DejaVu Sans"/>
                <a:ea typeface="DejaVu Sans"/>
                <a:cs typeface="DejaVu Sans"/>
              </a:rPr>
              <a:t>MISSION</a:t>
            </a:r>
          </a:p>
          <a:p xmlns:a="http://schemas.openxmlformats.org/drawingml/2006/main">
            <a:pPr algn="ctr">
              <a:defRPr sz="1575" b="1" i="0">
                <a:solidFill>
                  <a:srgbClr val="0BA47C"/>
                </a:solidFill>
                <a:latin typeface="DejaVu Sans"/>
                <a:ea typeface="DejaVu Sans"/>
                <a:cs typeface="DejaVu Sans"/>
              </a:defRPr>
            </a:pPr>
            <a:r>
              <a:rPr sz="1575" b="1" i="0">
                <a:solidFill>
                  <a:srgbClr val="0BA47C"/>
                </a:solidFill>
                <a:latin typeface="DejaVu Sans"/>
                <a:ea typeface="DejaVu Sans"/>
                <a:cs typeface="DejaVu Sans"/>
              </a:rPr>
              <a:t>ALPHA</a:t>
            </a:r>
          </a:p>
        </p:txBody>
      </p:sp>
      <p:sp>
        <p:nvSpPr>
          <p:cNvPr id="23" name="alpha-law">
            <a:extLst xmlns:a="http://schemas.openxmlformats.org/drawingml/2006/main">
              <a:ext uri="{FF2B5EF4-FFF2-40B4-BE49-F238E27FC236}">
                <a16:creationId xmlns:a16="http://schemas.microsoft.com/office/drawing/2014/main" id="{B9378444-D38B-436F-A368-B2D7B6613A48}"/>
              </a:ext>
            </a:extLst>
          </p:cNvPr>
          <p:cNvSpPr>
            <a:spLocks xmlns:a="http://schemas.openxmlformats.org/drawingml/2006/main" noGrp="1"/>
          </p:cNvSpPr>
          <p:nvPr/>
        </p:nvSpPr>
        <p:spPr>
          <a:xfrm xmlns:a="http://schemas.openxmlformats.org/drawingml/2006/main">
            <a:off x="609600" y="5219700"/>
            <a:ext cx="10820400" cy="685800"/>
          </a:xfrm>
          <a:prstGeom xmlns:a="http://schemas.openxmlformats.org/drawingml/2006/main" prst="roundRect">
            <a:avLst>
              <a:gd name="adj" fmla="val 13889"/>
            </a:avLst>
          </a:prstGeom>
          <a:solidFill xmlns:a="http://schemas.openxmlformats.org/drawingml/2006/main">
            <a:srgbClr val="031426"/>
          </a:solidFill>
          <a:ln xmlns:a="http://schemas.openxmlformats.org/drawingml/2006/main" w="11430">
            <a:solidFill>
              <a:srgbClr val="C8942A"/>
            </a:solidFill>
            <a:prstDash val="solid"/>
          </a:ln>
        </p:spPr>
      </p:sp>
      <p:sp>
        <p:nvSpPr>
          <p:cNvPr id="24" name="alpha-law-copy">
            <a:extLst xmlns:a="http://schemas.openxmlformats.org/drawingml/2006/main">
              <a:ext uri="{FF2B5EF4-FFF2-40B4-BE49-F238E27FC236}">
                <a16:creationId xmlns:a16="http://schemas.microsoft.com/office/drawing/2014/main" id="{DFA70CB9-B698-459B-961E-1EDCBF4DA848}"/>
              </a:ext>
            </a:extLst>
          </p:cNvPr>
          <p:cNvSpPr>
            <a:spLocks xmlns:a="http://schemas.openxmlformats.org/drawingml/2006/main" noGrp="1"/>
          </p:cNvSpPr>
          <p:nvPr/>
        </p:nvSpPr>
        <p:spPr>
          <a:xfrm xmlns:a="http://schemas.openxmlformats.org/drawingml/2006/main">
            <a:off x="914400" y="5334000"/>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F7F1E6"/>
                </a:solidFill>
                <a:latin typeface="DejaVu Serif"/>
                <a:ea typeface="DejaVu Serif"/>
                <a:cs typeface="DejaVu Serif"/>
              </a:defRPr>
            </a:pPr>
            <a:r>
              <a:rPr sz="1575" b="1" i="0">
                <a:solidFill>
                  <a:srgbClr val="F7F1E6"/>
                </a:solidFill>
                <a:latin typeface="DejaVu Serif"/>
                <a:ea typeface="DejaVu Serif"/>
                <a:cs typeface="DejaVu Serif"/>
              </a:rPr>
              <a:t>Specialist ASI is an earned, expiring, mission-bounded admission status — never a universal claim.</a:t>
            </a:r>
          </a:p>
        </p:txBody>
      </p:sp>
    </p:spTree>
    <p:extLst>
      <p:ext uri="{BB962C8B-B14F-4D97-AF65-F5344CB8AC3E}">
        <p14:creationId xmlns:p14="http://schemas.microsoft.com/office/powerpoint/2010/main" val="86116013"/>
      </p:ext>
    </p:extLst>
  </p:cSld>
</p:sld>
</file>

<file path=ppt/slides/slide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33" name="eyebrow-MONTREAL.A">
            <a:extLst xmlns:a="http://schemas.openxmlformats.org/drawingml/2006/main">
              <a:ext uri="{FF2B5EF4-FFF2-40B4-BE49-F238E27FC236}">
                <a16:creationId xmlns:a16="http://schemas.microsoft.com/office/drawing/2014/main" id="{CCDC65FE-8959-4903-A437-AFFD6A13D0E5}"/>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6">
            <a:extLst xmlns:a="http://schemas.openxmlformats.org/drawingml/2006/main">
              <a:ext uri="{FF2B5EF4-FFF2-40B4-BE49-F238E27FC236}">
                <a16:creationId xmlns:a16="http://schemas.microsoft.com/office/drawing/2014/main" id="{9489900B-1C65-409F-B7D5-440C702B99F0}"/>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6">
            <a:extLst xmlns:a="http://schemas.openxmlformats.org/drawingml/2006/main">
              <a:ext uri="{FF2B5EF4-FFF2-40B4-BE49-F238E27FC236}">
                <a16:creationId xmlns:a16="http://schemas.microsoft.com/office/drawing/2014/main" id="{8CAF0B2D-41A5-4B70-8315-780B2B455724}"/>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6">
            <a:extLst xmlns:a="http://schemas.openxmlformats.org/drawingml/2006/main">
              <a:ext uri="{FF2B5EF4-FFF2-40B4-BE49-F238E27FC236}">
                <a16:creationId xmlns:a16="http://schemas.microsoft.com/office/drawing/2014/main" id="{5B0DC245-50A5-414D-9F75-CF1B26FFB652}"/>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6">
            <a:extLst xmlns:a="http://schemas.openxmlformats.org/drawingml/2006/main">
              <a:ext uri="{FF2B5EF4-FFF2-40B4-BE49-F238E27FC236}">
                <a16:creationId xmlns:a16="http://schemas.microsoft.com/office/drawing/2014/main" id="{FFD36269-1F64-41F5-81AB-02A5065D5195}"/>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06</a:t>
            </a:r>
          </a:p>
        </p:txBody>
      </p:sp>
      <p:sp>
        <p:nvSpPr>
          <p:cNvPr id="6" name="title-6">
            <a:extLst xmlns:a="http://schemas.openxmlformats.org/drawingml/2006/main">
              <a:ext uri="{FF2B5EF4-FFF2-40B4-BE49-F238E27FC236}">
                <a16:creationId xmlns:a16="http://schemas.microsoft.com/office/drawing/2014/main" id="{4B1C3D8B-18C4-449A-B5E5-686CC590DFF5}"/>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071B31"/>
                </a:solidFill>
                <a:latin typeface="DejaVu Serif"/>
                <a:ea typeface="DejaVu Serif"/>
                <a:cs typeface="DejaVu Serif"/>
              </a:defRPr>
            </a:pPr>
            <a:r>
              <a:rPr sz="2775" b="1" i="0">
                <a:solidFill>
                  <a:srgbClr val="071B31"/>
                </a:solidFill>
                <a:latin typeface="DejaVu Serif"/>
                <a:ea typeface="DejaVu Serif"/>
                <a:cs typeface="DejaVu Serif"/>
              </a:rPr>
              <a:t>No actor may manufacture its own final proof or authority.</a:t>
            </a:r>
          </a:p>
        </p:txBody>
      </p:sp>
      <p:sp>
        <p:nvSpPr>
          <p:cNvPr id="7" name="title-accent-6">
            <a:extLst xmlns:a="http://schemas.openxmlformats.org/drawingml/2006/main">
              <a:ext uri="{FF2B5EF4-FFF2-40B4-BE49-F238E27FC236}">
                <a16:creationId xmlns:a16="http://schemas.microsoft.com/office/drawing/2014/main" id="{A67EC437-9FD6-4B43-A36C-B022DED17C18}"/>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sep-kicker-0">
            <a:extLst xmlns:a="http://schemas.openxmlformats.org/drawingml/2006/main">
              <a:ext uri="{FF2B5EF4-FFF2-40B4-BE49-F238E27FC236}">
                <a16:creationId xmlns:a16="http://schemas.microsoft.com/office/drawing/2014/main" id="{E5DF0126-C60C-4C5B-96DA-C92B7AB6FFE3}"/>
              </a:ext>
            </a:extLst>
          </p:cNvPr>
          <p:cNvSpPr>
            <a:spLocks xmlns:a="http://schemas.openxmlformats.org/drawingml/2006/main" noGrp="1"/>
          </p:cNvSpPr>
          <p:nvPr/>
        </p:nvSpPr>
        <p:spPr>
          <a:xfrm xmlns:a="http://schemas.openxmlformats.org/drawingml/2006/main">
            <a:off x="609600" y="22098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C8942A"/>
                </a:solidFill>
                <a:latin typeface="DejaVu Sans"/>
                <a:ea typeface="DejaVu Sans"/>
                <a:cs typeface="DejaVu Sans"/>
              </a:defRPr>
            </a:pPr>
            <a:r>
              <a:rPr sz="1125" b="1" i="0">
                <a:solidFill>
                  <a:srgbClr val="C8942A"/>
                </a:solidFill>
                <a:latin typeface="DejaVu Sans"/>
                <a:ea typeface="DejaVu Sans"/>
                <a:cs typeface="DejaVu Sans"/>
              </a:rPr>
              <a:t>MANUFACTURE</a:t>
            </a:r>
          </a:p>
        </p:txBody>
      </p:sp>
      <p:sp>
        <p:nvSpPr>
          <p:cNvPr id="9" name="sep-title-0">
            <a:extLst xmlns:a="http://schemas.openxmlformats.org/drawingml/2006/main">
              <a:ext uri="{FF2B5EF4-FFF2-40B4-BE49-F238E27FC236}">
                <a16:creationId xmlns:a16="http://schemas.microsoft.com/office/drawing/2014/main" id="{69086196-99BC-4538-9FC7-4F6959FB8B62}"/>
              </a:ext>
            </a:extLst>
          </p:cNvPr>
          <p:cNvSpPr>
            <a:spLocks xmlns:a="http://schemas.openxmlformats.org/drawingml/2006/main" noGrp="1"/>
          </p:cNvSpPr>
          <p:nvPr/>
        </p:nvSpPr>
        <p:spPr>
          <a:xfrm xmlns:a="http://schemas.openxmlformats.org/drawingml/2006/main">
            <a:off x="609600" y="272415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B31"/>
                </a:solidFill>
                <a:latin typeface="DejaVu Serif"/>
                <a:ea typeface="DejaVu Serif"/>
                <a:cs typeface="DejaVu Serif"/>
              </a:defRPr>
            </a:pPr>
            <a:r>
              <a:rPr sz="1800" b="1" i="0">
                <a:solidFill>
                  <a:srgbClr val="071B31"/>
                </a:solidFill>
                <a:latin typeface="DejaVu Serif"/>
                <a:ea typeface="DejaVu Serif"/>
                <a:cs typeface="DejaVu Serif"/>
              </a:rPr>
              <a:t>Alpha Foundry Ω</a:t>
            </a:r>
          </a:p>
        </p:txBody>
      </p:sp>
      <p:sp>
        <p:nvSpPr>
          <p:cNvPr id="10" name="sep-accent-0">
            <a:extLst xmlns:a="http://schemas.openxmlformats.org/drawingml/2006/main">
              <a:ext uri="{FF2B5EF4-FFF2-40B4-BE49-F238E27FC236}">
                <a16:creationId xmlns:a16="http://schemas.microsoft.com/office/drawing/2014/main" id="{442AD021-E18B-41DB-A00E-1B4BFBDD8E71}"/>
              </a:ext>
            </a:extLst>
          </p:cNvPr>
          <p:cNvSpPr>
            <a:spLocks xmlns:a="http://schemas.openxmlformats.org/drawingml/2006/main" noGrp="1"/>
          </p:cNvSpPr>
          <p:nvPr/>
        </p:nvSpPr>
        <p:spPr>
          <a:xfrm xmlns:a="http://schemas.openxmlformats.org/drawingml/2006/main">
            <a:off x="609600" y="3600450"/>
            <a:ext cx="742950" cy="0"/>
          </a:xfrm>
          <a:prstGeom xmlns:a="http://schemas.openxmlformats.org/drawingml/2006/main" prst="line">
            <a:avLst/>
          </a:prstGeom>
          <a:noFill xmlns:a="http://schemas.openxmlformats.org/drawingml/2006/main"/>
          <a:ln xmlns:a="http://schemas.openxmlformats.org/drawingml/2006/main" w="28575">
            <a:solidFill>
              <a:srgbClr val="C8942A"/>
            </a:solidFill>
            <a:prstDash val="solid"/>
          </a:ln>
        </p:spPr>
      </p:sp>
      <p:sp>
        <p:nvSpPr>
          <p:cNvPr id="11" name="sep-role-0">
            <a:extLst xmlns:a="http://schemas.openxmlformats.org/drawingml/2006/main">
              <a:ext uri="{FF2B5EF4-FFF2-40B4-BE49-F238E27FC236}">
                <a16:creationId xmlns:a16="http://schemas.microsoft.com/office/drawing/2014/main" id="{095C39AA-46DB-43FE-A937-4965D0C995AD}"/>
              </a:ext>
            </a:extLst>
          </p:cNvPr>
          <p:cNvSpPr>
            <a:spLocks xmlns:a="http://schemas.openxmlformats.org/drawingml/2006/main" noGrp="1"/>
          </p:cNvSpPr>
          <p:nvPr/>
        </p:nvSpPr>
        <p:spPr>
          <a:xfrm xmlns:a="http://schemas.openxmlformats.org/drawingml/2006/main">
            <a:off x="609600" y="3829050"/>
            <a:ext cx="2266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Build competing candidates</a:t>
            </a:r>
          </a:p>
        </p:txBody>
      </p:sp>
      <p:sp>
        <p:nvSpPr>
          <p:cNvPr id="12" name="sep-prohibition-0">
            <a:extLst xmlns:a="http://schemas.openxmlformats.org/drawingml/2006/main">
              <a:ext uri="{FF2B5EF4-FFF2-40B4-BE49-F238E27FC236}">
                <a16:creationId xmlns:a16="http://schemas.microsoft.com/office/drawing/2014/main" id="{D0853303-BCD2-47AF-93F8-901F35CEF2D4}"/>
              </a:ext>
            </a:extLst>
          </p:cNvPr>
          <p:cNvSpPr>
            <a:spLocks xmlns:a="http://schemas.openxmlformats.org/drawingml/2006/main" noGrp="1"/>
          </p:cNvSpPr>
          <p:nvPr/>
        </p:nvSpPr>
        <p:spPr>
          <a:xfrm xmlns:a="http://schemas.openxmlformats.org/drawingml/2006/main">
            <a:off x="609600" y="4819650"/>
            <a:ext cx="2266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D06A2C"/>
                </a:solidFill>
                <a:latin typeface="DejaVu Sans"/>
                <a:ea typeface="DejaVu Sans"/>
                <a:cs typeface="DejaVu Sans"/>
              </a:defRPr>
            </a:pPr>
            <a:r>
              <a:rPr sz="1275" b="1" i="0">
                <a:solidFill>
                  <a:srgbClr val="D06A2C"/>
                </a:solidFill>
                <a:latin typeface="DejaVu Sans"/>
                <a:ea typeface="DejaVu Sans"/>
                <a:cs typeface="DejaVu Sans"/>
              </a:rPr>
              <a:t>Cannot certify</a:t>
            </a:r>
          </a:p>
        </p:txBody>
      </p:sp>
      <p:sp>
        <p:nvSpPr>
          <p:cNvPr id="13" name="sep-v-1">
            <a:extLst xmlns:a="http://schemas.openxmlformats.org/drawingml/2006/main">
              <a:ext uri="{FF2B5EF4-FFF2-40B4-BE49-F238E27FC236}">
                <a16:creationId xmlns:a16="http://schemas.microsoft.com/office/drawing/2014/main" id="{B50193C5-1FD9-4DBF-921F-0488C27770D6}"/>
              </a:ext>
            </a:extLst>
          </p:cNvPr>
          <p:cNvSpPr>
            <a:spLocks xmlns:a="http://schemas.openxmlformats.org/drawingml/2006/main" noGrp="1"/>
          </p:cNvSpPr>
          <p:nvPr/>
        </p:nvSpPr>
        <p:spPr>
          <a:xfrm xmlns:a="http://schemas.openxmlformats.org/drawingml/2006/main">
            <a:off x="3009900" y="2305050"/>
            <a:ext cx="0" cy="304800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14" name="sep-kicker-1">
            <a:extLst xmlns:a="http://schemas.openxmlformats.org/drawingml/2006/main">
              <a:ext uri="{FF2B5EF4-FFF2-40B4-BE49-F238E27FC236}">
                <a16:creationId xmlns:a16="http://schemas.microsoft.com/office/drawing/2014/main" id="{8932C1D3-172C-4768-A622-8C554D5FC10A}"/>
              </a:ext>
            </a:extLst>
          </p:cNvPr>
          <p:cNvSpPr>
            <a:spLocks xmlns:a="http://schemas.openxmlformats.org/drawingml/2006/main" noGrp="1"/>
          </p:cNvSpPr>
          <p:nvPr/>
        </p:nvSpPr>
        <p:spPr>
          <a:xfrm xmlns:a="http://schemas.openxmlformats.org/drawingml/2006/main">
            <a:off x="3257550" y="22098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C8942A"/>
                </a:solidFill>
                <a:latin typeface="DejaVu Sans"/>
                <a:ea typeface="DejaVu Sans"/>
                <a:cs typeface="DejaVu Sans"/>
              </a:defRPr>
            </a:pPr>
            <a:r>
              <a:rPr sz="1125" b="1" i="0">
                <a:solidFill>
                  <a:srgbClr val="C8942A"/>
                </a:solidFill>
                <a:latin typeface="DejaVu Sans"/>
                <a:ea typeface="DejaVu Sans"/>
                <a:cs typeface="DejaVu Sans"/>
              </a:rPr>
              <a:t>TEACH + STRESS</a:t>
            </a:r>
          </a:p>
        </p:txBody>
      </p:sp>
      <p:sp>
        <p:nvSpPr>
          <p:cNvPr id="15" name="sep-title-1">
            <a:extLst xmlns:a="http://schemas.openxmlformats.org/drawingml/2006/main">
              <a:ext uri="{FF2B5EF4-FFF2-40B4-BE49-F238E27FC236}">
                <a16:creationId xmlns:a16="http://schemas.microsoft.com/office/drawing/2014/main" id="{06DD15FB-CAE8-481C-98C6-629ABD3031D2}"/>
              </a:ext>
            </a:extLst>
          </p:cNvPr>
          <p:cNvSpPr>
            <a:spLocks xmlns:a="http://schemas.openxmlformats.org/drawingml/2006/main" noGrp="1"/>
          </p:cNvSpPr>
          <p:nvPr/>
        </p:nvSpPr>
        <p:spPr>
          <a:xfrm xmlns:a="http://schemas.openxmlformats.org/drawingml/2006/main">
            <a:off x="3257550" y="272415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B31"/>
                </a:solidFill>
                <a:latin typeface="DejaVu Serif"/>
                <a:ea typeface="DejaVu Serif"/>
                <a:cs typeface="DejaVu Serif"/>
              </a:defRPr>
            </a:pPr>
            <a:r>
              <a:rPr sz="1800" b="1" i="0">
                <a:solidFill>
                  <a:srgbClr val="071B31"/>
                </a:solidFill>
                <a:latin typeface="DejaVu Serif"/>
                <a:ea typeface="DejaVu Serif"/>
                <a:cs typeface="DejaVu Serif"/>
              </a:rPr>
              <a:t>Sovereign Mission Gym</a:t>
            </a:r>
          </a:p>
        </p:txBody>
      </p:sp>
      <p:sp>
        <p:nvSpPr>
          <p:cNvPr id="16" name="sep-accent-1">
            <a:extLst xmlns:a="http://schemas.openxmlformats.org/drawingml/2006/main">
              <a:ext uri="{FF2B5EF4-FFF2-40B4-BE49-F238E27FC236}">
                <a16:creationId xmlns:a16="http://schemas.microsoft.com/office/drawing/2014/main" id="{0DBC551A-265A-4A42-BAC2-B62BD136792A}"/>
              </a:ext>
            </a:extLst>
          </p:cNvPr>
          <p:cNvSpPr>
            <a:spLocks xmlns:a="http://schemas.openxmlformats.org/drawingml/2006/main" noGrp="1"/>
          </p:cNvSpPr>
          <p:nvPr/>
        </p:nvSpPr>
        <p:spPr>
          <a:xfrm xmlns:a="http://schemas.openxmlformats.org/drawingml/2006/main">
            <a:off x="3257550" y="3600450"/>
            <a:ext cx="742950" cy="0"/>
          </a:xfrm>
          <a:prstGeom xmlns:a="http://schemas.openxmlformats.org/drawingml/2006/main" prst="line">
            <a:avLst/>
          </a:prstGeom>
          <a:noFill xmlns:a="http://schemas.openxmlformats.org/drawingml/2006/main"/>
          <a:ln xmlns:a="http://schemas.openxmlformats.org/drawingml/2006/main" w="28575">
            <a:solidFill>
              <a:srgbClr val="C8942A"/>
            </a:solidFill>
            <a:prstDash val="solid"/>
          </a:ln>
        </p:spPr>
      </p:sp>
      <p:sp>
        <p:nvSpPr>
          <p:cNvPr id="17" name="sep-role-1">
            <a:extLst xmlns:a="http://schemas.openxmlformats.org/drawingml/2006/main">
              <a:ext uri="{FF2B5EF4-FFF2-40B4-BE49-F238E27FC236}">
                <a16:creationId xmlns:a16="http://schemas.microsoft.com/office/drawing/2014/main" id="{5EC45637-863F-47CC-8EFA-6EE68C3A2894}"/>
              </a:ext>
            </a:extLst>
          </p:cNvPr>
          <p:cNvSpPr>
            <a:spLocks xmlns:a="http://schemas.openxmlformats.org/drawingml/2006/main" noGrp="1"/>
          </p:cNvSpPr>
          <p:nvPr/>
        </p:nvSpPr>
        <p:spPr>
          <a:xfrm xmlns:a="http://schemas.openxmlformats.org/drawingml/2006/main">
            <a:off x="3257550" y="3829050"/>
            <a:ext cx="2266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Expose failure and improve capability</a:t>
            </a:r>
          </a:p>
        </p:txBody>
      </p:sp>
      <p:sp>
        <p:nvSpPr>
          <p:cNvPr id="18" name="sep-prohibition-1">
            <a:extLst xmlns:a="http://schemas.openxmlformats.org/drawingml/2006/main">
              <a:ext uri="{FF2B5EF4-FFF2-40B4-BE49-F238E27FC236}">
                <a16:creationId xmlns:a16="http://schemas.microsoft.com/office/drawing/2014/main" id="{2BF5FD70-ACB7-4693-9829-88C5437C1DA4}"/>
              </a:ext>
            </a:extLst>
          </p:cNvPr>
          <p:cNvSpPr>
            <a:spLocks xmlns:a="http://schemas.openxmlformats.org/drawingml/2006/main" noGrp="1"/>
          </p:cNvSpPr>
          <p:nvPr/>
        </p:nvSpPr>
        <p:spPr>
          <a:xfrm xmlns:a="http://schemas.openxmlformats.org/drawingml/2006/main">
            <a:off x="3257550" y="4819650"/>
            <a:ext cx="2266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D06A2C"/>
                </a:solidFill>
                <a:latin typeface="DejaVu Sans"/>
                <a:ea typeface="DejaVu Sans"/>
                <a:cs typeface="DejaVu Sans"/>
              </a:defRPr>
            </a:pPr>
            <a:r>
              <a:rPr sz="1275" b="1" i="0">
                <a:solidFill>
                  <a:srgbClr val="D06A2C"/>
                </a:solidFill>
                <a:latin typeface="DejaVu Sans"/>
                <a:ea typeface="DejaVu Sans"/>
                <a:cs typeface="DejaVu Sans"/>
              </a:rPr>
              <a:t>Cannot issue final proof</a:t>
            </a:r>
          </a:p>
        </p:txBody>
      </p:sp>
      <p:sp>
        <p:nvSpPr>
          <p:cNvPr id="19" name="sep-v-2">
            <a:extLst xmlns:a="http://schemas.openxmlformats.org/drawingml/2006/main">
              <a:ext uri="{FF2B5EF4-FFF2-40B4-BE49-F238E27FC236}">
                <a16:creationId xmlns:a16="http://schemas.microsoft.com/office/drawing/2014/main" id="{9425640C-65C4-4BB2-B7CB-17645E8B3A55}"/>
              </a:ext>
            </a:extLst>
          </p:cNvPr>
          <p:cNvSpPr>
            <a:spLocks xmlns:a="http://schemas.openxmlformats.org/drawingml/2006/main" noGrp="1"/>
          </p:cNvSpPr>
          <p:nvPr/>
        </p:nvSpPr>
        <p:spPr>
          <a:xfrm xmlns:a="http://schemas.openxmlformats.org/drawingml/2006/main">
            <a:off x="5657850" y="2305050"/>
            <a:ext cx="0" cy="304800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20" name="sep-kicker-2">
            <a:extLst xmlns:a="http://schemas.openxmlformats.org/drawingml/2006/main">
              <a:ext uri="{FF2B5EF4-FFF2-40B4-BE49-F238E27FC236}">
                <a16:creationId xmlns:a16="http://schemas.microsoft.com/office/drawing/2014/main" id="{70FA001A-AD70-4834-AC55-B79D9D9FD3B3}"/>
              </a:ext>
            </a:extLst>
          </p:cNvPr>
          <p:cNvSpPr>
            <a:spLocks xmlns:a="http://schemas.openxmlformats.org/drawingml/2006/main" noGrp="1"/>
          </p:cNvSpPr>
          <p:nvPr/>
        </p:nvSpPr>
        <p:spPr>
          <a:xfrm xmlns:a="http://schemas.openxmlformats.org/drawingml/2006/main">
            <a:off x="5905500" y="22098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0BA47C"/>
                </a:solidFill>
                <a:latin typeface="DejaVu Sans"/>
                <a:ea typeface="DejaVu Sans"/>
                <a:cs typeface="DejaVu Sans"/>
              </a:defRPr>
            </a:pPr>
            <a:r>
              <a:rPr sz="1125" b="1" i="0">
                <a:solidFill>
                  <a:srgbClr val="0BA47C"/>
                </a:solidFill>
                <a:latin typeface="DejaVu Sans"/>
                <a:ea typeface="DejaVu Sans"/>
                <a:cs typeface="DejaVu Sans"/>
              </a:rPr>
              <a:t>EXAMINE</a:t>
            </a:r>
          </a:p>
        </p:txBody>
      </p:sp>
      <p:sp>
        <p:nvSpPr>
          <p:cNvPr id="21" name="sep-title-2">
            <a:extLst xmlns:a="http://schemas.openxmlformats.org/drawingml/2006/main">
              <a:ext uri="{FF2B5EF4-FFF2-40B4-BE49-F238E27FC236}">
                <a16:creationId xmlns:a16="http://schemas.microsoft.com/office/drawing/2014/main" id="{2DB732D2-2DEF-415E-BD38-66CA7F4EADE4}"/>
              </a:ext>
            </a:extLst>
          </p:cNvPr>
          <p:cNvSpPr>
            <a:spLocks xmlns:a="http://schemas.openxmlformats.org/drawingml/2006/main" noGrp="1"/>
          </p:cNvSpPr>
          <p:nvPr/>
        </p:nvSpPr>
        <p:spPr>
          <a:xfrm xmlns:a="http://schemas.openxmlformats.org/drawingml/2006/main">
            <a:off x="5905500" y="272415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B31"/>
                </a:solidFill>
                <a:latin typeface="DejaVu Serif"/>
                <a:ea typeface="DejaVu Serif"/>
                <a:cs typeface="DejaVu Serif"/>
              </a:defRPr>
            </a:pPr>
            <a:r>
              <a:rPr sz="1800" b="1" i="0">
                <a:solidFill>
                  <a:srgbClr val="071B31"/>
                </a:solidFill>
                <a:latin typeface="DejaVu Serif"/>
                <a:ea typeface="DejaVu Serif"/>
                <a:cs typeface="DejaVu Serif"/>
              </a:rPr>
              <a:t>Independent Proof Network</a:t>
            </a:r>
          </a:p>
        </p:txBody>
      </p:sp>
      <p:sp>
        <p:nvSpPr>
          <p:cNvPr id="22" name="sep-accent-2">
            <a:extLst xmlns:a="http://schemas.openxmlformats.org/drawingml/2006/main">
              <a:ext uri="{FF2B5EF4-FFF2-40B4-BE49-F238E27FC236}">
                <a16:creationId xmlns:a16="http://schemas.microsoft.com/office/drawing/2014/main" id="{9B416F63-5C61-48F9-B38A-F148F6B543D1}"/>
              </a:ext>
            </a:extLst>
          </p:cNvPr>
          <p:cNvSpPr>
            <a:spLocks xmlns:a="http://schemas.openxmlformats.org/drawingml/2006/main" noGrp="1"/>
          </p:cNvSpPr>
          <p:nvPr/>
        </p:nvSpPr>
        <p:spPr>
          <a:xfrm xmlns:a="http://schemas.openxmlformats.org/drawingml/2006/main">
            <a:off x="5905500" y="3600450"/>
            <a:ext cx="742950" cy="0"/>
          </a:xfrm>
          <a:prstGeom xmlns:a="http://schemas.openxmlformats.org/drawingml/2006/main" prst="line">
            <a:avLst/>
          </a:prstGeom>
          <a:noFill xmlns:a="http://schemas.openxmlformats.org/drawingml/2006/main"/>
          <a:ln xmlns:a="http://schemas.openxmlformats.org/drawingml/2006/main" w="28575">
            <a:solidFill>
              <a:srgbClr val="0BA47C"/>
            </a:solidFill>
            <a:prstDash val="solid"/>
          </a:ln>
        </p:spPr>
      </p:sp>
      <p:sp>
        <p:nvSpPr>
          <p:cNvPr id="23" name="sep-role-2">
            <a:extLst xmlns:a="http://schemas.openxmlformats.org/drawingml/2006/main">
              <a:ext uri="{FF2B5EF4-FFF2-40B4-BE49-F238E27FC236}">
                <a16:creationId xmlns:a16="http://schemas.microsoft.com/office/drawing/2014/main" id="{57BC26FB-12A9-44C8-B400-34F0DBB40C43}"/>
              </a:ext>
            </a:extLst>
          </p:cNvPr>
          <p:cNvSpPr>
            <a:spLocks xmlns:a="http://schemas.openxmlformats.org/drawingml/2006/main" noGrp="1"/>
          </p:cNvSpPr>
          <p:nvPr/>
        </p:nvSpPr>
        <p:spPr>
          <a:xfrm xmlns:a="http://schemas.openxmlformats.org/drawingml/2006/main">
            <a:off x="5905500" y="3829050"/>
            <a:ext cx="2266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Test one frozen release on fresh evidence</a:t>
            </a:r>
          </a:p>
        </p:txBody>
      </p:sp>
      <p:sp>
        <p:nvSpPr>
          <p:cNvPr id="24" name="sep-prohibition-2">
            <a:extLst xmlns:a="http://schemas.openxmlformats.org/drawingml/2006/main">
              <a:ext uri="{FF2B5EF4-FFF2-40B4-BE49-F238E27FC236}">
                <a16:creationId xmlns:a16="http://schemas.microsoft.com/office/drawing/2014/main" id="{5750F7F9-D482-4BDE-B898-CD7AE6884252}"/>
              </a:ext>
            </a:extLst>
          </p:cNvPr>
          <p:cNvSpPr>
            <a:spLocks xmlns:a="http://schemas.openxmlformats.org/drawingml/2006/main" noGrp="1"/>
          </p:cNvSpPr>
          <p:nvPr/>
        </p:nvSpPr>
        <p:spPr>
          <a:xfrm xmlns:a="http://schemas.openxmlformats.org/drawingml/2006/main">
            <a:off x="5905500" y="4819650"/>
            <a:ext cx="2266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0BA47C"/>
                </a:solidFill>
                <a:latin typeface="DejaVu Sans"/>
                <a:ea typeface="DejaVu Sans"/>
                <a:cs typeface="DejaVu Sans"/>
              </a:defRPr>
            </a:pPr>
            <a:r>
              <a:rPr sz="1275" b="1" i="0">
                <a:solidFill>
                  <a:srgbClr val="0BA47C"/>
                </a:solidFill>
                <a:latin typeface="DejaVu Sans"/>
                <a:ea typeface="DejaVu Sans"/>
                <a:cs typeface="DejaVu Sans"/>
              </a:rPr>
              <a:t>Cannot broaden the mission</a:t>
            </a:r>
          </a:p>
        </p:txBody>
      </p:sp>
      <p:sp>
        <p:nvSpPr>
          <p:cNvPr id="25" name="sep-v-3">
            <a:extLst xmlns:a="http://schemas.openxmlformats.org/drawingml/2006/main">
              <a:ext uri="{FF2B5EF4-FFF2-40B4-BE49-F238E27FC236}">
                <a16:creationId xmlns:a16="http://schemas.microsoft.com/office/drawing/2014/main" id="{D6A8AE3E-FBB4-4CC5-9AC7-646A03D7BCF1}"/>
              </a:ext>
            </a:extLst>
          </p:cNvPr>
          <p:cNvSpPr>
            <a:spLocks xmlns:a="http://schemas.openxmlformats.org/drawingml/2006/main" noGrp="1"/>
          </p:cNvSpPr>
          <p:nvPr/>
        </p:nvSpPr>
        <p:spPr>
          <a:xfrm xmlns:a="http://schemas.openxmlformats.org/drawingml/2006/main">
            <a:off x="8305800" y="2305050"/>
            <a:ext cx="0" cy="304800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26" name="sep-kicker-3">
            <a:extLst xmlns:a="http://schemas.openxmlformats.org/drawingml/2006/main">
              <a:ext uri="{FF2B5EF4-FFF2-40B4-BE49-F238E27FC236}">
                <a16:creationId xmlns:a16="http://schemas.microsoft.com/office/drawing/2014/main" id="{E7F38BB3-E59F-4CBD-847D-A48D89E9B3B2}"/>
              </a:ext>
            </a:extLst>
          </p:cNvPr>
          <p:cNvSpPr>
            <a:spLocks xmlns:a="http://schemas.openxmlformats.org/drawingml/2006/main" noGrp="1"/>
          </p:cNvSpPr>
          <p:nvPr/>
        </p:nvSpPr>
        <p:spPr>
          <a:xfrm xmlns:a="http://schemas.openxmlformats.org/drawingml/2006/main">
            <a:off x="8553450" y="22098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C8942A"/>
                </a:solidFill>
                <a:latin typeface="DejaVu Sans"/>
                <a:ea typeface="DejaVu Sans"/>
                <a:cs typeface="DejaVu Sans"/>
              </a:defRPr>
            </a:pPr>
            <a:r>
              <a:rPr sz="1125" b="1" i="0">
                <a:solidFill>
                  <a:srgbClr val="C8942A"/>
                </a:solidFill>
                <a:latin typeface="DejaVu Sans"/>
                <a:ea typeface="DejaVu Sans"/>
                <a:cs typeface="DejaVu Sans"/>
              </a:rPr>
              <a:t>GRANT + ENFORCE</a:t>
            </a:r>
          </a:p>
        </p:txBody>
      </p:sp>
      <p:sp>
        <p:nvSpPr>
          <p:cNvPr id="27" name="sep-title-3">
            <a:extLst xmlns:a="http://schemas.openxmlformats.org/drawingml/2006/main">
              <a:ext uri="{FF2B5EF4-FFF2-40B4-BE49-F238E27FC236}">
                <a16:creationId xmlns:a16="http://schemas.microsoft.com/office/drawing/2014/main" id="{BE3DC259-9FDA-4606-AFFF-C309A2376840}"/>
              </a:ext>
            </a:extLst>
          </p:cNvPr>
          <p:cNvSpPr>
            <a:spLocks xmlns:a="http://schemas.openxmlformats.org/drawingml/2006/main" noGrp="1"/>
          </p:cNvSpPr>
          <p:nvPr/>
        </p:nvSpPr>
        <p:spPr>
          <a:xfrm xmlns:a="http://schemas.openxmlformats.org/drawingml/2006/main">
            <a:off x="8553450" y="272415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B31"/>
                </a:solidFill>
                <a:latin typeface="DejaVu Serif"/>
                <a:ea typeface="DejaVu Serif"/>
                <a:cs typeface="DejaVu Serif"/>
              </a:defRPr>
            </a:pPr>
            <a:r>
              <a:rPr sz="1800" b="1" i="0">
                <a:solidFill>
                  <a:srgbClr val="071B31"/>
                </a:solidFill>
                <a:latin typeface="DejaVu Serif"/>
                <a:ea typeface="DejaVu Serif"/>
                <a:cs typeface="DejaVu Serif"/>
              </a:rPr>
              <a:t>Customer governance + controls</a:t>
            </a:r>
          </a:p>
        </p:txBody>
      </p:sp>
      <p:sp>
        <p:nvSpPr>
          <p:cNvPr id="28" name="sep-accent-3">
            <a:extLst xmlns:a="http://schemas.openxmlformats.org/drawingml/2006/main">
              <a:ext uri="{FF2B5EF4-FFF2-40B4-BE49-F238E27FC236}">
                <a16:creationId xmlns:a16="http://schemas.microsoft.com/office/drawing/2014/main" id="{2BADE134-572E-4A7E-B37D-80D95C002133}"/>
              </a:ext>
            </a:extLst>
          </p:cNvPr>
          <p:cNvSpPr>
            <a:spLocks xmlns:a="http://schemas.openxmlformats.org/drawingml/2006/main" noGrp="1"/>
          </p:cNvSpPr>
          <p:nvPr/>
        </p:nvSpPr>
        <p:spPr>
          <a:xfrm xmlns:a="http://schemas.openxmlformats.org/drawingml/2006/main">
            <a:off x="8553450" y="3600450"/>
            <a:ext cx="742950" cy="0"/>
          </a:xfrm>
          <a:prstGeom xmlns:a="http://schemas.openxmlformats.org/drawingml/2006/main" prst="line">
            <a:avLst/>
          </a:prstGeom>
          <a:noFill xmlns:a="http://schemas.openxmlformats.org/drawingml/2006/main"/>
          <a:ln xmlns:a="http://schemas.openxmlformats.org/drawingml/2006/main" w="28575">
            <a:solidFill>
              <a:srgbClr val="C8942A"/>
            </a:solidFill>
            <a:prstDash val="solid"/>
          </a:ln>
        </p:spPr>
      </p:sp>
      <p:sp>
        <p:nvSpPr>
          <p:cNvPr id="29" name="sep-role-3">
            <a:extLst xmlns:a="http://schemas.openxmlformats.org/drawingml/2006/main">
              <a:ext uri="{FF2B5EF4-FFF2-40B4-BE49-F238E27FC236}">
                <a16:creationId xmlns:a16="http://schemas.microsoft.com/office/drawing/2014/main" id="{30CAA593-E9A6-4CBF-929A-90B799E69E3D}"/>
              </a:ext>
            </a:extLst>
          </p:cNvPr>
          <p:cNvSpPr>
            <a:spLocks xmlns:a="http://schemas.openxmlformats.org/drawingml/2006/main" noGrp="1"/>
          </p:cNvSpPr>
          <p:nvPr/>
        </p:nvSpPr>
        <p:spPr>
          <a:xfrm xmlns:a="http://schemas.openxmlformats.org/drawingml/2006/main">
            <a:off x="8553450" y="3829050"/>
            <a:ext cx="2266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6717F"/>
                </a:solidFill>
                <a:latin typeface="DejaVu Sans"/>
                <a:ea typeface="DejaVu Sans"/>
                <a:cs typeface="DejaVu Sans"/>
              </a:defRPr>
            </a:pPr>
            <a:r>
              <a:rPr sz="1350" b="0" i="0">
                <a:solidFill>
                  <a:srgbClr val="66717F"/>
                </a:solidFill>
                <a:latin typeface="DejaVu Sans"/>
                <a:ea typeface="DejaVu Sans"/>
                <a:cs typeface="DejaVu Sans"/>
              </a:rPr>
              <a:t>Grant and enforce a bounded envelope</a:t>
            </a:r>
          </a:p>
        </p:txBody>
      </p:sp>
      <p:sp>
        <p:nvSpPr>
          <p:cNvPr id="30" name="sep-prohibition-3">
            <a:extLst xmlns:a="http://schemas.openxmlformats.org/drawingml/2006/main">
              <a:ext uri="{FF2B5EF4-FFF2-40B4-BE49-F238E27FC236}">
                <a16:creationId xmlns:a16="http://schemas.microsoft.com/office/drawing/2014/main" id="{80D01880-600E-42EF-9866-CA89CD03636E}"/>
              </a:ext>
            </a:extLst>
          </p:cNvPr>
          <p:cNvSpPr>
            <a:spLocks xmlns:a="http://schemas.openxmlformats.org/drawingml/2006/main" noGrp="1"/>
          </p:cNvSpPr>
          <p:nvPr/>
        </p:nvSpPr>
        <p:spPr>
          <a:xfrm xmlns:a="http://schemas.openxmlformats.org/drawingml/2006/main">
            <a:off x="8553450" y="4819650"/>
            <a:ext cx="2266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D06A2C"/>
                </a:solidFill>
                <a:latin typeface="DejaVu Sans"/>
                <a:ea typeface="DejaVu Sans"/>
                <a:cs typeface="DejaVu Sans"/>
              </a:defRPr>
            </a:pPr>
            <a:r>
              <a:rPr sz="1275" b="1" i="0">
                <a:solidFill>
                  <a:srgbClr val="D06A2C"/>
                </a:solidFill>
                <a:latin typeface="DejaVu Sans"/>
                <a:ea typeface="DejaVu Sans"/>
                <a:cs typeface="DejaVu Sans"/>
              </a:rPr>
              <a:t>No authority beyond current proof</a:t>
            </a:r>
          </a:p>
        </p:txBody>
      </p:sp>
      <p:sp>
        <p:nvSpPr>
          <p:cNvPr id="31" name="separation-law">
            <a:extLst xmlns:a="http://schemas.openxmlformats.org/drawingml/2006/main">
              <a:ext uri="{FF2B5EF4-FFF2-40B4-BE49-F238E27FC236}">
                <a16:creationId xmlns:a16="http://schemas.microsoft.com/office/drawing/2014/main" id="{58C32F60-51FC-49FF-B9C2-422122FECE2D}"/>
              </a:ext>
            </a:extLst>
          </p:cNvPr>
          <p:cNvSpPr>
            <a:spLocks xmlns:a="http://schemas.openxmlformats.org/drawingml/2006/main" noGrp="1"/>
          </p:cNvSpPr>
          <p:nvPr/>
        </p:nvSpPr>
        <p:spPr>
          <a:xfrm xmlns:a="http://schemas.openxmlformats.org/drawingml/2006/main">
            <a:off x="609600" y="5638800"/>
            <a:ext cx="10591800" cy="457200"/>
          </a:xfrm>
          <a:prstGeom xmlns:a="http://schemas.openxmlformats.org/drawingml/2006/main" prst="roundRect">
            <a:avLst>
              <a:gd name="adj" fmla="val 16667"/>
            </a:avLst>
          </a:prstGeom>
          <a:solidFill xmlns:a="http://schemas.openxmlformats.org/drawingml/2006/main">
            <a:srgbClr val="031426"/>
          </a:solidFill>
          <a:ln xmlns:a="http://schemas.openxmlformats.org/drawingml/2006/main" w="0">
            <a:solidFill>
              <a:srgbClr val="031426"/>
            </a:solidFill>
            <a:prstDash val="solid"/>
          </a:ln>
        </p:spPr>
      </p:sp>
      <p:sp>
        <p:nvSpPr>
          <p:cNvPr id="32" name="separation-law-copy">
            <a:extLst xmlns:a="http://schemas.openxmlformats.org/drawingml/2006/main">
              <a:ext uri="{FF2B5EF4-FFF2-40B4-BE49-F238E27FC236}">
                <a16:creationId xmlns:a16="http://schemas.microsoft.com/office/drawing/2014/main" id="{DFA0CBBD-B9FB-4926-9E82-D0BD50788873}"/>
              </a:ext>
            </a:extLst>
          </p:cNvPr>
          <p:cNvSpPr>
            <a:spLocks xmlns:a="http://schemas.openxmlformats.org/drawingml/2006/main" noGrp="1"/>
          </p:cNvSpPr>
          <p:nvPr/>
        </p:nvSpPr>
        <p:spPr>
          <a:xfrm xmlns:a="http://schemas.openxmlformats.org/drawingml/2006/main">
            <a:off x="838200" y="5715000"/>
            <a:ext cx="1013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7F1E6"/>
                </a:solidFill>
                <a:latin typeface="DejaVu Serif"/>
                <a:ea typeface="DejaVu Serif"/>
                <a:cs typeface="DejaVu Serif"/>
              </a:defRPr>
            </a:pPr>
            <a:r>
              <a:rPr sz="1500" b="1" i="0">
                <a:solidFill>
                  <a:srgbClr val="F7F1E6"/>
                </a:solidFill>
                <a:latin typeface="DejaVu Serif"/>
                <a:ea typeface="DejaVu Serif"/>
                <a:cs typeface="DejaVu Serif"/>
              </a:rPr>
              <a:t>The claimant may manufacture capability. It may not serve as its own final judge.</a:t>
            </a:r>
          </a:p>
        </p:txBody>
      </p:sp>
    </p:spTree>
    <p:extLst>
      <p:ext uri="{BB962C8B-B14F-4D97-AF65-F5344CB8AC3E}">
        <p14:creationId xmlns:p14="http://schemas.microsoft.com/office/powerpoint/2010/main" val="465313271"/>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Independent proof and Mission Alpha" descr="Frozen SUCCESSOR Ω release undergoing independent deductions that compress Spread into a compact proven Alpha remainder."/>
          <p:cNvPicPr>
            <a:picLocks xmlns:a="http://schemas.openxmlformats.org/drawingml/2006/main" noChangeAspect="1"/>
          </p:cNvPicPr>
          <p:nvPr/>
        </p:nvPicPr>
        <p:blipFill>
          <a:blip xmlns:r="http://schemas.openxmlformats.org/officeDocument/2006/relationships" xmlns:a="http://schemas.openxmlformats.org/drawingml/2006/main" r:embed="Rc993bd110c664f93"/>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of-top-shade">
            <a:extLst xmlns:a="http://schemas.openxmlformats.org/drawingml/2006/main">
              <a:ext uri="{FF2B5EF4-FFF2-40B4-BE49-F238E27FC236}">
                <a16:creationId xmlns:a16="http://schemas.microsoft.com/office/drawing/2014/main" id="{50286800-E4CC-4B98-990F-9807835F6AB9}"/>
              </a:ext>
            </a:extLst>
          </p:cNvPr>
          <p:cNvSpPr>
            <a:spLocks xmlns:a="http://schemas.openxmlformats.org/drawingml/2006/main" noGrp="1"/>
          </p:cNvSpPr>
          <p:nvPr/>
        </p:nvSpPr>
        <p:spPr>
          <a:xfrm xmlns:a="http://schemas.openxmlformats.org/drawingml/2006/main">
            <a:off x="0" y="0"/>
            <a:ext cx="12192000" cy="2038350"/>
          </a:xfrm>
          <a:prstGeom xmlns:a="http://schemas.openxmlformats.org/drawingml/2006/main" prst="rect">
            <a:avLst/>
          </a:prstGeom>
          <a:solidFill xmlns:a="http://schemas.openxmlformats.org/drawingml/2006/main">
            <a:srgbClr val="000000">
              <a:alpha val="85098"/>
            </a:srgbClr>
          </a:solidFill>
          <a:ln xmlns:a="http://schemas.openxmlformats.org/drawingml/2006/main" w="0">
            <a:noFill/>
            <a:prstDash val="solid"/>
          </a:ln>
        </p:spPr>
      </p:sp>
      <p:sp>
        <p:nvSpPr>
          <p:cNvPr id="3" name="proof-title">
            <a:extLst xmlns:a="http://schemas.openxmlformats.org/drawingml/2006/main">
              <a:ext uri="{FF2B5EF4-FFF2-40B4-BE49-F238E27FC236}">
                <a16:creationId xmlns:a16="http://schemas.microsoft.com/office/drawing/2014/main" id="{16EA6ED4-D691-4603-B58B-A9FC24DCF785}"/>
              </a:ext>
            </a:extLst>
          </p:cNvPr>
          <p:cNvSpPr>
            <a:spLocks xmlns:a="http://schemas.openxmlformats.org/drawingml/2006/main" noGrp="1"/>
          </p:cNvSpPr>
          <p:nvPr/>
        </p:nvSpPr>
        <p:spPr>
          <a:xfrm xmlns:a="http://schemas.openxmlformats.org/drawingml/2006/main">
            <a:off x="609600" y="457200"/>
            <a:ext cx="8382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F7F1E6"/>
                </a:solidFill>
                <a:latin typeface="DejaVu Serif"/>
                <a:ea typeface="DejaVu Serif"/>
                <a:cs typeface="DejaVu Serif"/>
              </a:defRPr>
            </a:pPr>
            <a:r>
              <a:rPr sz="3300" b="1" i="0">
                <a:solidFill>
                  <a:srgbClr val="F7F1E6"/>
                </a:solidFill>
                <a:latin typeface="DejaVu Serif"/>
                <a:ea typeface="DejaVu Serif"/>
                <a:cs typeface="DejaVu Serif"/>
              </a:rPr>
              <a:t>Proof examines one frozen release</a:t>
            </a:r>
          </a:p>
          <a:p xmlns:a="http://schemas.openxmlformats.org/drawingml/2006/main">
            <a:pPr algn="l">
              <a:defRPr sz="3300" b="1" i="0">
                <a:solidFill>
                  <a:srgbClr val="F7F1E6"/>
                </a:solidFill>
                <a:latin typeface="DejaVu Serif"/>
                <a:ea typeface="DejaVu Serif"/>
                <a:cs typeface="DejaVu Serif"/>
              </a:defRPr>
            </a:pPr>
            <a:r>
              <a:rPr sz="3300" b="1" i="0">
                <a:solidFill>
                  <a:srgbClr val="F7F1E6"/>
                </a:solidFill>
                <a:latin typeface="DejaVu Serif"/>
                <a:ea typeface="DejaVu Serif"/>
                <a:cs typeface="DejaVu Serif"/>
              </a:rPr>
              <a:t>outside the claimant’s control.</a:t>
            </a:r>
          </a:p>
        </p:txBody>
      </p:sp>
      <p:sp>
        <p:nvSpPr>
          <p:cNvPr id="4" name="proof-sub">
            <a:extLst xmlns:a="http://schemas.openxmlformats.org/drawingml/2006/main">
              <a:ext uri="{FF2B5EF4-FFF2-40B4-BE49-F238E27FC236}">
                <a16:creationId xmlns:a16="http://schemas.microsoft.com/office/drawing/2014/main" id="{166E8BA5-54E3-4890-B780-C93E42316ECA}"/>
              </a:ext>
            </a:extLst>
          </p:cNvPr>
          <p:cNvSpPr>
            <a:spLocks xmlns:a="http://schemas.openxmlformats.org/drawingml/2006/main" noGrp="1"/>
          </p:cNvSpPr>
          <p:nvPr/>
        </p:nvSpPr>
        <p:spPr>
          <a:xfrm xmlns:a="http://schemas.openxmlformats.org/drawingml/2006/main">
            <a:off x="628650" y="15811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E7C978"/>
                </a:solidFill>
                <a:latin typeface="DejaVu Sans"/>
                <a:ea typeface="DejaVu Sans"/>
                <a:cs typeface="DejaVu Sans"/>
              </a:defRPr>
            </a:pPr>
            <a:r>
              <a:rPr sz="1350" b="1" i="0">
                <a:solidFill>
                  <a:srgbClr val="E7C978"/>
                </a:solidFill>
                <a:latin typeface="DejaVu Sans"/>
                <a:ea typeface="DejaVu Sans"/>
                <a:cs typeface="DejaVu Sans"/>
              </a:rPr>
              <a:t>Fresh protected evidence · precommitted gates · explicit scope and expiry</a:t>
            </a:r>
          </a:p>
        </p:txBody>
      </p:sp>
      <p:sp>
        <p:nvSpPr>
          <p:cNvPr id="5" name="proof-tag-0">
            <a:extLst xmlns:a="http://schemas.openxmlformats.org/drawingml/2006/main">
              <a:ext uri="{FF2B5EF4-FFF2-40B4-BE49-F238E27FC236}">
                <a16:creationId xmlns:a16="http://schemas.microsoft.com/office/drawing/2014/main" id="{E8CE1D8C-7DAF-47FD-BB24-FE5AF58A102A}"/>
              </a:ext>
            </a:extLst>
          </p:cNvPr>
          <p:cNvSpPr>
            <a:spLocks xmlns:a="http://schemas.openxmlformats.org/drawingml/2006/main" noGrp="1"/>
          </p:cNvSpPr>
          <p:nvPr/>
        </p:nvSpPr>
        <p:spPr>
          <a:xfrm xmlns:a="http://schemas.openxmlformats.org/drawingml/2006/main">
            <a:off x="514350" y="5867400"/>
            <a:ext cx="3562350" cy="571500"/>
          </a:xfrm>
          <a:prstGeom xmlns:a="http://schemas.openxmlformats.org/drawingml/2006/main" prst="roundRect">
            <a:avLst>
              <a:gd name="adj" fmla="val 15000"/>
            </a:avLst>
          </a:prstGeom>
          <a:solidFill xmlns:a="http://schemas.openxmlformats.org/drawingml/2006/main">
            <a:srgbClr val="031426">
              <a:alpha val="90980"/>
            </a:srgbClr>
          </a:solidFill>
          <a:ln xmlns:a="http://schemas.openxmlformats.org/drawingml/2006/main" w="9525">
            <a:solidFill>
              <a:srgbClr val="C8942A"/>
            </a:solidFill>
            <a:prstDash val="solid"/>
          </a:ln>
        </p:spPr>
      </p:sp>
      <p:sp>
        <p:nvSpPr>
          <p:cNvPr id="6" name="proof-tag-num-0">
            <a:extLst xmlns:a="http://schemas.openxmlformats.org/drawingml/2006/main">
              <a:ext uri="{FF2B5EF4-FFF2-40B4-BE49-F238E27FC236}">
                <a16:creationId xmlns:a16="http://schemas.microsoft.com/office/drawing/2014/main" id="{F6A26F34-EA69-45B7-957E-7BA8D889AD16}"/>
              </a:ext>
            </a:extLst>
          </p:cNvPr>
          <p:cNvSpPr>
            <a:spLocks xmlns:a="http://schemas.openxmlformats.org/drawingml/2006/main" noGrp="1"/>
          </p:cNvSpPr>
          <p:nvPr/>
        </p:nvSpPr>
        <p:spPr>
          <a:xfrm xmlns:a="http://schemas.openxmlformats.org/drawingml/2006/main">
            <a:off x="685800" y="59626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E7C978"/>
                </a:solidFill>
                <a:latin typeface="DejaVu Sans"/>
                <a:ea typeface="DejaVu Sans"/>
                <a:cs typeface="DejaVu Sans"/>
              </a:defRPr>
            </a:pPr>
            <a:r>
              <a:rPr sz="1650" b="1" i="0">
                <a:solidFill>
                  <a:srgbClr val="E7C978"/>
                </a:solidFill>
                <a:latin typeface="DejaVu Sans"/>
                <a:ea typeface="DejaVu Sans"/>
                <a:cs typeface="DejaVu Sans"/>
              </a:rPr>
              <a:t>1</a:t>
            </a:r>
          </a:p>
        </p:txBody>
      </p:sp>
      <p:sp>
        <p:nvSpPr>
          <p:cNvPr id="7" name="proof-tag-copy-0">
            <a:extLst xmlns:a="http://schemas.openxmlformats.org/drawingml/2006/main">
              <a:ext uri="{FF2B5EF4-FFF2-40B4-BE49-F238E27FC236}">
                <a16:creationId xmlns:a16="http://schemas.microsoft.com/office/drawing/2014/main" id="{8F47A3AA-4750-46F1-981D-58A2757B525B}"/>
              </a:ext>
            </a:extLst>
          </p:cNvPr>
          <p:cNvSpPr>
            <a:spLocks xmlns:a="http://schemas.openxmlformats.org/drawingml/2006/main" noGrp="1"/>
          </p:cNvSpPr>
          <p:nvPr/>
        </p:nvSpPr>
        <p:spPr>
          <a:xfrm xmlns:a="http://schemas.openxmlformats.org/drawingml/2006/main">
            <a:off x="1143000" y="596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Freeze exact release</a:t>
            </a:r>
          </a:p>
        </p:txBody>
      </p:sp>
      <p:sp>
        <p:nvSpPr>
          <p:cNvPr id="8" name="proof-tag-1">
            <a:extLst xmlns:a="http://schemas.openxmlformats.org/drawingml/2006/main">
              <a:ext uri="{FF2B5EF4-FFF2-40B4-BE49-F238E27FC236}">
                <a16:creationId xmlns:a16="http://schemas.microsoft.com/office/drawing/2014/main" id="{348E0D47-40BF-4EBC-9206-417B63B69099}"/>
              </a:ext>
            </a:extLst>
          </p:cNvPr>
          <p:cNvSpPr>
            <a:spLocks xmlns:a="http://schemas.openxmlformats.org/drawingml/2006/main" noGrp="1"/>
          </p:cNvSpPr>
          <p:nvPr/>
        </p:nvSpPr>
        <p:spPr>
          <a:xfrm xmlns:a="http://schemas.openxmlformats.org/drawingml/2006/main">
            <a:off x="4343400" y="5867400"/>
            <a:ext cx="3562350" cy="571500"/>
          </a:xfrm>
          <a:prstGeom xmlns:a="http://schemas.openxmlformats.org/drawingml/2006/main" prst="roundRect">
            <a:avLst>
              <a:gd name="adj" fmla="val 15000"/>
            </a:avLst>
          </a:prstGeom>
          <a:solidFill xmlns:a="http://schemas.openxmlformats.org/drawingml/2006/main">
            <a:srgbClr val="031426">
              <a:alpha val="90980"/>
            </a:srgbClr>
          </a:solidFill>
          <a:ln xmlns:a="http://schemas.openxmlformats.org/drawingml/2006/main" w="9525">
            <a:solidFill>
              <a:srgbClr val="C8942A"/>
            </a:solidFill>
            <a:prstDash val="solid"/>
          </a:ln>
        </p:spPr>
      </p:sp>
      <p:sp>
        <p:nvSpPr>
          <p:cNvPr id="9" name="proof-tag-num-1">
            <a:extLst xmlns:a="http://schemas.openxmlformats.org/drawingml/2006/main">
              <a:ext uri="{FF2B5EF4-FFF2-40B4-BE49-F238E27FC236}">
                <a16:creationId xmlns:a16="http://schemas.microsoft.com/office/drawing/2014/main" id="{96823A35-F699-4E2C-88C7-5356E1F85B57}"/>
              </a:ext>
            </a:extLst>
          </p:cNvPr>
          <p:cNvSpPr>
            <a:spLocks xmlns:a="http://schemas.openxmlformats.org/drawingml/2006/main" noGrp="1"/>
          </p:cNvSpPr>
          <p:nvPr/>
        </p:nvSpPr>
        <p:spPr>
          <a:xfrm xmlns:a="http://schemas.openxmlformats.org/drawingml/2006/main">
            <a:off x="4514850" y="59626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E7C978"/>
                </a:solidFill>
                <a:latin typeface="DejaVu Sans"/>
                <a:ea typeface="DejaVu Sans"/>
                <a:cs typeface="DejaVu Sans"/>
              </a:defRPr>
            </a:pPr>
            <a:r>
              <a:rPr sz="1650" b="1" i="0">
                <a:solidFill>
                  <a:srgbClr val="E7C978"/>
                </a:solidFill>
                <a:latin typeface="DejaVu Sans"/>
                <a:ea typeface="DejaVu Sans"/>
                <a:cs typeface="DejaVu Sans"/>
              </a:rPr>
              <a:t>2</a:t>
            </a:r>
          </a:p>
        </p:txBody>
      </p:sp>
      <p:sp>
        <p:nvSpPr>
          <p:cNvPr id="10" name="proof-tag-copy-1">
            <a:extLst xmlns:a="http://schemas.openxmlformats.org/drawingml/2006/main">
              <a:ext uri="{FF2B5EF4-FFF2-40B4-BE49-F238E27FC236}">
                <a16:creationId xmlns:a16="http://schemas.microsoft.com/office/drawing/2014/main" id="{A81009E6-5A34-41DB-AA69-01DF7D9EAB9B}"/>
              </a:ext>
            </a:extLst>
          </p:cNvPr>
          <p:cNvSpPr>
            <a:spLocks xmlns:a="http://schemas.openxmlformats.org/drawingml/2006/main" noGrp="1"/>
          </p:cNvSpPr>
          <p:nvPr/>
        </p:nvSpPr>
        <p:spPr>
          <a:xfrm xmlns:a="http://schemas.openxmlformats.org/drawingml/2006/main">
            <a:off x="4972050" y="596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Challenge with fresh evidence</a:t>
            </a:r>
          </a:p>
        </p:txBody>
      </p:sp>
      <p:sp>
        <p:nvSpPr>
          <p:cNvPr id="11" name="proof-tag-2">
            <a:extLst xmlns:a="http://schemas.openxmlformats.org/drawingml/2006/main">
              <a:ext uri="{FF2B5EF4-FFF2-40B4-BE49-F238E27FC236}">
                <a16:creationId xmlns:a16="http://schemas.microsoft.com/office/drawing/2014/main" id="{D80FAF32-6725-4A97-97EE-F104B58CE69D}"/>
              </a:ext>
            </a:extLst>
          </p:cNvPr>
          <p:cNvSpPr>
            <a:spLocks xmlns:a="http://schemas.openxmlformats.org/drawingml/2006/main" noGrp="1"/>
          </p:cNvSpPr>
          <p:nvPr/>
        </p:nvSpPr>
        <p:spPr>
          <a:xfrm xmlns:a="http://schemas.openxmlformats.org/drawingml/2006/main">
            <a:off x="8172450" y="5867400"/>
            <a:ext cx="3562350" cy="571500"/>
          </a:xfrm>
          <a:prstGeom xmlns:a="http://schemas.openxmlformats.org/drawingml/2006/main" prst="roundRect">
            <a:avLst>
              <a:gd name="adj" fmla="val 15000"/>
            </a:avLst>
          </a:prstGeom>
          <a:solidFill xmlns:a="http://schemas.openxmlformats.org/drawingml/2006/main">
            <a:srgbClr val="031426">
              <a:alpha val="90980"/>
            </a:srgbClr>
          </a:solidFill>
          <a:ln xmlns:a="http://schemas.openxmlformats.org/drawingml/2006/main" w="9525">
            <a:solidFill>
              <a:srgbClr val="C8942A"/>
            </a:solidFill>
            <a:prstDash val="solid"/>
          </a:ln>
        </p:spPr>
      </p:sp>
      <p:sp>
        <p:nvSpPr>
          <p:cNvPr id="12" name="proof-tag-num-2">
            <a:extLst xmlns:a="http://schemas.openxmlformats.org/drawingml/2006/main">
              <a:ext uri="{FF2B5EF4-FFF2-40B4-BE49-F238E27FC236}">
                <a16:creationId xmlns:a16="http://schemas.microsoft.com/office/drawing/2014/main" id="{15249F8A-9C19-4F7C-BCE1-510E97E8F063}"/>
              </a:ext>
            </a:extLst>
          </p:cNvPr>
          <p:cNvSpPr>
            <a:spLocks xmlns:a="http://schemas.openxmlformats.org/drawingml/2006/main" noGrp="1"/>
          </p:cNvSpPr>
          <p:nvPr/>
        </p:nvSpPr>
        <p:spPr>
          <a:xfrm xmlns:a="http://schemas.openxmlformats.org/drawingml/2006/main">
            <a:off x="8343900" y="59626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E7C978"/>
                </a:solidFill>
                <a:latin typeface="DejaVu Sans"/>
                <a:ea typeface="DejaVu Sans"/>
                <a:cs typeface="DejaVu Sans"/>
              </a:defRPr>
            </a:pPr>
            <a:r>
              <a:rPr sz="1650" b="1" i="0">
                <a:solidFill>
                  <a:srgbClr val="E7C978"/>
                </a:solidFill>
                <a:latin typeface="DejaVu Sans"/>
                <a:ea typeface="DejaVu Sans"/>
                <a:cs typeface="DejaVu Sans"/>
              </a:rPr>
              <a:t>3</a:t>
            </a:r>
          </a:p>
        </p:txBody>
      </p:sp>
      <p:sp>
        <p:nvSpPr>
          <p:cNvPr id="13" name="proof-tag-copy-2">
            <a:extLst xmlns:a="http://schemas.openxmlformats.org/drawingml/2006/main">
              <a:ext uri="{FF2B5EF4-FFF2-40B4-BE49-F238E27FC236}">
                <a16:creationId xmlns:a16="http://schemas.microsoft.com/office/drawing/2014/main" id="{E1F1C7A3-B7BE-4EC5-BB95-DB6B229E8FB7}"/>
              </a:ext>
            </a:extLst>
          </p:cNvPr>
          <p:cNvSpPr>
            <a:spLocks xmlns:a="http://schemas.openxmlformats.org/drawingml/2006/main" noGrp="1"/>
          </p:cNvSpPr>
          <p:nvPr/>
        </p:nvSpPr>
        <p:spPr>
          <a:xfrm xmlns:a="http://schemas.openxmlformats.org/drawingml/2006/main">
            <a:off x="8801100" y="596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Issue proof — or failure — receipt</a:t>
            </a:r>
          </a:p>
        </p:txBody>
      </p:sp>
      <p:sp>
        <p:nvSpPr>
          <p:cNvPr id="14" name="proof-i3-band">
            <a:extLst xmlns:a="http://schemas.openxmlformats.org/drawingml/2006/main">
              <a:ext uri="{FF2B5EF4-FFF2-40B4-BE49-F238E27FC236}">
                <a16:creationId xmlns:a16="http://schemas.microsoft.com/office/drawing/2014/main" id="{B42B34B5-858B-4BD9-94DD-C56DB6D27331}"/>
              </a:ext>
            </a:extLst>
          </p:cNvPr>
          <p:cNvSpPr>
            <a:spLocks xmlns:a="http://schemas.openxmlformats.org/drawingml/2006/main" noGrp="1"/>
          </p:cNvSpPr>
          <p:nvPr/>
        </p:nvSpPr>
        <p:spPr>
          <a:xfrm xmlns:a="http://schemas.openxmlformats.org/drawingml/2006/main">
            <a:off x="514350" y="5391150"/>
            <a:ext cx="11163300" cy="361950"/>
          </a:xfrm>
          <a:prstGeom xmlns:a="http://schemas.openxmlformats.org/drawingml/2006/main" prst="rect">
            <a:avLst/>
          </a:prstGeom>
          <a:solidFill xmlns:a="http://schemas.openxmlformats.org/drawingml/2006/main">
            <a:srgbClr val="000000">
              <a:alpha val="78824"/>
            </a:srgbClr>
          </a:solidFill>
          <a:ln xmlns:a="http://schemas.openxmlformats.org/drawingml/2006/main" w="0">
            <a:noFill/>
            <a:prstDash val="solid"/>
          </a:ln>
        </p:spPr>
      </p:sp>
      <p:sp>
        <p:nvSpPr>
          <p:cNvPr id="15" name="proof-i3">
            <a:extLst xmlns:a="http://schemas.openxmlformats.org/drawingml/2006/main">
              <a:ext uri="{FF2B5EF4-FFF2-40B4-BE49-F238E27FC236}">
                <a16:creationId xmlns:a16="http://schemas.microsoft.com/office/drawing/2014/main" id="{5BADABDD-DA2D-4175-B388-2C89444658D8}"/>
              </a:ext>
            </a:extLst>
          </p:cNvPr>
          <p:cNvSpPr>
            <a:spLocks xmlns:a="http://schemas.openxmlformats.org/drawingml/2006/main" noGrp="1"/>
          </p:cNvSpPr>
          <p:nvPr/>
        </p:nvSpPr>
        <p:spPr>
          <a:xfrm xmlns:a="http://schemas.openxmlformats.org/drawingml/2006/main">
            <a:off x="685800" y="54483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i="1">
                <a:solidFill>
                  <a:srgbClr val="DCE3EA"/>
                </a:solidFill>
                <a:latin typeface="DejaVu Sans"/>
                <a:ea typeface="DejaVu Sans"/>
                <a:cs typeface="DejaVu Sans"/>
              </a:defRPr>
            </a:pPr>
            <a:r>
              <a:rPr sz="1050" b="0" i="1">
                <a:solidFill>
                  <a:srgbClr val="DCE3EA"/>
                </a:solidFill>
                <a:latin typeface="DejaVu Sans"/>
                <a:ea typeface="DejaVu Sans"/>
                <a:cs typeface="DejaVu Sans"/>
              </a:rPr>
              <a:t>I3 is the stated minimum for public “independently proven” claims or consequential authority, unless an approved equivalent exists.</a:t>
            </a:r>
          </a:p>
        </p:txBody>
      </p:sp>
    </p:spTree>
    <p:extLst>
      <p:ext uri="{BB962C8B-B14F-4D97-AF65-F5344CB8AC3E}">
        <p14:creationId xmlns:p14="http://schemas.microsoft.com/office/powerpoint/2010/main" val="1757022187"/>
      </p:ext>
    </p:extLst>
  </p:cSld>
</p:sld>
</file>

<file path=ppt/slides/slide8.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19" name="eyebrow-MONTREAL.A">
            <a:extLst xmlns:a="http://schemas.openxmlformats.org/drawingml/2006/main">
              <a:ext uri="{FF2B5EF4-FFF2-40B4-BE49-F238E27FC236}">
                <a16:creationId xmlns:a16="http://schemas.microsoft.com/office/drawing/2014/main" id="{E4CC20B7-0D31-49EE-9B60-AEF5B4E4E9C6}"/>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8">
            <a:extLst xmlns:a="http://schemas.openxmlformats.org/drawingml/2006/main">
              <a:ext uri="{FF2B5EF4-FFF2-40B4-BE49-F238E27FC236}">
                <a16:creationId xmlns:a16="http://schemas.microsoft.com/office/drawing/2014/main" id="{00724DC0-AEFF-439E-A46F-369B8E7DB764}"/>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8">
            <a:extLst xmlns:a="http://schemas.openxmlformats.org/drawingml/2006/main">
              <a:ext uri="{FF2B5EF4-FFF2-40B4-BE49-F238E27FC236}">
                <a16:creationId xmlns:a16="http://schemas.microsoft.com/office/drawing/2014/main" id="{EF087501-AF80-4019-B475-E442C6DF1543}"/>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8">
            <a:extLst xmlns:a="http://schemas.openxmlformats.org/drawingml/2006/main">
              <a:ext uri="{FF2B5EF4-FFF2-40B4-BE49-F238E27FC236}">
                <a16:creationId xmlns:a16="http://schemas.microsoft.com/office/drawing/2014/main" id="{E8F15FAD-3CF7-4DCB-A6A3-2C59E2482163}"/>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8">
            <a:extLst xmlns:a="http://schemas.openxmlformats.org/drawingml/2006/main">
              <a:ext uri="{FF2B5EF4-FFF2-40B4-BE49-F238E27FC236}">
                <a16:creationId xmlns:a16="http://schemas.microsoft.com/office/drawing/2014/main" id="{F4484348-931B-4759-9A83-8F534B8F7C97}"/>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08</a:t>
            </a:r>
          </a:p>
        </p:txBody>
      </p:sp>
      <p:sp>
        <p:nvSpPr>
          <p:cNvPr id="6" name="title-8">
            <a:extLst xmlns:a="http://schemas.openxmlformats.org/drawingml/2006/main">
              <a:ext uri="{FF2B5EF4-FFF2-40B4-BE49-F238E27FC236}">
                <a16:creationId xmlns:a16="http://schemas.microsoft.com/office/drawing/2014/main" id="{6A1814FF-CFCB-41FA-B633-1D8F9FB0A99D}"/>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071B31"/>
                </a:solidFill>
                <a:latin typeface="DejaVu Serif"/>
                <a:ea typeface="DejaVu Serif"/>
                <a:cs typeface="DejaVu Serif"/>
              </a:defRPr>
            </a:pPr>
            <a:r>
              <a:rPr sz="2775" b="1" i="0">
                <a:solidFill>
                  <a:srgbClr val="071B31"/>
                </a:solidFill>
                <a:latin typeface="DejaVu Serif"/>
                <a:ea typeface="DejaVu Serif"/>
                <a:cs typeface="DejaVu Serif"/>
              </a:rPr>
              <a:t>Authority remains narrower than capability — and contracts with drift.</a:t>
            </a:r>
          </a:p>
        </p:txBody>
      </p:sp>
      <p:sp>
        <p:nvSpPr>
          <p:cNvPr id="7" name="title-accent-8">
            <a:extLst xmlns:a="http://schemas.openxmlformats.org/drawingml/2006/main">
              <a:ext uri="{FF2B5EF4-FFF2-40B4-BE49-F238E27FC236}">
                <a16:creationId xmlns:a16="http://schemas.microsoft.com/office/drawing/2014/main" id="{74BB3D1B-6267-4702-8F77-2E1BF10E4E68}"/>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capability-shell">
            <a:extLst xmlns:a="http://schemas.openxmlformats.org/drawingml/2006/main">
              <a:ext uri="{FF2B5EF4-FFF2-40B4-BE49-F238E27FC236}">
                <a16:creationId xmlns:a16="http://schemas.microsoft.com/office/drawing/2014/main" id="{D76C211E-C6E9-4859-BC11-E035368F1871}"/>
              </a:ext>
            </a:extLst>
          </p:cNvPr>
          <p:cNvSpPr>
            <a:spLocks xmlns:a="http://schemas.openxmlformats.org/drawingml/2006/main" noGrp="1"/>
          </p:cNvSpPr>
          <p:nvPr/>
        </p:nvSpPr>
        <p:spPr>
          <a:xfrm xmlns:a="http://schemas.openxmlformats.org/drawingml/2006/main">
            <a:off x="742950" y="2152650"/>
            <a:ext cx="7524750" cy="3562350"/>
          </a:xfrm>
          <a:prstGeom xmlns:a="http://schemas.openxmlformats.org/drawingml/2006/main" prst="roundRect">
            <a:avLst>
              <a:gd name="adj" fmla="val 4813"/>
            </a:avLst>
          </a:prstGeom>
          <a:solidFill xmlns:a="http://schemas.openxmlformats.org/drawingml/2006/main">
            <a:srgbClr val="DCEBFF"/>
          </a:solidFill>
          <a:ln xmlns:a="http://schemas.openxmlformats.org/drawingml/2006/main" w="19050">
            <a:solidFill>
              <a:srgbClr val="167DFF"/>
            </a:solidFill>
            <a:prstDash val="solid"/>
          </a:ln>
        </p:spPr>
      </p:sp>
      <p:sp>
        <p:nvSpPr>
          <p:cNvPr id="9" name="capability-label">
            <a:extLst xmlns:a="http://schemas.openxmlformats.org/drawingml/2006/main">
              <a:ext uri="{FF2B5EF4-FFF2-40B4-BE49-F238E27FC236}">
                <a16:creationId xmlns:a16="http://schemas.microsoft.com/office/drawing/2014/main" id="{D24B94EF-E6F8-4B61-B702-2AC73C28831D}"/>
              </a:ext>
            </a:extLst>
          </p:cNvPr>
          <p:cNvSpPr>
            <a:spLocks xmlns:a="http://schemas.openxmlformats.org/drawingml/2006/main" noGrp="1"/>
          </p:cNvSpPr>
          <p:nvPr/>
        </p:nvSpPr>
        <p:spPr>
          <a:xfrm xmlns:a="http://schemas.openxmlformats.org/drawingml/2006/main">
            <a:off x="990600" y="2343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167DFF"/>
                </a:solidFill>
                <a:latin typeface="DejaVu Sans"/>
                <a:ea typeface="DejaVu Sans"/>
                <a:cs typeface="DejaVu Sans"/>
              </a:defRPr>
            </a:pPr>
            <a:r>
              <a:rPr sz="1200" b="1" i="0">
                <a:solidFill>
                  <a:srgbClr val="167DFF"/>
                </a:solidFill>
                <a:latin typeface="DejaVu Sans"/>
                <a:ea typeface="DejaVu Sans"/>
                <a:cs typeface="DejaVu Sans"/>
              </a:rPr>
              <a:t>CAPABILITY</a:t>
            </a:r>
          </a:p>
        </p:txBody>
      </p:sp>
      <p:sp>
        <p:nvSpPr>
          <p:cNvPr id="10" name="proof-shell">
            <a:extLst xmlns:a="http://schemas.openxmlformats.org/drawingml/2006/main">
              <a:ext uri="{FF2B5EF4-FFF2-40B4-BE49-F238E27FC236}">
                <a16:creationId xmlns:a16="http://schemas.microsoft.com/office/drawing/2014/main" id="{B2D5DF1F-C556-47BA-9DE0-62EED5FFEA7E}"/>
              </a:ext>
            </a:extLst>
          </p:cNvPr>
          <p:cNvSpPr>
            <a:spLocks xmlns:a="http://schemas.openxmlformats.org/drawingml/2006/main" noGrp="1"/>
          </p:cNvSpPr>
          <p:nvPr/>
        </p:nvSpPr>
        <p:spPr>
          <a:xfrm xmlns:a="http://schemas.openxmlformats.org/drawingml/2006/main">
            <a:off x="1524000" y="2914650"/>
            <a:ext cx="5981700" cy="2247900"/>
          </a:xfrm>
          <a:prstGeom xmlns:a="http://schemas.openxmlformats.org/drawingml/2006/main" prst="roundRect">
            <a:avLst>
              <a:gd name="adj" fmla="val 6780"/>
            </a:avLst>
          </a:prstGeom>
          <a:solidFill xmlns:a="http://schemas.openxmlformats.org/drawingml/2006/main">
            <a:srgbClr val="FFFDF7"/>
          </a:solidFill>
          <a:ln xmlns:a="http://schemas.openxmlformats.org/drawingml/2006/main" w="19050">
            <a:solidFill>
              <a:srgbClr val="071B31"/>
            </a:solidFill>
            <a:prstDash val="solid"/>
          </a:ln>
        </p:spPr>
      </p:sp>
      <p:sp>
        <p:nvSpPr>
          <p:cNvPr id="11" name="proof-boundary-label">
            <a:extLst xmlns:a="http://schemas.openxmlformats.org/drawingml/2006/main">
              <a:ext uri="{FF2B5EF4-FFF2-40B4-BE49-F238E27FC236}">
                <a16:creationId xmlns:a16="http://schemas.microsoft.com/office/drawing/2014/main" id="{F9C39D9C-98E1-40BB-8DF6-6796618D42A0}"/>
              </a:ext>
            </a:extLst>
          </p:cNvPr>
          <p:cNvSpPr>
            <a:spLocks xmlns:a="http://schemas.openxmlformats.org/drawingml/2006/main" noGrp="1"/>
          </p:cNvSpPr>
          <p:nvPr/>
        </p:nvSpPr>
        <p:spPr>
          <a:xfrm xmlns:a="http://schemas.openxmlformats.org/drawingml/2006/main">
            <a:off x="1790700" y="3086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071B31"/>
                </a:solidFill>
                <a:latin typeface="DejaVu Sans"/>
                <a:ea typeface="DejaVu Sans"/>
                <a:cs typeface="DejaVu Sans"/>
              </a:defRPr>
            </a:pPr>
            <a:r>
              <a:rPr sz="1200" b="1" i="0">
                <a:solidFill>
                  <a:srgbClr val="071B31"/>
                </a:solidFill>
                <a:latin typeface="DejaVu Sans"/>
                <a:ea typeface="DejaVu Sans"/>
                <a:cs typeface="DejaVu Sans"/>
              </a:rPr>
              <a:t>CURRENT PROOF BOUNDARY</a:t>
            </a:r>
          </a:p>
        </p:txBody>
      </p:sp>
      <p:sp>
        <p:nvSpPr>
          <p:cNvPr id="12" name="authority-shell">
            <a:extLst xmlns:a="http://schemas.openxmlformats.org/drawingml/2006/main">
              <a:ext uri="{FF2B5EF4-FFF2-40B4-BE49-F238E27FC236}">
                <a16:creationId xmlns:a16="http://schemas.microsoft.com/office/drawing/2014/main" id="{F1AAF2E2-2B55-49A9-975A-1043BAF5D3F8}"/>
              </a:ext>
            </a:extLst>
          </p:cNvPr>
          <p:cNvSpPr>
            <a:spLocks xmlns:a="http://schemas.openxmlformats.org/drawingml/2006/main" noGrp="1"/>
          </p:cNvSpPr>
          <p:nvPr/>
        </p:nvSpPr>
        <p:spPr>
          <a:xfrm xmlns:a="http://schemas.openxmlformats.org/drawingml/2006/main">
            <a:off x="2400300" y="3638550"/>
            <a:ext cx="4171950" cy="1047750"/>
          </a:xfrm>
          <a:prstGeom xmlns:a="http://schemas.openxmlformats.org/drawingml/2006/main" prst="roundRect">
            <a:avLst>
              <a:gd name="adj" fmla="val 12727"/>
            </a:avLst>
          </a:prstGeom>
          <a:solidFill xmlns:a="http://schemas.openxmlformats.org/drawingml/2006/main">
            <a:srgbClr val="031426"/>
          </a:solidFill>
          <a:ln xmlns:a="http://schemas.openxmlformats.org/drawingml/2006/main" w="19050">
            <a:solidFill>
              <a:srgbClr val="C8942A"/>
            </a:solidFill>
            <a:prstDash val="solid"/>
          </a:ln>
        </p:spPr>
      </p:sp>
      <p:sp>
        <p:nvSpPr>
          <p:cNvPr id="13" name="authority-envelope">
            <a:extLst xmlns:a="http://schemas.openxmlformats.org/drawingml/2006/main">
              <a:ext uri="{FF2B5EF4-FFF2-40B4-BE49-F238E27FC236}">
                <a16:creationId xmlns:a16="http://schemas.microsoft.com/office/drawing/2014/main" id="{239BDD79-F384-4086-B953-3C068869C5D5}"/>
              </a:ext>
            </a:extLst>
          </p:cNvPr>
          <p:cNvSpPr>
            <a:spLocks xmlns:a="http://schemas.openxmlformats.org/drawingml/2006/main" noGrp="1"/>
          </p:cNvSpPr>
          <p:nvPr/>
        </p:nvSpPr>
        <p:spPr>
          <a:xfrm xmlns:a="http://schemas.openxmlformats.org/drawingml/2006/main">
            <a:off x="2628900" y="37909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E7C978"/>
                </a:solidFill>
                <a:latin typeface="DejaVu Sans"/>
                <a:ea typeface="DejaVu Sans"/>
                <a:cs typeface="DejaVu Sans"/>
              </a:defRPr>
            </a:pPr>
            <a:r>
              <a:rPr sz="1425" b="1" i="0">
                <a:solidFill>
                  <a:srgbClr val="E7C978"/>
                </a:solidFill>
                <a:latin typeface="DejaVu Sans"/>
                <a:ea typeface="DejaVu Sans"/>
                <a:cs typeface="DejaVu Sans"/>
              </a:rPr>
              <a:t>ACTUAL AUTHORITY ENVELOPE</a:t>
            </a:r>
          </a:p>
        </p:txBody>
      </p:sp>
      <p:sp>
        <p:nvSpPr>
          <p:cNvPr id="14" name="authority-copy">
            <a:extLst xmlns:a="http://schemas.openxmlformats.org/drawingml/2006/main">
              <a:ext uri="{FF2B5EF4-FFF2-40B4-BE49-F238E27FC236}">
                <a16:creationId xmlns:a16="http://schemas.microsoft.com/office/drawing/2014/main" id="{03950374-4D97-4720-A78E-691F72861444}"/>
              </a:ext>
            </a:extLst>
          </p:cNvPr>
          <p:cNvSpPr>
            <a:spLocks xmlns:a="http://schemas.openxmlformats.org/drawingml/2006/main" noGrp="1"/>
          </p:cNvSpPr>
          <p:nvPr/>
        </p:nvSpPr>
        <p:spPr>
          <a:xfrm xmlns:a="http://schemas.openxmlformats.org/drawingml/2006/main">
            <a:off x="2628900" y="42291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i="0">
                <a:solidFill>
                  <a:srgbClr val="F7F1E6"/>
                </a:solidFill>
                <a:latin typeface="DejaVu Sans"/>
                <a:ea typeface="DejaVu Sans"/>
                <a:cs typeface="DejaVu Sans"/>
              </a:defRPr>
            </a:pPr>
            <a:r>
              <a:rPr sz="1200" b="0" i="0">
                <a:solidFill>
                  <a:srgbClr val="F7F1E6"/>
                </a:solidFill>
                <a:latin typeface="DejaVu Sans"/>
                <a:ea typeface="DejaVu Sans"/>
                <a:cs typeface="DejaVu Sans"/>
              </a:rPr>
              <a:t>Customer-granted · scoped · expiring · monitored · reversible</a:t>
            </a:r>
          </a:p>
        </p:txBody>
      </p:sp>
      <p:sp>
        <p:nvSpPr>
          <p:cNvPr id="15" name="drift-arrow">
            <a:extLst xmlns:a="http://schemas.openxmlformats.org/drawingml/2006/main">
              <a:ext uri="{FF2B5EF4-FFF2-40B4-BE49-F238E27FC236}">
                <a16:creationId xmlns:a16="http://schemas.microsoft.com/office/drawing/2014/main" id="{4B5714BF-4CB4-45AE-959B-A8BE98B956D1}"/>
              </a:ext>
            </a:extLst>
          </p:cNvPr>
          <p:cNvSpPr>
            <a:spLocks xmlns:a="http://schemas.openxmlformats.org/drawingml/2006/main" noGrp="1"/>
          </p:cNvSpPr>
          <p:nvPr/>
        </p:nvSpPr>
        <p:spPr>
          <a:xfrm xmlns:a="http://schemas.openxmlformats.org/drawingml/2006/main">
            <a:off x="8572500" y="3067050"/>
            <a:ext cx="72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350" b="1" i="0">
                <a:solidFill>
                  <a:srgbClr val="D06A2C"/>
                </a:solidFill>
                <a:latin typeface="DejaVu Sans"/>
                <a:ea typeface="DejaVu Sans"/>
                <a:cs typeface="DejaVu Sans"/>
              </a:defRPr>
            </a:pPr>
            <a:r>
              <a:rPr sz="4350" b="1" i="0">
                <a:solidFill>
                  <a:srgbClr val="D06A2C"/>
                </a:solidFill>
                <a:latin typeface="DejaVu Sans"/>
                <a:ea typeface="DejaVu Sans"/>
                <a:cs typeface="DejaVu Sans"/>
              </a:rPr>
              <a:t>←</a:t>
            </a:r>
          </a:p>
        </p:txBody>
      </p:sp>
      <p:sp>
        <p:nvSpPr>
          <p:cNvPr id="16" name="drift-title">
            <a:extLst xmlns:a="http://schemas.openxmlformats.org/drawingml/2006/main">
              <a:ext uri="{FF2B5EF4-FFF2-40B4-BE49-F238E27FC236}">
                <a16:creationId xmlns:a16="http://schemas.microsoft.com/office/drawing/2014/main" id="{1703F363-0BEE-423D-9DF5-4512C0F4B19C}"/>
              </a:ext>
            </a:extLst>
          </p:cNvPr>
          <p:cNvSpPr>
            <a:spLocks xmlns:a="http://schemas.openxmlformats.org/drawingml/2006/main" noGrp="1"/>
          </p:cNvSpPr>
          <p:nvPr/>
        </p:nvSpPr>
        <p:spPr>
          <a:xfrm xmlns:a="http://schemas.openxmlformats.org/drawingml/2006/main">
            <a:off x="9391650" y="2876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D06A2C"/>
                </a:solidFill>
                <a:latin typeface="DejaVu Sans"/>
                <a:ea typeface="DejaVu Sans"/>
                <a:cs typeface="DejaVu Sans"/>
              </a:defRPr>
            </a:pPr>
            <a:r>
              <a:rPr sz="1200" b="1" i="0">
                <a:solidFill>
                  <a:srgbClr val="D06A2C"/>
                </a:solidFill>
                <a:latin typeface="DejaVu Sans"/>
                <a:ea typeface="DejaVu Sans"/>
                <a:cs typeface="DejaVu Sans"/>
              </a:rPr>
              <a:t>DRIFT OR IMPAIRMENT</a:t>
            </a:r>
          </a:p>
        </p:txBody>
      </p:sp>
      <p:sp>
        <p:nvSpPr>
          <p:cNvPr id="17" name="drift-copy">
            <a:extLst xmlns:a="http://schemas.openxmlformats.org/drawingml/2006/main">
              <a:ext uri="{FF2B5EF4-FFF2-40B4-BE49-F238E27FC236}">
                <a16:creationId xmlns:a16="http://schemas.microsoft.com/office/drawing/2014/main" id="{BBB4388E-6328-41C7-88A0-CAEE9BEA42E4}"/>
              </a:ext>
            </a:extLst>
          </p:cNvPr>
          <p:cNvSpPr>
            <a:spLocks xmlns:a="http://schemas.openxmlformats.org/drawingml/2006/main" noGrp="1"/>
          </p:cNvSpPr>
          <p:nvPr/>
        </p:nvSpPr>
        <p:spPr>
          <a:xfrm xmlns:a="http://schemas.openxmlformats.org/drawingml/2006/main">
            <a:off x="9391650" y="335280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71B31"/>
                </a:solidFill>
                <a:latin typeface="DejaVu Serif"/>
                <a:ea typeface="DejaVu Serif"/>
                <a:cs typeface="DejaVu Serif"/>
              </a:defRPr>
            </a:pPr>
            <a:r>
              <a:rPr sz="1500" b="1" i="0">
                <a:solidFill>
                  <a:srgbClr val="071B31"/>
                </a:solidFill>
                <a:latin typeface="DejaVu Serif"/>
                <a:ea typeface="DejaVu Serif"/>
                <a:cs typeface="DejaVu Serif"/>
              </a:rPr>
              <a:t>Contract or suspend authority.</a:t>
            </a:r>
          </a:p>
          <a:p xmlns:a="http://schemas.openxmlformats.org/drawingml/2006/main">
            <a:pPr algn="l">
              <a:defRPr sz="1500" b="1" i="0">
                <a:solidFill>
                  <a:srgbClr val="071B31"/>
                </a:solidFill>
                <a:latin typeface="DejaVu Serif"/>
                <a:ea typeface="DejaVu Serif"/>
                <a:cs typeface="DejaVu Serif"/>
              </a:defRPr>
            </a:pPr>
            <a:r>
              <a:rPr sz="1500" b="1" i="0">
                <a:solidFill>
                  <a:srgbClr val="071B31"/>
                </a:solidFill>
                <a:latin typeface="DejaVu Serif"/>
                <a:ea typeface="DejaVu Serif"/>
                <a:cs typeface="DejaVu Serif"/>
              </a:rPr>
              <a:t>Preserve evidence.</a:t>
            </a:r>
          </a:p>
          <a:p xmlns:a="http://schemas.openxmlformats.org/drawingml/2006/main">
            <a:pPr algn="l">
              <a:defRPr sz="1500" b="1" i="0">
                <a:solidFill>
                  <a:srgbClr val="071B31"/>
                </a:solidFill>
                <a:latin typeface="DejaVu Serif"/>
                <a:ea typeface="DejaVu Serif"/>
                <a:cs typeface="DejaVu Serif"/>
              </a:defRPr>
            </a:pPr>
            <a:r>
              <a:rPr sz="1500" b="1" i="0">
                <a:solidFill>
                  <a:srgbClr val="071B31"/>
                </a:solidFill>
                <a:latin typeface="DejaVu Serif"/>
                <a:ea typeface="DejaVu Serif"/>
                <a:cs typeface="DejaVu Serif"/>
              </a:rPr>
              <a:t>Re-prove or retire.</a:t>
            </a:r>
          </a:p>
        </p:txBody>
      </p:sp>
      <p:sp>
        <p:nvSpPr>
          <p:cNvPr id="18" name="authority-law">
            <a:extLst xmlns:a="http://schemas.openxmlformats.org/drawingml/2006/main">
              <a:ext uri="{FF2B5EF4-FFF2-40B4-BE49-F238E27FC236}">
                <a16:creationId xmlns:a16="http://schemas.microsoft.com/office/drawing/2014/main" id="{B947DF0B-6364-4567-AABB-4B17F6272E37}"/>
              </a:ext>
            </a:extLst>
          </p:cNvPr>
          <p:cNvSpPr>
            <a:spLocks xmlns:a="http://schemas.openxmlformats.org/drawingml/2006/main" noGrp="1"/>
          </p:cNvSpPr>
          <p:nvPr/>
        </p:nvSpPr>
        <p:spPr>
          <a:xfrm xmlns:a="http://schemas.openxmlformats.org/drawingml/2006/main">
            <a:off x="742950" y="59245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071B31"/>
                </a:solidFill>
                <a:latin typeface="DejaVu Sans"/>
                <a:ea typeface="DejaVu Sans"/>
                <a:cs typeface="DejaVu Sans"/>
              </a:defRPr>
            </a:pPr>
            <a:r>
              <a:rPr sz="1500" b="1" i="0">
                <a:solidFill>
                  <a:srgbClr val="071B31"/>
                </a:solidFill>
                <a:latin typeface="DejaVu Sans"/>
                <a:ea typeface="DejaVu Sans"/>
                <a:cs typeface="DejaVu Sans"/>
              </a:rPr>
              <a:t>Proof defines the maximum justifiable boundary. Governance grants actual authority. External controls enforce it.</a:t>
            </a:r>
          </a:p>
        </p:txBody>
      </p:sp>
    </p:spTree>
    <p:extLst>
      <p:ext uri="{BB962C8B-B14F-4D97-AF65-F5344CB8AC3E}">
        <p14:creationId xmlns:p14="http://schemas.microsoft.com/office/powerpoint/2010/main" val="1136549216"/>
      </p:ext>
    </p:extLst>
  </p:cSld>
</p:sld>
</file>

<file path=ppt/slides/slide9.xml><?xml version="1.0" encoding="utf-8"?>
<p:sld xmlns:p="http://schemas.openxmlformats.org/presentationml/2006/main">
  <p:cSld>
    <p:bg>
      <p:bgPr>
        <a:solidFill xmlns:a="http://schemas.openxmlformats.org/drawingml/2006/main">
          <a:srgbClr val="031426"/>
        </a:solidFill>
      </p:bgPr>
    </p:bg>
    <p:spTree>
      <p:nvGrpSpPr>
        <p:cNvPr id="1" name=""/>
        <p:cNvGrpSpPr/>
        <p:nvPr/>
      </p:nvGrpSpPr>
      <p:grpSpPr>
        <a:xfrm xmlns:a="http://schemas.openxmlformats.org/drawingml/2006/main"/>
      </p:grpSpPr>
      <p:sp>
        <p:nvSpPr>
          <p:cNvPr id="22" name="eyebrow-MONTREAL.A">
            <a:extLst xmlns:a="http://schemas.openxmlformats.org/drawingml/2006/main">
              <a:ext uri="{FF2B5EF4-FFF2-40B4-BE49-F238E27FC236}">
                <a16:creationId xmlns:a16="http://schemas.microsoft.com/office/drawing/2014/main" id="{1E30B6B2-9AC6-4AEC-A358-08BB2DA0DB03}"/>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E7C978"/>
                </a:solidFill>
                <a:latin typeface="DejaVu Sans"/>
                <a:ea typeface="DejaVu Sans"/>
                <a:cs typeface="DejaVu Sans"/>
              </a:defRPr>
            </a:pPr>
            <a:r>
              <a:rPr sz="1050" b="1" i="0">
                <a:solidFill>
                  <a:srgbClr val="E7C978"/>
                </a:solidFill>
                <a:latin typeface="DejaVu Sans"/>
                <a:ea typeface="DejaVu Sans"/>
                <a:cs typeface="DejaVu Sans"/>
              </a:rPr>
              <a:t>MONTREAL.AI  ◆  BOARD DECISION PACK</a:t>
            </a:r>
          </a:p>
        </p:txBody>
      </p:sp>
      <p:sp>
        <p:nvSpPr>
          <p:cNvPr id="2" name="top-rule-9">
            <a:extLst xmlns:a="http://schemas.openxmlformats.org/drawingml/2006/main">
              <a:ext uri="{FF2B5EF4-FFF2-40B4-BE49-F238E27FC236}">
                <a16:creationId xmlns:a16="http://schemas.microsoft.com/office/drawing/2014/main" id="{4BA33FAA-F333-4CC7-820C-2FEF9FE1838F}"/>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C8942A"/>
            </a:solidFill>
            <a:prstDash val="solid"/>
          </a:ln>
        </p:spPr>
      </p:sp>
      <p:sp>
        <p:nvSpPr>
          <p:cNvPr id="3" name="bottom-rule-9">
            <a:extLst xmlns:a="http://schemas.openxmlformats.org/drawingml/2006/main">
              <a:ext uri="{FF2B5EF4-FFF2-40B4-BE49-F238E27FC236}">
                <a16:creationId xmlns:a16="http://schemas.microsoft.com/office/drawing/2014/main" id="{F958768A-BF8D-416E-934D-101EC804E6BB}"/>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765A28"/>
            </a:solidFill>
            <a:prstDash val="solid"/>
          </a:ln>
        </p:spPr>
      </p:sp>
      <p:sp>
        <p:nvSpPr>
          <p:cNvPr id="4" name="footer-9">
            <a:extLst xmlns:a="http://schemas.openxmlformats.org/drawingml/2006/main">
              <a:ext uri="{FF2B5EF4-FFF2-40B4-BE49-F238E27FC236}">
                <a16:creationId xmlns:a16="http://schemas.microsoft.com/office/drawing/2014/main" id="{F26561CC-F5A1-4519-ADC9-660F19FA30D9}"/>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B7C1CC"/>
                </a:solidFill>
                <a:latin typeface="DejaVu Sans"/>
                <a:ea typeface="DejaVu Sans"/>
                <a:cs typeface="DejaVu Sans"/>
              </a:defRPr>
            </a:pPr>
            <a:r>
              <a:rPr sz="825" b="1" i="0">
                <a:solidFill>
                  <a:srgbClr val="B7C1CC"/>
                </a:solidFill>
                <a:latin typeface="DejaVu Sans"/>
                <a:ea typeface="DejaVu Sans"/>
                <a:cs typeface="DejaVu Sans"/>
              </a:rPr>
              <a:t>NEURAL-SYMBOLIC SUCCESSOR Ω</a:t>
            </a:r>
          </a:p>
        </p:txBody>
      </p:sp>
      <p:sp>
        <p:nvSpPr>
          <p:cNvPr id="5" name="page-9">
            <a:extLst xmlns:a="http://schemas.openxmlformats.org/drawingml/2006/main">
              <a:ext uri="{FF2B5EF4-FFF2-40B4-BE49-F238E27FC236}">
                <a16:creationId xmlns:a16="http://schemas.microsoft.com/office/drawing/2014/main" id="{4617224A-979B-4E1F-A5D8-96CF37E58D73}"/>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F7F1E6"/>
                </a:solidFill>
                <a:latin typeface="DejaVu Sans"/>
                <a:ea typeface="DejaVu Sans"/>
                <a:cs typeface="DejaVu Sans"/>
              </a:defRPr>
            </a:pPr>
            <a:r>
              <a:rPr sz="825" b="1" i="0">
                <a:solidFill>
                  <a:srgbClr val="F7F1E6"/>
                </a:solidFill>
                <a:latin typeface="DejaVu Sans"/>
                <a:ea typeface="DejaVu Sans"/>
                <a:cs typeface="DejaVu Sans"/>
              </a:rPr>
              <a:t>09</a:t>
            </a:r>
          </a:p>
        </p:txBody>
      </p:sp>
      <p:sp>
        <p:nvSpPr>
          <p:cNvPr id="6" name="title-9">
            <a:extLst xmlns:a="http://schemas.openxmlformats.org/drawingml/2006/main">
              <a:ext uri="{FF2B5EF4-FFF2-40B4-BE49-F238E27FC236}">
                <a16:creationId xmlns:a16="http://schemas.microsoft.com/office/drawing/2014/main" id="{BDD85B92-4D17-4F2A-813C-ADA7C23CD9D3}"/>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F7F1E6"/>
                </a:solidFill>
                <a:latin typeface="DejaVu Serif"/>
                <a:ea typeface="DejaVu Serif"/>
                <a:cs typeface="DejaVu Serif"/>
              </a:defRPr>
            </a:pPr>
            <a:r>
              <a:rPr sz="2775" b="1" i="0">
                <a:solidFill>
                  <a:srgbClr val="F7F1E6"/>
                </a:solidFill>
                <a:latin typeface="DejaVu Serif"/>
                <a:ea typeface="DejaVu Serif"/>
                <a:cs typeface="DejaVu Serif"/>
              </a:rPr>
              <a:t>Customer ownership is a rights boundary plus a reproducible test.</a:t>
            </a:r>
          </a:p>
        </p:txBody>
      </p:sp>
      <p:sp>
        <p:nvSpPr>
          <p:cNvPr id="7" name="title-accent-9">
            <a:extLst xmlns:a="http://schemas.openxmlformats.org/drawingml/2006/main">
              <a:ext uri="{FF2B5EF4-FFF2-40B4-BE49-F238E27FC236}">
                <a16:creationId xmlns:a16="http://schemas.microsoft.com/office/drawing/2014/main" id="{4BBA44D4-EBD8-4D5A-9D06-C8768D0B4C14}"/>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E7C978"/>
            </a:solidFill>
            <a:prstDash val="solid"/>
          </a:ln>
        </p:spPr>
      </p:sp>
      <p:sp>
        <p:nvSpPr>
          <p:cNvPr id="8" name="own-num-0">
            <a:extLst xmlns:a="http://schemas.openxmlformats.org/drawingml/2006/main">
              <a:ext uri="{FF2B5EF4-FFF2-40B4-BE49-F238E27FC236}">
                <a16:creationId xmlns:a16="http://schemas.microsoft.com/office/drawing/2014/main" id="{199F4931-5D3A-444E-8452-246D62610EA9}"/>
              </a:ext>
            </a:extLst>
          </p:cNvPr>
          <p:cNvSpPr>
            <a:spLocks xmlns:a="http://schemas.openxmlformats.org/drawingml/2006/main" noGrp="1"/>
          </p:cNvSpPr>
          <p:nvPr/>
        </p:nvSpPr>
        <p:spPr>
          <a:xfrm xmlns:a="http://schemas.openxmlformats.org/drawingml/2006/main">
            <a:off x="609600" y="224790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E7C978"/>
                </a:solidFill>
                <a:latin typeface="DejaVu Serif"/>
                <a:ea typeface="DejaVu Serif"/>
                <a:cs typeface="DejaVu Serif"/>
              </a:defRPr>
            </a:pPr>
            <a:r>
              <a:rPr sz="3600" b="1" i="0">
                <a:solidFill>
                  <a:srgbClr val="E7C978"/>
                </a:solidFill>
                <a:latin typeface="DejaVu Serif"/>
                <a:ea typeface="DejaVu Serif"/>
                <a:cs typeface="DejaVu Serif"/>
              </a:rPr>
              <a:t>01</a:t>
            </a:r>
          </a:p>
        </p:txBody>
      </p:sp>
      <p:sp>
        <p:nvSpPr>
          <p:cNvPr id="9" name="own-line-0">
            <a:extLst xmlns:a="http://schemas.openxmlformats.org/drawingml/2006/main">
              <a:ext uri="{FF2B5EF4-FFF2-40B4-BE49-F238E27FC236}">
                <a16:creationId xmlns:a16="http://schemas.microsoft.com/office/drawing/2014/main" id="{C0E48254-5781-4085-86DE-FC26EBDCB2DD}"/>
              </a:ext>
            </a:extLst>
          </p:cNvPr>
          <p:cNvSpPr>
            <a:spLocks xmlns:a="http://schemas.openxmlformats.org/drawingml/2006/main" noGrp="1"/>
          </p:cNvSpPr>
          <p:nvPr/>
        </p:nvSpPr>
        <p:spPr>
          <a:xfrm xmlns:a="http://schemas.openxmlformats.org/drawingml/2006/main">
            <a:off x="609600" y="2952750"/>
            <a:ext cx="8382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10" name="own-title-0">
            <a:extLst xmlns:a="http://schemas.openxmlformats.org/drawingml/2006/main">
              <a:ext uri="{FF2B5EF4-FFF2-40B4-BE49-F238E27FC236}">
                <a16:creationId xmlns:a16="http://schemas.microsoft.com/office/drawing/2014/main" id="{7C8C0CB2-6E5D-447B-8FF6-C71A235222BD}"/>
              </a:ext>
            </a:extLst>
          </p:cNvPr>
          <p:cNvSpPr>
            <a:spLocks xmlns:a="http://schemas.openxmlformats.org/drawingml/2006/main" noGrp="1"/>
          </p:cNvSpPr>
          <p:nvPr/>
        </p:nvSpPr>
        <p:spPr>
          <a:xfrm xmlns:a="http://schemas.openxmlformats.org/drawingml/2006/main">
            <a:off x="609600" y="31813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INSPECT + EXPORT</a:t>
            </a:r>
          </a:p>
        </p:txBody>
      </p:sp>
      <p:sp>
        <p:nvSpPr>
          <p:cNvPr id="11" name="own-body-0">
            <a:extLst xmlns:a="http://schemas.openxmlformats.org/drawingml/2006/main">
              <a:ext uri="{FF2B5EF4-FFF2-40B4-BE49-F238E27FC236}">
                <a16:creationId xmlns:a16="http://schemas.microsoft.com/office/drawing/2014/main" id="{45D59D35-76B5-47BF-AF9C-92C164B227E5}"/>
              </a:ext>
            </a:extLst>
          </p:cNvPr>
          <p:cNvSpPr>
            <a:spLocks xmlns:a="http://schemas.openxmlformats.org/drawingml/2006/main" noGrp="1"/>
          </p:cNvSpPr>
          <p:nvPr/>
        </p:nvSpPr>
        <p:spPr>
          <a:xfrm xmlns:a="http://schemas.openxmlformats.org/drawingml/2006/main">
            <a:off x="609600" y="3810000"/>
            <a:ext cx="304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C7D0DA"/>
                </a:solidFill>
                <a:latin typeface="DejaVu Sans"/>
                <a:ea typeface="DejaVu Sans"/>
                <a:cs typeface="DejaVu Sans"/>
              </a:defRPr>
            </a:pPr>
            <a:r>
              <a:rPr sz="1350" b="0" i="0">
                <a:solidFill>
                  <a:srgbClr val="C7D0DA"/>
                </a:solidFill>
                <a:latin typeface="DejaVu Sans"/>
                <a:ea typeface="DejaVu Sans"/>
                <a:cs typeface="DejaVu Sans"/>
              </a:rPr>
              <a:t>Constitution, evidence bindings, programs, policies, proofs, releases and Chronicle — within the agreed rights boundary.</a:t>
            </a:r>
          </a:p>
        </p:txBody>
      </p:sp>
      <p:sp>
        <p:nvSpPr>
          <p:cNvPr id="12" name="own-num-1">
            <a:extLst xmlns:a="http://schemas.openxmlformats.org/drawingml/2006/main">
              <a:ext uri="{FF2B5EF4-FFF2-40B4-BE49-F238E27FC236}">
                <a16:creationId xmlns:a16="http://schemas.microsoft.com/office/drawing/2014/main" id="{6598C96A-B732-4F9B-BC8B-5A30958863F8}"/>
              </a:ext>
            </a:extLst>
          </p:cNvPr>
          <p:cNvSpPr>
            <a:spLocks xmlns:a="http://schemas.openxmlformats.org/drawingml/2006/main" noGrp="1"/>
          </p:cNvSpPr>
          <p:nvPr/>
        </p:nvSpPr>
        <p:spPr>
          <a:xfrm xmlns:a="http://schemas.openxmlformats.org/drawingml/2006/main">
            <a:off x="4267200" y="224790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E7C978"/>
                </a:solidFill>
                <a:latin typeface="DejaVu Serif"/>
                <a:ea typeface="DejaVu Serif"/>
                <a:cs typeface="DejaVu Serif"/>
              </a:defRPr>
            </a:pPr>
            <a:r>
              <a:rPr sz="3600" b="1" i="0">
                <a:solidFill>
                  <a:srgbClr val="E7C978"/>
                </a:solidFill>
                <a:latin typeface="DejaVu Serif"/>
                <a:ea typeface="DejaVu Serif"/>
                <a:cs typeface="DejaVu Serif"/>
              </a:rPr>
              <a:t>02</a:t>
            </a:r>
          </a:p>
        </p:txBody>
      </p:sp>
      <p:sp>
        <p:nvSpPr>
          <p:cNvPr id="13" name="own-line-1">
            <a:extLst xmlns:a="http://schemas.openxmlformats.org/drawingml/2006/main">
              <a:ext uri="{FF2B5EF4-FFF2-40B4-BE49-F238E27FC236}">
                <a16:creationId xmlns:a16="http://schemas.microsoft.com/office/drawing/2014/main" id="{6A6E770A-5BC0-491E-A9DB-3323225C21D9}"/>
              </a:ext>
            </a:extLst>
          </p:cNvPr>
          <p:cNvSpPr>
            <a:spLocks xmlns:a="http://schemas.openxmlformats.org/drawingml/2006/main" noGrp="1"/>
          </p:cNvSpPr>
          <p:nvPr/>
        </p:nvSpPr>
        <p:spPr>
          <a:xfrm xmlns:a="http://schemas.openxmlformats.org/drawingml/2006/main">
            <a:off x="4267200" y="2952750"/>
            <a:ext cx="838200" cy="0"/>
          </a:xfrm>
          <a:prstGeom xmlns:a="http://schemas.openxmlformats.org/drawingml/2006/main" prst="line">
            <a:avLst/>
          </a:prstGeom>
          <a:noFill xmlns:a="http://schemas.openxmlformats.org/drawingml/2006/main"/>
          <a:ln xmlns:a="http://schemas.openxmlformats.org/drawingml/2006/main" w="38100">
            <a:solidFill>
              <a:srgbClr val="167DFF"/>
            </a:solidFill>
            <a:prstDash val="solid"/>
          </a:ln>
        </p:spPr>
      </p:sp>
      <p:sp>
        <p:nvSpPr>
          <p:cNvPr id="14" name="own-title-1">
            <a:extLst xmlns:a="http://schemas.openxmlformats.org/drawingml/2006/main">
              <a:ext uri="{FF2B5EF4-FFF2-40B4-BE49-F238E27FC236}">
                <a16:creationId xmlns:a16="http://schemas.microsoft.com/office/drawing/2014/main" id="{5DE3A7A0-03DA-4935-9502-5A6903278BD5}"/>
              </a:ext>
            </a:extLst>
          </p:cNvPr>
          <p:cNvSpPr>
            <a:spLocks xmlns:a="http://schemas.openxmlformats.org/drawingml/2006/main" noGrp="1"/>
          </p:cNvSpPr>
          <p:nvPr/>
        </p:nvSpPr>
        <p:spPr>
          <a:xfrm xmlns:a="http://schemas.openxmlformats.org/drawingml/2006/main">
            <a:off x="4267200" y="31813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SUBSTITUTE</a:t>
            </a:r>
          </a:p>
        </p:txBody>
      </p:sp>
      <p:sp>
        <p:nvSpPr>
          <p:cNvPr id="15" name="own-body-1">
            <a:extLst xmlns:a="http://schemas.openxmlformats.org/drawingml/2006/main">
              <a:ext uri="{FF2B5EF4-FFF2-40B4-BE49-F238E27FC236}">
                <a16:creationId xmlns:a16="http://schemas.microsoft.com/office/drawing/2014/main" id="{C8CC8F93-C0C7-4178-AF4F-2B7BCE2466FF}"/>
              </a:ext>
            </a:extLst>
          </p:cNvPr>
          <p:cNvSpPr>
            <a:spLocks xmlns:a="http://schemas.openxmlformats.org/drawingml/2006/main" noGrp="1"/>
          </p:cNvSpPr>
          <p:nvPr/>
        </p:nvSpPr>
        <p:spPr>
          <a:xfrm xmlns:a="http://schemas.openxmlformats.org/drawingml/2006/main">
            <a:off x="4267200" y="3810000"/>
            <a:ext cx="304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C7D0DA"/>
                </a:solidFill>
                <a:latin typeface="DejaVu Sans"/>
                <a:ea typeface="DejaVu Sans"/>
                <a:cs typeface="DejaVu Sans"/>
              </a:defRPr>
            </a:pPr>
            <a:r>
              <a:rPr sz="1350" b="0" i="0">
                <a:solidFill>
                  <a:srgbClr val="C7D0DA"/>
                </a:solidFill>
                <a:latin typeface="DejaVu Sans"/>
                <a:ea typeface="DejaVu Sans"/>
                <a:cs typeface="DejaVu Sans"/>
              </a:rPr>
              <a:t>Replace a declared cognitive supplier through a stable interface; assess impairment and re-proof when material.</a:t>
            </a:r>
          </a:p>
        </p:txBody>
      </p:sp>
      <p:sp>
        <p:nvSpPr>
          <p:cNvPr id="16" name="own-num-2">
            <a:extLst xmlns:a="http://schemas.openxmlformats.org/drawingml/2006/main">
              <a:ext uri="{FF2B5EF4-FFF2-40B4-BE49-F238E27FC236}">
                <a16:creationId xmlns:a16="http://schemas.microsoft.com/office/drawing/2014/main" id="{C2D8F651-E988-4499-A71C-21B9AB79D323}"/>
              </a:ext>
            </a:extLst>
          </p:cNvPr>
          <p:cNvSpPr>
            <a:spLocks xmlns:a="http://schemas.openxmlformats.org/drawingml/2006/main" noGrp="1"/>
          </p:cNvSpPr>
          <p:nvPr/>
        </p:nvSpPr>
        <p:spPr>
          <a:xfrm xmlns:a="http://schemas.openxmlformats.org/drawingml/2006/main">
            <a:off x="7924800" y="224790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E7C978"/>
                </a:solidFill>
                <a:latin typeface="DejaVu Serif"/>
                <a:ea typeface="DejaVu Serif"/>
                <a:cs typeface="DejaVu Serif"/>
              </a:defRPr>
            </a:pPr>
            <a:r>
              <a:rPr sz="3600" b="1" i="0">
                <a:solidFill>
                  <a:srgbClr val="E7C978"/>
                </a:solidFill>
                <a:latin typeface="DejaVu Serif"/>
                <a:ea typeface="DejaVu Serif"/>
                <a:cs typeface="DejaVu Serif"/>
              </a:rPr>
              <a:t>03</a:t>
            </a:r>
          </a:p>
        </p:txBody>
      </p:sp>
      <p:sp>
        <p:nvSpPr>
          <p:cNvPr id="17" name="own-line-2">
            <a:extLst xmlns:a="http://schemas.openxmlformats.org/drawingml/2006/main">
              <a:ext uri="{FF2B5EF4-FFF2-40B4-BE49-F238E27FC236}">
                <a16:creationId xmlns:a16="http://schemas.microsoft.com/office/drawing/2014/main" id="{45AE1A38-D4DF-4D19-8012-F736B58FD1E9}"/>
              </a:ext>
            </a:extLst>
          </p:cNvPr>
          <p:cNvSpPr>
            <a:spLocks xmlns:a="http://schemas.openxmlformats.org/drawingml/2006/main" noGrp="1"/>
          </p:cNvSpPr>
          <p:nvPr/>
        </p:nvSpPr>
        <p:spPr>
          <a:xfrm xmlns:a="http://schemas.openxmlformats.org/drawingml/2006/main">
            <a:off x="7924800" y="2952750"/>
            <a:ext cx="8382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18" name="own-title-2">
            <a:extLst xmlns:a="http://schemas.openxmlformats.org/drawingml/2006/main">
              <a:ext uri="{FF2B5EF4-FFF2-40B4-BE49-F238E27FC236}">
                <a16:creationId xmlns:a16="http://schemas.microsoft.com/office/drawing/2014/main" id="{534B8FB6-A173-4E5F-A1BD-4E78FBDDA970}"/>
              </a:ext>
            </a:extLst>
          </p:cNvPr>
          <p:cNvSpPr>
            <a:spLocks xmlns:a="http://schemas.openxmlformats.org/drawingml/2006/main" noGrp="1"/>
          </p:cNvSpPr>
          <p:nvPr/>
        </p:nvSpPr>
        <p:spPr>
          <a:xfrm xmlns:a="http://schemas.openxmlformats.org/drawingml/2006/main">
            <a:off x="7924800" y="31813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RESTORE + REPRODUCE</a:t>
            </a:r>
          </a:p>
        </p:txBody>
      </p:sp>
      <p:sp>
        <p:nvSpPr>
          <p:cNvPr id="19" name="own-body-2">
            <a:extLst xmlns:a="http://schemas.openxmlformats.org/drawingml/2006/main">
              <a:ext uri="{FF2B5EF4-FFF2-40B4-BE49-F238E27FC236}">
                <a16:creationId xmlns:a16="http://schemas.microsoft.com/office/drawing/2014/main" id="{D0782EAF-C6EE-4E1E-A06C-EF544C06EE91}"/>
              </a:ext>
            </a:extLst>
          </p:cNvPr>
          <p:cNvSpPr>
            <a:spLocks xmlns:a="http://schemas.openxmlformats.org/drawingml/2006/main" noGrp="1"/>
          </p:cNvSpPr>
          <p:nvPr/>
        </p:nvSpPr>
        <p:spPr>
          <a:xfrm xmlns:a="http://schemas.openxmlformats.org/drawingml/2006/main">
            <a:off x="7924800" y="3810000"/>
            <a:ext cx="304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C7D0DA"/>
                </a:solidFill>
                <a:latin typeface="DejaVu Sans"/>
                <a:ea typeface="DejaVu Sans"/>
                <a:cs typeface="DejaVu Sans"/>
              </a:defRPr>
            </a:pPr>
            <a:r>
              <a:rPr sz="1350" b="0" i="0">
                <a:solidFill>
                  <a:srgbClr val="C7D0DA"/>
                </a:solidFill>
                <a:latin typeface="DejaVu Sans"/>
                <a:ea typeface="DejaVu Sans"/>
                <a:cs typeface="DejaVu Sans"/>
              </a:rPr>
              <a:t>Restore a signed release and Chronicle checkpoint; demonstrate equivalent bounded behaviour.</a:t>
            </a:r>
          </a:p>
        </p:txBody>
      </p:sp>
      <p:sp>
        <p:nvSpPr>
          <p:cNvPr id="20" name="own-h-rule">
            <a:extLst xmlns:a="http://schemas.openxmlformats.org/drawingml/2006/main">
              <a:ext uri="{FF2B5EF4-FFF2-40B4-BE49-F238E27FC236}">
                <a16:creationId xmlns:a16="http://schemas.microsoft.com/office/drawing/2014/main" id="{10DEF81A-7E02-41E4-B485-34F01F093D30}"/>
              </a:ext>
            </a:extLst>
          </p:cNvPr>
          <p:cNvSpPr>
            <a:spLocks xmlns:a="http://schemas.openxmlformats.org/drawingml/2006/main" noGrp="1"/>
          </p:cNvSpPr>
          <p:nvPr/>
        </p:nvSpPr>
        <p:spPr>
          <a:xfrm xmlns:a="http://schemas.openxmlformats.org/drawingml/2006/main">
            <a:off x="609600" y="5467350"/>
            <a:ext cx="10820400" cy="0"/>
          </a:xfrm>
          <a:prstGeom xmlns:a="http://schemas.openxmlformats.org/drawingml/2006/main" prst="line">
            <a:avLst/>
          </a:prstGeom>
          <a:noFill xmlns:a="http://schemas.openxmlformats.org/drawingml/2006/main"/>
          <a:ln xmlns:a="http://schemas.openxmlformats.org/drawingml/2006/main" w="11430">
            <a:solidFill>
              <a:srgbClr val="36516C"/>
            </a:solidFill>
            <a:prstDash val="solid"/>
          </a:ln>
        </p:spPr>
      </p:sp>
      <p:sp>
        <p:nvSpPr>
          <p:cNvPr id="21" name="own-proof">
            <a:extLst xmlns:a="http://schemas.openxmlformats.org/drawingml/2006/main">
              <a:ext uri="{FF2B5EF4-FFF2-40B4-BE49-F238E27FC236}">
                <a16:creationId xmlns:a16="http://schemas.microsoft.com/office/drawing/2014/main" id="{F0CBFEA8-2AAD-49F0-B078-A579CF291D08}"/>
              </a:ext>
            </a:extLst>
          </p:cNvPr>
          <p:cNvSpPr>
            <a:spLocks xmlns:a="http://schemas.openxmlformats.org/drawingml/2006/main" noGrp="1"/>
          </p:cNvSpPr>
          <p:nvPr/>
        </p:nvSpPr>
        <p:spPr>
          <a:xfrm xmlns:a="http://schemas.openxmlformats.org/drawingml/2006/main">
            <a:off x="609600" y="56769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E7C978"/>
                </a:solidFill>
                <a:latin typeface="DejaVu Serif"/>
                <a:ea typeface="DejaVu Serif"/>
                <a:cs typeface="DejaVu Serif"/>
              </a:defRPr>
            </a:pPr>
            <a:r>
              <a:rPr sz="1575" b="1" i="0">
                <a:solidFill>
                  <a:srgbClr val="E7C978"/>
                </a:solidFill>
                <a:latin typeface="DejaVu Serif"/>
                <a:ea typeface="DejaVu Serif"/>
                <a:cs typeface="DejaVu Serif"/>
              </a:rPr>
              <a:t>State the tested portability level (P0–P4). Never imply universal portability.</a:t>
            </a:r>
          </a:p>
        </p:txBody>
      </p:sp>
    </p:spTree>
    <p:extLst>
      <p:ext uri="{BB962C8B-B14F-4D97-AF65-F5344CB8AC3E}">
        <p14:creationId xmlns:p14="http://schemas.microsoft.com/office/powerpoint/2010/main" val="43920979"/>
      </p:ext>
    </p:extLst>
  </p:cSld>
</p:sld>
</file>

<file path=ppt/slides/slide10.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pic>
        <p:nvPicPr>
          <p:cNvPr id="12" name="Governed succession" descr="SUCCESSOR Ω transfers memory and lineage to a descendant whose proof and production authority remain empty."/>
          <p:cNvPicPr>
            <a:picLocks xmlns:a="http://schemas.openxmlformats.org/drawingml/2006/main" noChangeAspect="1"/>
          </p:cNvPicPr>
          <p:nvPr/>
        </p:nvPicPr>
        <p:blipFill>
          <a:blip xmlns:r="http://schemas.openxmlformats.org/officeDocument/2006/relationships" xmlns:a="http://schemas.openxmlformats.org/drawingml/2006/main" r:embed="R3b44ac9263814cbb"/>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uccession-title-plane">
            <a:extLst xmlns:a="http://schemas.openxmlformats.org/drawingml/2006/main">
              <a:ext uri="{FF2B5EF4-FFF2-40B4-BE49-F238E27FC236}">
                <a16:creationId xmlns:a16="http://schemas.microsoft.com/office/drawing/2014/main" id="{BDBD6CA9-E155-42D4-A69C-18A6F49C1C6D}"/>
              </a:ext>
            </a:extLst>
          </p:cNvPr>
          <p:cNvSpPr>
            <a:spLocks xmlns:a="http://schemas.openxmlformats.org/drawingml/2006/main" noGrp="1"/>
          </p:cNvSpPr>
          <p:nvPr/>
        </p:nvSpPr>
        <p:spPr>
          <a:xfrm xmlns:a="http://schemas.openxmlformats.org/drawingml/2006/main">
            <a:off x="0" y="0"/>
            <a:ext cx="12192000" cy="2247900"/>
          </a:xfrm>
          <a:prstGeom xmlns:a="http://schemas.openxmlformats.org/drawingml/2006/main" prst="rect">
            <a:avLst/>
          </a:prstGeom>
          <a:solidFill xmlns:a="http://schemas.openxmlformats.org/drawingml/2006/main">
            <a:srgbClr val="F7F1E6">
              <a:alpha val="94902"/>
            </a:srgbClr>
          </a:solidFill>
          <a:ln xmlns:a="http://schemas.openxmlformats.org/drawingml/2006/main" w="0">
            <a:noFill/>
            <a:prstDash val="solid"/>
          </a:ln>
        </p:spPr>
      </p:sp>
      <p:sp>
        <p:nvSpPr>
          <p:cNvPr id="3" name="eyebrow-SUCCESSION">
            <a:extLst xmlns:a="http://schemas.openxmlformats.org/drawingml/2006/main">
              <a:ext uri="{FF2B5EF4-FFF2-40B4-BE49-F238E27FC236}">
                <a16:creationId xmlns:a16="http://schemas.microsoft.com/office/drawing/2014/main" id="{ADF99BB9-2910-4920-A9AB-957C88B91B7B}"/>
              </a:ext>
            </a:extLst>
          </p:cNvPr>
          <p:cNvSpPr>
            <a:spLocks xmlns:a="http://schemas.openxmlformats.org/drawingml/2006/main" noGrp="1"/>
          </p:cNvSpPr>
          <p:nvPr/>
        </p:nvSpPr>
        <p:spPr>
          <a:xfrm xmlns:a="http://schemas.openxmlformats.org/drawingml/2006/main">
            <a:off x="609600" y="323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SUCCESSION LAW</a:t>
            </a:r>
          </a:p>
        </p:txBody>
      </p:sp>
      <p:sp>
        <p:nvSpPr>
          <p:cNvPr id="4" name="succession-title">
            <a:extLst xmlns:a="http://schemas.openxmlformats.org/drawingml/2006/main">
              <a:ext uri="{FF2B5EF4-FFF2-40B4-BE49-F238E27FC236}">
                <a16:creationId xmlns:a16="http://schemas.microsoft.com/office/drawing/2014/main" id="{7B5C20FA-B70C-401A-B654-BF16C3E9D467}"/>
              </a:ext>
            </a:extLst>
          </p:cNvPr>
          <p:cNvSpPr>
            <a:spLocks xmlns:a="http://schemas.openxmlformats.org/drawingml/2006/main" noGrp="1"/>
          </p:cNvSpPr>
          <p:nvPr/>
        </p:nvSpPr>
        <p:spPr>
          <a:xfrm xmlns:a="http://schemas.openxmlformats.org/drawingml/2006/main">
            <a:off x="609600" y="685800"/>
            <a:ext cx="6096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71B31"/>
                </a:solidFill>
                <a:latin typeface="DejaVu Serif"/>
                <a:ea typeface="DejaVu Serif"/>
                <a:cs typeface="DejaVu Serif"/>
              </a:defRPr>
            </a:pPr>
            <a:r>
              <a:rPr sz="2850" b="1" i="0">
                <a:solidFill>
                  <a:srgbClr val="071B31"/>
                </a:solidFill>
                <a:latin typeface="DejaVu Serif"/>
                <a:ea typeface="DejaVu Serif"/>
                <a:cs typeface="DejaVu Serif"/>
              </a:rPr>
              <a:t>Knowledge may compound.</a:t>
            </a:r>
          </a:p>
          <a:p xmlns:a="http://schemas.openxmlformats.org/drawingml/2006/main">
            <a:pPr algn="l">
              <a:defRPr sz="2850" b="1" i="0">
                <a:solidFill>
                  <a:srgbClr val="071B31"/>
                </a:solidFill>
                <a:latin typeface="DejaVu Serif"/>
                <a:ea typeface="DejaVu Serif"/>
                <a:cs typeface="DejaVu Serif"/>
              </a:defRPr>
            </a:pPr>
            <a:r>
              <a:rPr sz="2850" b="1" i="0">
                <a:solidFill>
                  <a:srgbClr val="071B31"/>
                </a:solidFill>
                <a:latin typeface="DejaVu Serif"/>
                <a:ea typeface="DejaVu Serif"/>
                <a:cs typeface="DejaVu Serif"/>
              </a:rPr>
              <a:t>Power must be re-earned.</a:t>
            </a:r>
          </a:p>
        </p:txBody>
      </p:sp>
      <p:sp>
        <p:nvSpPr>
          <p:cNvPr id="5" name="succession-divider">
            <a:extLst xmlns:a="http://schemas.openxmlformats.org/drawingml/2006/main">
              <a:ext uri="{FF2B5EF4-FFF2-40B4-BE49-F238E27FC236}">
                <a16:creationId xmlns:a16="http://schemas.microsoft.com/office/drawing/2014/main" id="{8094BE74-E70A-4FA2-A5C7-E06F287C75F7}"/>
              </a:ext>
            </a:extLst>
          </p:cNvPr>
          <p:cNvSpPr>
            <a:spLocks xmlns:a="http://schemas.openxmlformats.org/drawingml/2006/main" noGrp="1"/>
          </p:cNvSpPr>
          <p:nvPr/>
        </p:nvSpPr>
        <p:spPr>
          <a:xfrm xmlns:a="http://schemas.openxmlformats.org/drawingml/2006/main">
            <a:off x="6858000" y="476250"/>
            <a:ext cx="0" cy="1333500"/>
          </a:xfrm>
          <a:prstGeom xmlns:a="http://schemas.openxmlformats.org/drawingml/2006/main" prst="line">
            <a:avLst/>
          </a:prstGeom>
          <a:noFill xmlns:a="http://schemas.openxmlformats.org/drawingml/2006/main"/>
          <a:ln xmlns:a="http://schemas.openxmlformats.org/drawingml/2006/main" w="19050">
            <a:solidFill>
              <a:srgbClr val="C8942A"/>
            </a:solidFill>
            <a:prstDash val="solid"/>
          </a:ln>
        </p:spPr>
      </p:sp>
      <p:sp>
        <p:nvSpPr>
          <p:cNvPr id="6" name="succession-transfer-label">
            <a:extLst xmlns:a="http://schemas.openxmlformats.org/drawingml/2006/main">
              <a:ext uri="{FF2B5EF4-FFF2-40B4-BE49-F238E27FC236}">
                <a16:creationId xmlns:a16="http://schemas.microsoft.com/office/drawing/2014/main" id="{FB4A6937-5767-4D2A-9632-164BA488CF57}"/>
              </a:ext>
            </a:extLst>
          </p:cNvPr>
          <p:cNvSpPr>
            <a:spLocks xmlns:a="http://schemas.openxmlformats.org/drawingml/2006/main" noGrp="1"/>
          </p:cNvSpPr>
          <p:nvPr/>
        </p:nvSpPr>
        <p:spPr>
          <a:xfrm xmlns:a="http://schemas.openxmlformats.org/drawingml/2006/main">
            <a:off x="7181850" y="4381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167DFF"/>
                </a:solidFill>
                <a:latin typeface="DejaVu Sans"/>
                <a:ea typeface="DejaVu Sans"/>
                <a:cs typeface="DejaVu Sans"/>
              </a:defRPr>
            </a:pPr>
            <a:r>
              <a:rPr sz="1125" b="1" i="0">
                <a:solidFill>
                  <a:srgbClr val="167DFF"/>
                </a:solidFill>
                <a:latin typeface="DejaVu Sans"/>
                <a:ea typeface="DejaVu Sans"/>
                <a:cs typeface="DejaVu Sans"/>
              </a:rPr>
              <a:t>MAY TRANSFER</a:t>
            </a:r>
          </a:p>
        </p:txBody>
      </p:sp>
      <p:sp>
        <p:nvSpPr>
          <p:cNvPr id="7" name="succession-transfer">
            <a:extLst xmlns:a="http://schemas.openxmlformats.org/drawingml/2006/main">
              <a:ext uri="{FF2B5EF4-FFF2-40B4-BE49-F238E27FC236}">
                <a16:creationId xmlns:a16="http://schemas.microsoft.com/office/drawing/2014/main" id="{269E2EE3-F684-4C0A-AF69-692958C49E61}"/>
              </a:ext>
            </a:extLst>
          </p:cNvPr>
          <p:cNvSpPr>
            <a:spLocks xmlns:a="http://schemas.openxmlformats.org/drawingml/2006/main" noGrp="1"/>
          </p:cNvSpPr>
          <p:nvPr/>
        </p:nvSpPr>
        <p:spPr>
          <a:xfrm xmlns:a="http://schemas.openxmlformats.org/drawingml/2006/main">
            <a:off x="7181850" y="78105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071B31"/>
                </a:solidFill>
                <a:latin typeface="DejaVu Sans"/>
                <a:ea typeface="DejaVu Sans"/>
                <a:cs typeface="DejaVu Sans"/>
              </a:defRPr>
            </a:pPr>
            <a:r>
              <a:rPr sz="1275" b="1" i="0">
                <a:solidFill>
                  <a:srgbClr val="071B31"/>
                </a:solidFill>
                <a:latin typeface="DejaVu Sans"/>
                <a:ea typeface="DejaVu Sans"/>
                <a:cs typeface="DejaVu Sans"/>
              </a:rPr>
              <a:t>Memory · provenance · retired failures</a:t>
            </a:r>
          </a:p>
          <a:p xmlns:a="http://schemas.openxmlformats.org/drawingml/2006/main">
            <a:pPr algn="l">
              <a:defRPr sz="1275" b="1" i="0">
                <a:solidFill>
                  <a:srgbClr val="071B31"/>
                </a:solidFill>
                <a:latin typeface="DejaVu Sans"/>
                <a:ea typeface="DejaVu Sans"/>
                <a:cs typeface="DejaVu Sans"/>
              </a:defRPr>
            </a:pPr>
            <a:r>
              <a:rPr sz="1275" b="1" i="0">
                <a:solidFill>
                  <a:srgbClr val="071B31"/>
                </a:solidFill>
                <a:latin typeface="DejaVu Sans"/>
                <a:ea typeface="DejaVu Sans"/>
                <a:cs typeface="DejaVu Sans"/>
              </a:rPr>
              <a:t>program lineage · operating history</a:t>
            </a:r>
          </a:p>
        </p:txBody>
      </p:sp>
      <p:sp>
        <p:nvSpPr>
          <p:cNvPr id="8" name="succession-empty-label">
            <a:extLst xmlns:a="http://schemas.openxmlformats.org/drawingml/2006/main">
              <a:ext uri="{FF2B5EF4-FFF2-40B4-BE49-F238E27FC236}">
                <a16:creationId xmlns:a16="http://schemas.microsoft.com/office/drawing/2014/main" id="{1C93A688-15E8-40EE-8E82-2F0B6F77CF2C}"/>
              </a:ext>
            </a:extLst>
          </p:cNvPr>
          <p:cNvSpPr>
            <a:spLocks xmlns:a="http://schemas.openxmlformats.org/drawingml/2006/main" noGrp="1"/>
          </p:cNvSpPr>
          <p:nvPr/>
        </p:nvSpPr>
        <p:spPr>
          <a:xfrm xmlns:a="http://schemas.openxmlformats.org/drawingml/2006/main">
            <a:off x="7181850" y="14097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D06A2C"/>
                </a:solidFill>
                <a:latin typeface="DejaVu Sans"/>
                <a:ea typeface="DejaVu Sans"/>
                <a:cs typeface="DejaVu Sans"/>
              </a:defRPr>
            </a:pPr>
            <a:r>
              <a:rPr sz="1125" b="1" i="0">
                <a:solidFill>
                  <a:srgbClr val="D06A2C"/>
                </a:solidFill>
                <a:latin typeface="DejaVu Sans"/>
                <a:ea typeface="DejaVu Sans"/>
                <a:cs typeface="DejaVu Sans"/>
              </a:rPr>
              <a:t>RESTARTS EMPTY</a:t>
            </a:r>
          </a:p>
        </p:txBody>
      </p:sp>
      <p:sp>
        <p:nvSpPr>
          <p:cNvPr id="9" name="succession-empty">
            <a:extLst xmlns:a="http://schemas.openxmlformats.org/drawingml/2006/main">
              <a:ext uri="{FF2B5EF4-FFF2-40B4-BE49-F238E27FC236}">
                <a16:creationId xmlns:a16="http://schemas.microsoft.com/office/drawing/2014/main" id="{B5CD4119-1C57-495D-A015-96F0933A9C9E}"/>
              </a:ext>
            </a:extLst>
          </p:cNvPr>
          <p:cNvSpPr>
            <a:spLocks xmlns:a="http://schemas.openxmlformats.org/drawingml/2006/main" noGrp="1"/>
          </p:cNvSpPr>
          <p:nvPr/>
        </p:nvSpPr>
        <p:spPr>
          <a:xfrm xmlns:a="http://schemas.openxmlformats.org/drawingml/2006/main">
            <a:off x="9029700" y="1409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071B31"/>
                </a:solidFill>
                <a:latin typeface="DejaVu Sans"/>
                <a:ea typeface="DejaVu Sans"/>
                <a:cs typeface="DejaVu Sans"/>
              </a:defRPr>
            </a:pPr>
            <a:r>
              <a:rPr sz="1275" b="1" i="0">
                <a:solidFill>
                  <a:srgbClr val="071B31"/>
                </a:solidFill>
                <a:latin typeface="DejaVu Sans"/>
                <a:ea typeface="DejaVu Sans"/>
                <a:cs typeface="DejaVu Sans"/>
              </a:rPr>
              <a:t>Proof claim · production authority</a:t>
            </a:r>
          </a:p>
        </p:txBody>
      </p:sp>
      <p:sp>
        <p:nvSpPr>
          <p:cNvPr id="10" name="succession-bottom-band">
            <a:extLst xmlns:a="http://schemas.openxmlformats.org/drawingml/2006/main">
              <a:ext uri="{FF2B5EF4-FFF2-40B4-BE49-F238E27FC236}">
                <a16:creationId xmlns:a16="http://schemas.microsoft.com/office/drawing/2014/main" id="{9DDEA1F6-8106-470C-AA92-EA8D67149C2E}"/>
              </a:ext>
            </a:extLst>
          </p:cNvPr>
          <p:cNvSpPr>
            <a:spLocks xmlns:a="http://schemas.openxmlformats.org/drawingml/2006/main" noGrp="1"/>
          </p:cNvSpPr>
          <p:nvPr/>
        </p:nvSpPr>
        <p:spPr>
          <a:xfrm xmlns:a="http://schemas.openxmlformats.org/drawingml/2006/main">
            <a:off x="0" y="6210300"/>
            <a:ext cx="12192000" cy="647700"/>
          </a:xfrm>
          <a:prstGeom xmlns:a="http://schemas.openxmlformats.org/drawingml/2006/main" prst="rect">
            <a:avLst/>
          </a:prstGeom>
          <a:solidFill xmlns:a="http://schemas.openxmlformats.org/drawingml/2006/main">
            <a:srgbClr val="031426">
              <a:alpha val="90980"/>
            </a:srgbClr>
          </a:solidFill>
          <a:ln xmlns:a="http://schemas.openxmlformats.org/drawingml/2006/main" w="0">
            <a:noFill/>
            <a:prstDash val="solid"/>
          </a:ln>
        </p:spPr>
      </p:sp>
      <p:sp>
        <p:nvSpPr>
          <p:cNvPr id="11" name="succession-bottom">
            <a:extLst xmlns:a="http://schemas.openxmlformats.org/drawingml/2006/main">
              <a:ext uri="{FF2B5EF4-FFF2-40B4-BE49-F238E27FC236}">
                <a16:creationId xmlns:a16="http://schemas.microsoft.com/office/drawing/2014/main" id="{6858FF20-3E20-4183-8A44-EDE75D5B9571}"/>
              </a:ext>
            </a:extLst>
          </p:cNvPr>
          <p:cNvSpPr>
            <a:spLocks xmlns:a="http://schemas.openxmlformats.org/drawingml/2006/main" noGrp="1"/>
          </p:cNvSpPr>
          <p:nvPr/>
        </p:nvSpPr>
        <p:spPr>
          <a:xfrm xmlns:a="http://schemas.openxmlformats.org/drawingml/2006/main">
            <a:off x="609600" y="63627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F7F1E6"/>
                </a:solidFill>
                <a:latin typeface="DejaVu Sans"/>
                <a:ea typeface="DejaVu Sans"/>
                <a:cs typeface="DejaVu Sans"/>
              </a:defRPr>
            </a:pPr>
            <a:r>
              <a:rPr sz="1425" b="1" i="0">
                <a:solidFill>
                  <a:srgbClr val="F7F1E6"/>
                </a:solidFill>
                <a:latin typeface="DejaVu Sans"/>
                <a:ea typeface="DejaVu Sans"/>
                <a:cs typeface="DejaVu Sans"/>
              </a:rPr>
              <a:t>Every material descendant receives a new release identity, fresh proof, and a new admission before serving.</a:t>
            </a:r>
          </a:p>
        </p:txBody>
      </p:sp>
    </p:spTree>
    <p:extLst>
      <p:ext uri="{BB962C8B-B14F-4D97-AF65-F5344CB8AC3E}">
        <p14:creationId xmlns:p14="http://schemas.microsoft.com/office/powerpoint/2010/main" val="2076500340"/>
      </p:ext>
    </p:extLst>
  </p:cSld>
</p:sld>
</file>

<file path=ppt/slides/slide1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27" name="eyebrow-MONTREAL.A">
            <a:extLst xmlns:a="http://schemas.openxmlformats.org/drawingml/2006/main">
              <a:ext uri="{FF2B5EF4-FFF2-40B4-BE49-F238E27FC236}">
                <a16:creationId xmlns:a16="http://schemas.microsoft.com/office/drawing/2014/main" id="{165F7698-5AA9-4BF7-9408-D80067C27E14}"/>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11">
            <a:extLst xmlns:a="http://schemas.openxmlformats.org/drawingml/2006/main">
              <a:ext uri="{FF2B5EF4-FFF2-40B4-BE49-F238E27FC236}">
                <a16:creationId xmlns:a16="http://schemas.microsoft.com/office/drawing/2014/main" id="{209FBF88-84AA-47D0-93C4-D064117070BB}"/>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11">
            <a:extLst xmlns:a="http://schemas.openxmlformats.org/drawingml/2006/main">
              <a:ext uri="{FF2B5EF4-FFF2-40B4-BE49-F238E27FC236}">
                <a16:creationId xmlns:a16="http://schemas.microsoft.com/office/drawing/2014/main" id="{2005DA09-777C-41BE-9074-572904836286}"/>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11">
            <a:extLst xmlns:a="http://schemas.openxmlformats.org/drawingml/2006/main">
              <a:ext uri="{FF2B5EF4-FFF2-40B4-BE49-F238E27FC236}">
                <a16:creationId xmlns:a16="http://schemas.microsoft.com/office/drawing/2014/main" id="{94418B9C-773D-4078-B0B1-E88C1C7BA7B1}"/>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11">
            <a:extLst xmlns:a="http://schemas.openxmlformats.org/drawingml/2006/main">
              <a:ext uri="{FF2B5EF4-FFF2-40B4-BE49-F238E27FC236}">
                <a16:creationId xmlns:a16="http://schemas.microsoft.com/office/drawing/2014/main" id="{5DFBA09A-17AC-45AC-B5CE-94B385972F5B}"/>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11</a:t>
            </a:r>
          </a:p>
        </p:txBody>
      </p:sp>
      <p:sp>
        <p:nvSpPr>
          <p:cNvPr id="6" name="title-11">
            <a:extLst xmlns:a="http://schemas.openxmlformats.org/drawingml/2006/main">
              <a:ext uri="{FF2B5EF4-FFF2-40B4-BE49-F238E27FC236}">
                <a16:creationId xmlns:a16="http://schemas.microsoft.com/office/drawing/2014/main" id="{71B19D57-7326-43CE-B631-4E66DC8A0539}"/>
              </a:ext>
            </a:extLst>
          </p:cNvPr>
          <p:cNvSpPr>
            <a:spLocks xmlns:a="http://schemas.openxmlformats.org/drawingml/2006/main" noGrp="1"/>
          </p:cNvSpPr>
          <p:nvPr/>
        </p:nvSpPr>
        <p:spPr>
          <a:xfrm xmlns:a="http://schemas.openxmlformats.org/drawingml/2006/main">
            <a:off x="609600" y="762000"/>
            <a:ext cx="1085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i="0">
                <a:solidFill>
                  <a:srgbClr val="071B31"/>
                </a:solidFill>
                <a:latin typeface="DejaVu Serif"/>
                <a:ea typeface="DejaVu Serif"/>
                <a:cs typeface="DejaVu Serif"/>
              </a:defRPr>
            </a:pPr>
            <a:r>
              <a:rPr sz="2775" b="1" i="0">
                <a:solidFill>
                  <a:srgbClr val="071B31"/>
                </a:solidFill>
                <a:latin typeface="DejaVu Serif"/>
                <a:ea typeface="DejaVu Serif"/>
                <a:cs typeface="DejaVu Serif"/>
              </a:rPr>
              <a:t>Approve capital, capability, proof, and authority separately.</a:t>
            </a:r>
          </a:p>
        </p:txBody>
      </p:sp>
      <p:sp>
        <p:nvSpPr>
          <p:cNvPr id="7" name="title-accent-11">
            <a:extLst xmlns:a="http://schemas.openxmlformats.org/drawingml/2006/main">
              <a:ext uri="{FF2B5EF4-FFF2-40B4-BE49-F238E27FC236}">
                <a16:creationId xmlns:a16="http://schemas.microsoft.com/office/drawing/2014/main" id="{E42BA76F-2977-45CC-A872-1A56BB596C7D}"/>
              </a:ext>
            </a:extLst>
          </p:cNvPr>
          <p:cNvSpPr>
            <a:spLocks xmlns:a="http://schemas.openxmlformats.org/drawingml/2006/main" noGrp="1"/>
          </p:cNvSpPr>
          <p:nvPr/>
        </p:nvSpPr>
        <p:spPr>
          <a:xfrm xmlns:a="http://schemas.openxmlformats.org/drawingml/2006/main">
            <a:off x="609600" y="184785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today-band">
            <a:extLst xmlns:a="http://schemas.openxmlformats.org/drawingml/2006/main">
              <a:ext uri="{FF2B5EF4-FFF2-40B4-BE49-F238E27FC236}">
                <a16:creationId xmlns:a16="http://schemas.microsoft.com/office/drawing/2014/main" id="{15FFB09F-7A34-4133-BBD8-F98B6606E972}"/>
              </a:ext>
            </a:extLst>
          </p:cNvPr>
          <p:cNvSpPr>
            <a:spLocks xmlns:a="http://schemas.openxmlformats.org/drawingml/2006/main" noGrp="1"/>
          </p:cNvSpPr>
          <p:nvPr/>
        </p:nvSpPr>
        <p:spPr>
          <a:xfrm xmlns:a="http://schemas.openxmlformats.org/drawingml/2006/main">
            <a:off x="609600" y="2095500"/>
            <a:ext cx="10972800" cy="552450"/>
          </a:xfrm>
          <a:prstGeom xmlns:a="http://schemas.openxmlformats.org/drawingml/2006/main" prst="roundRect">
            <a:avLst>
              <a:gd name="adj" fmla="val 13793"/>
            </a:avLst>
          </a:prstGeom>
          <a:solidFill xmlns:a="http://schemas.openxmlformats.org/drawingml/2006/main">
            <a:srgbClr val="031426"/>
          </a:solidFill>
          <a:ln xmlns:a="http://schemas.openxmlformats.org/drawingml/2006/main" w="0">
            <a:solidFill>
              <a:srgbClr val="031426"/>
            </a:solidFill>
            <a:prstDash val="solid"/>
          </a:ln>
        </p:spPr>
      </p:sp>
      <p:sp>
        <p:nvSpPr>
          <p:cNvPr id="9" name="today-copy">
            <a:extLst xmlns:a="http://schemas.openxmlformats.org/drawingml/2006/main">
              <a:ext uri="{FF2B5EF4-FFF2-40B4-BE49-F238E27FC236}">
                <a16:creationId xmlns:a16="http://schemas.microsoft.com/office/drawing/2014/main" id="{C239ADFC-24E0-43CF-A330-36B3114A2ED0}"/>
              </a:ext>
            </a:extLst>
          </p:cNvPr>
          <p:cNvSpPr>
            <a:spLocks xmlns:a="http://schemas.openxmlformats.org/drawingml/2006/main" noGrp="1"/>
          </p:cNvSpPr>
          <p:nvPr/>
        </p:nvSpPr>
        <p:spPr>
          <a:xfrm xmlns:a="http://schemas.openxmlformats.org/drawingml/2006/main">
            <a:off x="838200" y="2190750"/>
            <a:ext cx="1051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E7C978"/>
                </a:solidFill>
                <a:latin typeface="DejaVu Sans"/>
                <a:ea typeface="DejaVu Sans"/>
                <a:cs typeface="DejaVu Sans"/>
              </a:defRPr>
            </a:pPr>
            <a:r>
              <a:rPr sz="1650" b="1" i="0">
                <a:solidFill>
                  <a:srgbClr val="E7C978"/>
                </a:solidFill>
                <a:latin typeface="DejaVu Sans"/>
                <a:ea typeface="DejaVu Sans"/>
                <a:cs typeface="DejaVu Sans"/>
              </a:rPr>
              <a:t>TODAY: D0 — UNDERWRITE ONE MISSION</a:t>
            </a:r>
          </a:p>
        </p:txBody>
      </p:sp>
      <p:sp>
        <p:nvSpPr>
          <p:cNvPr id="10" name="gate-path">
            <a:extLst xmlns:a="http://schemas.openxmlformats.org/drawingml/2006/main">
              <a:ext uri="{FF2B5EF4-FFF2-40B4-BE49-F238E27FC236}">
                <a16:creationId xmlns:a16="http://schemas.microsoft.com/office/drawing/2014/main" id="{F96DC988-F871-4643-9042-A12C77D2CE7C}"/>
              </a:ext>
            </a:extLst>
          </p:cNvPr>
          <p:cNvSpPr>
            <a:spLocks xmlns:a="http://schemas.openxmlformats.org/drawingml/2006/main" noGrp="1"/>
          </p:cNvSpPr>
          <p:nvPr/>
        </p:nvSpPr>
        <p:spPr>
          <a:xfrm xmlns:a="http://schemas.openxmlformats.org/drawingml/2006/main">
            <a:off x="1352550" y="3467100"/>
            <a:ext cx="9429750" cy="0"/>
          </a:xfrm>
          <a:prstGeom xmlns:a="http://schemas.openxmlformats.org/drawingml/2006/main" prst="line">
            <a:avLst/>
          </a:prstGeom>
          <a:noFill xmlns:a="http://schemas.openxmlformats.org/drawingml/2006/main"/>
          <a:ln xmlns:a="http://schemas.openxmlformats.org/drawingml/2006/main" w="47625">
            <a:solidFill>
              <a:srgbClr val="D7C7A5"/>
            </a:solidFill>
            <a:prstDash val="solid"/>
          </a:ln>
        </p:spPr>
      </p:sp>
      <p:sp>
        <p:nvSpPr>
          <p:cNvPr id="11" name="gate-0">
            <a:extLst xmlns:a="http://schemas.openxmlformats.org/drawingml/2006/main">
              <a:ext uri="{FF2B5EF4-FFF2-40B4-BE49-F238E27FC236}">
                <a16:creationId xmlns:a16="http://schemas.microsoft.com/office/drawing/2014/main" id="{4283EFAC-1452-4164-8B0E-9993C290E803}"/>
              </a:ext>
            </a:extLst>
          </p:cNvPr>
          <p:cNvSpPr>
            <a:spLocks xmlns:a="http://schemas.openxmlformats.org/drawingml/2006/main" noGrp="1"/>
          </p:cNvSpPr>
          <p:nvPr/>
        </p:nvSpPr>
        <p:spPr>
          <a:xfrm xmlns:a="http://schemas.openxmlformats.org/drawingml/2006/main">
            <a:off x="914400" y="3124200"/>
            <a:ext cx="685800" cy="685800"/>
          </a:xfrm>
          <a:prstGeom xmlns:a="http://schemas.openxmlformats.org/drawingml/2006/main" prst="ellipse">
            <a:avLst/>
          </a:prstGeom>
          <a:solidFill xmlns:a="http://schemas.openxmlformats.org/drawingml/2006/main">
            <a:srgbClr val="C8942A"/>
          </a:solidFill>
          <a:ln xmlns:a="http://schemas.openxmlformats.org/drawingml/2006/main" w="22860">
            <a:solidFill>
              <a:srgbClr val="C8942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31426"/>
                </a:solidFill>
                <a:latin typeface="DejaVu Sans"/>
                <a:ea typeface="DejaVu Sans"/>
                <a:cs typeface="DejaVu Sans"/>
              </a:defRPr>
            </a:pPr>
            <a:r>
              <a:rPr sz="1500" b="1">
                <a:solidFill>
                  <a:srgbClr val="031426"/>
                </a:solidFill>
                <a:latin typeface="DejaVu Sans"/>
                <a:ea typeface="DejaVu Sans"/>
                <a:cs typeface="DejaVu Sans"/>
              </a:rPr>
              <a:t>D0</a:t>
            </a:r>
          </a:p>
        </p:txBody>
      </p:sp>
      <p:sp>
        <p:nvSpPr>
          <p:cNvPr id="12" name="gate-title-0">
            <a:extLst xmlns:a="http://schemas.openxmlformats.org/drawingml/2006/main">
              <a:ext uri="{FF2B5EF4-FFF2-40B4-BE49-F238E27FC236}">
                <a16:creationId xmlns:a16="http://schemas.microsoft.com/office/drawing/2014/main" id="{4D8F4CC4-AAF0-4F7C-BB55-B700F8E5A0C9}"/>
              </a:ext>
            </a:extLst>
          </p:cNvPr>
          <p:cNvSpPr>
            <a:spLocks xmlns:a="http://schemas.openxmlformats.org/drawingml/2006/main" noGrp="1"/>
          </p:cNvSpPr>
          <p:nvPr/>
        </p:nvSpPr>
        <p:spPr>
          <a:xfrm xmlns:a="http://schemas.openxmlformats.org/drawingml/2006/main">
            <a:off x="514350" y="4000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C8942A"/>
                </a:solidFill>
                <a:latin typeface="DejaVu Sans"/>
                <a:ea typeface="DejaVu Sans"/>
                <a:cs typeface="DejaVu Sans"/>
              </a:defRPr>
            </a:pPr>
            <a:r>
              <a:rPr sz="1200" b="1" i="0">
                <a:solidFill>
                  <a:srgbClr val="C8942A"/>
                </a:solidFill>
                <a:latin typeface="DejaVu Sans"/>
                <a:ea typeface="DejaVu Sans"/>
                <a:cs typeface="DejaVu Sans"/>
              </a:rPr>
              <a:t>UNDERWRITE</a:t>
            </a:r>
          </a:p>
        </p:txBody>
      </p:sp>
      <p:sp>
        <p:nvSpPr>
          <p:cNvPr id="13" name="gate-question-0">
            <a:extLst xmlns:a="http://schemas.openxmlformats.org/drawingml/2006/main">
              <a:ext uri="{FF2B5EF4-FFF2-40B4-BE49-F238E27FC236}">
                <a16:creationId xmlns:a16="http://schemas.microsoft.com/office/drawing/2014/main" id="{91FE3649-124C-4B13-9D24-B3C617879010}"/>
              </a:ext>
            </a:extLst>
          </p:cNvPr>
          <p:cNvSpPr>
            <a:spLocks xmlns:a="http://schemas.openxmlformats.org/drawingml/2006/main" noGrp="1"/>
          </p:cNvSpPr>
          <p:nvPr/>
        </p:nvSpPr>
        <p:spPr>
          <a:xfrm xmlns:a="http://schemas.openxmlformats.org/drawingml/2006/main">
            <a:off x="323850" y="44386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6717F"/>
                </a:solidFill>
                <a:latin typeface="DejaVu Sans"/>
                <a:ea typeface="DejaVu Sans"/>
                <a:cs typeface="DejaVu Sans"/>
              </a:defRPr>
            </a:pPr>
            <a:r>
              <a:rPr sz="1275" b="0" i="0">
                <a:solidFill>
                  <a:srgbClr val="66717F"/>
                </a:solidFill>
                <a:latin typeface="DejaVu Sans"/>
                <a:ea typeface="DejaVu Sans"/>
                <a:cs typeface="DejaVu Sans"/>
              </a:rPr>
              <a:t>Important, observable, worth proving?</a:t>
            </a:r>
          </a:p>
        </p:txBody>
      </p:sp>
      <p:sp>
        <p:nvSpPr>
          <p:cNvPr id="14" name="gate-1">
            <a:extLst xmlns:a="http://schemas.openxmlformats.org/drawingml/2006/main">
              <a:ext uri="{FF2B5EF4-FFF2-40B4-BE49-F238E27FC236}">
                <a16:creationId xmlns:a16="http://schemas.microsoft.com/office/drawing/2014/main" id="{DD02D434-8242-4D2C-A109-65907E85A651}"/>
              </a:ext>
            </a:extLst>
          </p:cNvPr>
          <p:cNvSpPr>
            <a:spLocks xmlns:a="http://schemas.openxmlformats.org/drawingml/2006/main" noGrp="1"/>
          </p:cNvSpPr>
          <p:nvPr/>
        </p:nvSpPr>
        <p:spPr>
          <a:xfrm xmlns:a="http://schemas.openxmlformats.org/drawingml/2006/main">
            <a:off x="3238500" y="3124200"/>
            <a:ext cx="685800" cy="685800"/>
          </a:xfrm>
          <a:prstGeom xmlns:a="http://schemas.openxmlformats.org/drawingml/2006/main" prst="ellipse">
            <a:avLst/>
          </a:prstGeom>
          <a:solidFill xmlns:a="http://schemas.openxmlformats.org/drawingml/2006/main">
            <a:srgbClr val="FFFDF7"/>
          </a:solidFill>
          <a:ln xmlns:a="http://schemas.openxmlformats.org/drawingml/2006/main" w="22860">
            <a:solidFill>
              <a:srgbClr val="071B3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71B31"/>
                </a:solidFill>
                <a:latin typeface="DejaVu Sans"/>
                <a:ea typeface="DejaVu Sans"/>
                <a:cs typeface="DejaVu Sans"/>
              </a:defRPr>
            </a:pPr>
            <a:r>
              <a:rPr sz="1500" b="1">
                <a:solidFill>
                  <a:srgbClr val="071B31"/>
                </a:solidFill>
                <a:latin typeface="DejaVu Sans"/>
                <a:ea typeface="DejaVu Sans"/>
                <a:cs typeface="DejaVu Sans"/>
              </a:rPr>
              <a:t>D1</a:t>
            </a:r>
          </a:p>
        </p:txBody>
      </p:sp>
      <p:sp>
        <p:nvSpPr>
          <p:cNvPr id="15" name="gate-title-1">
            <a:extLst xmlns:a="http://schemas.openxmlformats.org/drawingml/2006/main">
              <a:ext uri="{FF2B5EF4-FFF2-40B4-BE49-F238E27FC236}">
                <a16:creationId xmlns:a16="http://schemas.microsoft.com/office/drawing/2014/main" id="{01605B76-E83C-44C8-9E22-5B586BA49851}"/>
              </a:ext>
            </a:extLst>
          </p:cNvPr>
          <p:cNvSpPr>
            <a:spLocks xmlns:a="http://schemas.openxmlformats.org/drawingml/2006/main" noGrp="1"/>
          </p:cNvSpPr>
          <p:nvPr/>
        </p:nvSpPr>
        <p:spPr>
          <a:xfrm xmlns:a="http://schemas.openxmlformats.org/drawingml/2006/main">
            <a:off x="2838450" y="4000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071B31"/>
                </a:solidFill>
                <a:latin typeface="DejaVu Sans"/>
                <a:ea typeface="DejaVu Sans"/>
                <a:cs typeface="DejaVu Sans"/>
              </a:defRPr>
            </a:pPr>
            <a:r>
              <a:rPr sz="1200" b="1" i="0">
                <a:solidFill>
                  <a:srgbClr val="071B31"/>
                </a:solidFill>
                <a:latin typeface="DejaVu Sans"/>
                <a:ea typeface="DejaVu Sans"/>
                <a:cs typeface="DejaVu Sans"/>
              </a:rPr>
              <a:t>BUILD</a:t>
            </a:r>
          </a:p>
        </p:txBody>
      </p:sp>
      <p:sp>
        <p:nvSpPr>
          <p:cNvPr id="16" name="gate-question-1">
            <a:extLst xmlns:a="http://schemas.openxmlformats.org/drawingml/2006/main">
              <a:ext uri="{FF2B5EF4-FFF2-40B4-BE49-F238E27FC236}">
                <a16:creationId xmlns:a16="http://schemas.microsoft.com/office/drawing/2014/main" id="{1CCD105A-2286-4519-B54A-C2716EA3E0FC}"/>
              </a:ext>
            </a:extLst>
          </p:cNvPr>
          <p:cNvSpPr>
            <a:spLocks xmlns:a="http://schemas.openxmlformats.org/drawingml/2006/main" noGrp="1"/>
          </p:cNvSpPr>
          <p:nvPr/>
        </p:nvSpPr>
        <p:spPr>
          <a:xfrm xmlns:a="http://schemas.openxmlformats.org/drawingml/2006/main">
            <a:off x="2647950" y="44386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6717F"/>
                </a:solidFill>
                <a:latin typeface="DejaVu Sans"/>
                <a:ea typeface="DejaVu Sans"/>
                <a:cs typeface="DejaVu Sans"/>
              </a:defRPr>
            </a:pPr>
            <a:r>
              <a:rPr sz="1275" b="0" i="0">
                <a:solidFill>
                  <a:srgbClr val="66717F"/>
                </a:solidFill>
                <a:latin typeface="DejaVu Sans"/>
                <a:ea typeface="DejaVu Sans"/>
                <a:cs typeface="DejaVu Sans"/>
              </a:rPr>
              <a:t>Evidence rights and safe test path adequate?</a:t>
            </a:r>
          </a:p>
        </p:txBody>
      </p:sp>
      <p:sp>
        <p:nvSpPr>
          <p:cNvPr id="17" name="gate-2">
            <a:extLst xmlns:a="http://schemas.openxmlformats.org/drawingml/2006/main">
              <a:ext uri="{FF2B5EF4-FFF2-40B4-BE49-F238E27FC236}">
                <a16:creationId xmlns:a16="http://schemas.microsoft.com/office/drawing/2014/main" id="{6E7F8485-5D47-4893-B3D0-1377AE2D01A6}"/>
              </a:ext>
            </a:extLst>
          </p:cNvPr>
          <p:cNvSpPr>
            <a:spLocks xmlns:a="http://schemas.openxmlformats.org/drawingml/2006/main" noGrp="1"/>
          </p:cNvSpPr>
          <p:nvPr/>
        </p:nvSpPr>
        <p:spPr>
          <a:xfrm xmlns:a="http://schemas.openxmlformats.org/drawingml/2006/main">
            <a:off x="5562600" y="3124200"/>
            <a:ext cx="685800" cy="685800"/>
          </a:xfrm>
          <a:prstGeom xmlns:a="http://schemas.openxmlformats.org/drawingml/2006/main" prst="ellipse">
            <a:avLst/>
          </a:prstGeom>
          <a:solidFill xmlns:a="http://schemas.openxmlformats.org/drawingml/2006/main">
            <a:srgbClr val="FFFDF7"/>
          </a:solidFill>
          <a:ln xmlns:a="http://schemas.openxmlformats.org/drawingml/2006/main" w="22860">
            <a:solidFill>
              <a:srgbClr val="071B3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71B31"/>
                </a:solidFill>
                <a:latin typeface="DejaVu Sans"/>
                <a:ea typeface="DejaVu Sans"/>
                <a:cs typeface="DejaVu Sans"/>
              </a:defRPr>
            </a:pPr>
            <a:r>
              <a:rPr sz="1500" b="1">
                <a:solidFill>
                  <a:srgbClr val="071B31"/>
                </a:solidFill>
                <a:latin typeface="DejaVu Sans"/>
                <a:ea typeface="DejaVu Sans"/>
                <a:cs typeface="DejaVu Sans"/>
              </a:rPr>
              <a:t>D2</a:t>
            </a:r>
          </a:p>
        </p:txBody>
      </p:sp>
      <p:sp>
        <p:nvSpPr>
          <p:cNvPr id="18" name="gate-title-2">
            <a:extLst xmlns:a="http://schemas.openxmlformats.org/drawingml/2006/main">
              <a:ext uri="{FF2B5EF4-FFF2-40B4-BE49-F238E27FC236}">
                <a16:creationId xmlns:a16="http://schemas.microsoft.com/office/drawing/2014/main" id="{6281F0D1-F7FB-4516-8075-21F8FCBBAD6A}"/>
              </a:ext>
            </a:extLst>
          </p:cNvPr>
          <p:cNvSpPr>
            <a:spLocks xmlns:a="http://schemas.openxmlformats.org/drawingml/2006/main" noGrp="1"/>
          </p:cNvSpPr>
          <p:nvPr/>
        </p:nvSpPr>
        <p:spPr>
          <a:xfrm xmlns:a="http://schemas.openxmlformats.org/drawingml/2006/main">
            <a:off x="5162550" y="4000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071B31"/>
                </a:solidFill>
                <a:latin typeface="DejaVu Sans"/>
                <a:ea typeface="DejaVu Sans"/>
                <a:cs typeface="DejaVu Sans"/>
              </a:defRPr>
            </a:pPr>
            <a:r>
              <a:rPr sz="1200" b="1" i="0">
                <a:solidFill>
                  <a:srgbClr val="071B31"/>
                </a:solidFill>
                <a:latin typeface="DejaVu Sans"/>
                <a:ea typeface="DejaVu Sans"/>
                <a:cs typeface="DejaVu Sans"/>
              </a:rPr>
              <a:t>PROVE</a:t>
            </a:r>
          </a:p>
        </p:txBody>
      </p:sp>
      <p:sp>
        <p:nvSpPr>
          <p:cNvPr id="19" name="gate-question-2">
            <a:extLst xmlns:a="http://schemas.openxmlformats.org/drawingml/2006/main">
              <a:ext uri="{FF2B5EF4-FFF2-40B4-BE49-F238E27FC236}">
                <a16:creationId xmlns:a16="http://schemas.microsoft.com/office/drawing/2014/main" id="{15A9B4B1-60F9-4514-BF21-C44C6E543028}"/>
              </a:ext>
            </a:extLst>
          </p:cNvPr>
          <p:cNvSpPr>
            <a:spLocks xmlns:a="http://schemas.openxmlformats.org/drawingml/2006/main" noGrp="1"/>
          </p:cNvSpPr>
          <p:nvPr/>
        </p:nvSpPr>
        <p:spPr>
          <a:xfrm xmlns:a="http://schemas.openxmlformats.org/drawingml/2006/main">
            <a:off x="4972050" y="44386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6717F"/>
                </a:solidFill>
                <a:latin typeface="DejaVu Sans"/>
                <a:ea typeface="DejaVu Sans"/>
                <a:cs typeface="DejaVu Sans"/>
              </a:defRPr>
            </a:pPr>
            <a:r>
              <a:rPr sz="1275" b="0" i="0">
                <a:solidFill>
                  <a:srgbClr val="66717F"/>
                </a:solidFill>
                <a:latin typeface="DejaVu Sans"/>
                <a:ea typeface="DejaVu Sans"/>
                <a:cs typeface="DejaVu Sans"/>
              </a:rPr>
              <a:t>Exact candidate ready for protected examination?</a:t>
            </a:r>
          </a:p>
        </p:txBody>
      </p:sp>
      <p:sp>
        <p:nvSpPr>
          <p:cNvPr id="20" name="gate-3">
            <a:extLst xmlns:a="http://schemas.openxmlformats.org/drawingml/2006/main">
              <a:ext uri="{FF2B5EF4-FFF2-40B4-BE49-F238E27FC236}">
                <a16:creationId xmlns:a16="http://schemas.microsoft.com/office/drawing/2014/main" id="{16FB4087-E6A0-49E1-BCA5-315437D06205}"/>
              </a:ext>
            </a:extLst>
          </p:cNvPr>
          <p:cNvSpPr>
            <a:spLocks xmlns:a="http://schemas.openxmlformats.org/drawingml/2006/main" noGrp="1"/>
          </p:cNvSpPr>
          <p:nvPr/>
        </p:nvSpPr>
        <p:spPr>
          <a:xfrm xmlns:a="http://schemas.openxmlformats.org/drawingml/2006/main">
            <a:off x="7886700" y="3124200"/>
            <a:ext cx="685800" cy="685800"/>
          </a:xfrm>
          <a:prstGeom xmlns:a="http://schemas.openxmlformats.org/drawingml/2006/main" prst="ellipse">
            <a:avLst/>
          </a:prstGeom>
          <a:solidFill xmlns:a="http://schemas.openxmlformats.org/drawingml/2006/main">
            <a:srgbClr val="FFFDF7"/>
          </a:solidFill>
          <a:ln xmlns:a="http://schemas.openxmlformats.org/drawingml/2006/main" w="22860">
            <a:solidFill>
              <a:srgbClr val="071B3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71B31"/>
                </a:solidFill>
                <a:latin typeface="DejaVu Sans"/>
                <a:ea typeface="DejaVu Sans"/>
                <a:cs typeface="DejaVu Sans"/>
              </a:defRPr>
            </a:pPr>
            <a:r>
              <a:rPr sz="1500" b="1">
                <a:solidFill>
                  <a:srgbClr val="071B31"/>
                </a:solidFill>
                <a:latin typeface="DejaVu Sans"/>
                <a:ea typeface="DejaVu Sans"/>
                <a:cs typeface="DejaVu Sans"/>
              </a:rPr>
              <a:t>D3</a:t>
            </a:r>
          </a:p>
        </p:txBody>
      </p:sp>
      <p:sp>
        <p:nvSpPr>
          <p:cNvPr id="21" name="gate-title-3">
            <a:extLst xmlns:a="http://schemas.openxmlformats.org/drawingml/2006/main">
              <a:ext uri="{FF2B5EF4-FFF2-40B4-BE49-F238E27FC236}">
                <a16:creationId xmlns:a16="http://schemas.microsoft.com/office/drawing/2014/main" id="{A99F3A3A-B126-4F94-BE55-495719818509}"/>
              </a:ext>
            </a:extLst>
          </p:cNvPr>
          <p:cNvSpPr>
            <a:spLocks xmlns:a="http://schemas.openxmlformats.org/drawingml/2006/main" noGrp="1"/>
          </p:cNvSpPr>
          <p:nvPr/>
        </p:nvSpPr>
        <p:spPr>
          <a:xfrm xmlns:a="http://schemas.openxmlformats.org/drawingml/2006/main">
            <a:off x="7486650" y="4000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071B31"/>
                </a:solidFill>
                <a:latin typeface="DejaVu Sans"/>
                <a:ea typeface="DejaVu Sans"/>
                <a:cs typeface="DejaVu Sans"/>
              </a:defRPr>
            </a:pPr>
            <a:r>
              <a:rPr sz="1200" b="1" i="0">
                <a:solidFill>
                  <a:srgbClr val="071B31"/>
                </a:solidFill>
                <a:latin typeface="DejaVu Sans"/>
                <a:ea typeface="DejaVu Sans"/>
                <a:cs typeface="DejaVu Sans"/>
              </a:rPr>
              <a:t>ADMIT</a:t>
            </a:r>
          </a:p>
        </p:txBody>
      </p:sp>
      <p:sp>
        <p:nvSpPr>
          <p:cNvPr id="22" name="gate-question-3">
            <a:extLst xmlns:a="http://schemas.openxmlformats.org/drawingml/2006/main">
              <a:ext uri="{FF2B5EF4-FFF2-40B4-BE49-F238E27FC236}">
                <a16:creationId xmlns:a16="http://schemas.microsoft.com/office/drawing/2014/main" id="{759FF635-CD7C-48A2-AA4B-5450EBCBE4C0}"/>
              </a:ext>
            </a:extLst>
          </p:cNvPr>
          <p:cNvSpPr>
            <a:spLocks xmlns:a="http://schemas.openxmlformats.org/drawingml/2006/main" noGrp="1"/>
          </p:cNvSpPr>
          <p:nvPr/>
        </p:nvSpPr>
        <p:spPr>
          <a:xfrm xmlns:a="http://schemas.openxmlformats.org/drawingml/2006/main">
            <a:off x="7296150" y="44386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6717F"/>
                </a:solidFill>
                <a:latin typeface="DejaVu Sans"/>
                <a:ea typeface="DejaVu Sans"/>
                <a:cs typeface="DejaVu Sans"/>
              </a:defRPr>
            </a:pPr>
            <a:r>
              <a:rPr sz="1275" b="0" i="0">
                <a:solidFill>
                  <a:srgbClr val="66717F"/>
                </a:solidFill>
                <a:latin typeface="DejaVu Sans"/>
                <a:ea typeface="DejaVu Sans"/>
                <a:cs typeface="DejaVu Sans"/>
              </a:rPr>
              <a:t>Proof sufficient and controls ready?</a:t>
            </a:r>
          </a:p>
        </p:txBody>
      </p:sp>
      <p:sp>
        <p:nvSpPr>
          <p:cNvPr id="23" name="gate-4">
            <a:extLst xmlns:a="http://schemas.openxmlformats.org/drawingml/2006/main">
              <a:ext uri="{FF2B5EF4-FFF2-40B4-BE49-F238E27FC236}">
                <a16:creationId xmlns:a16="http://schemas.microsoft.com/office/drawing/2014/main" id="{6AC4BC50-C915-464F-BF07-927A7537DC49}"/>
              </a:ext>
            </a:extLst>
          </p:cNvPr>
          <p:cNvSpPr>
            <a:spLocks xmlns:a="http://schemas.openxmlformats.org/drawingml/2006/main" noGrp="1"/>
          </p:cNvSpPr>
          <p:nvPr/>
        </p:nvSpPr>
        <p:spPr>
          <a:xfrm xmlns:a="http://schemas.openxmlformats.org/drawingml/2006/main">
            <a:off x="10210800" y="3124200"/>
            <a:ext cx="685800" cy="685800"/>
          </a:xfrm>
          <a:prstGeom xmlns:a="http://schemas.openxmlformats.org/drawingml/2006/main" prst="ellipse">
            <a:avLst/>
          </a:prstGeom>
          <a:solidFill xmlns:a="http://schemas.openxmlformats.org/drawingml/2006/main">
            <a:srgbClr val="FFFDF7"/>
          </a:solidFill>
          <a:ln xmlns:a="http://schemas.openxmlformats.org/drawingml/2006/main" w="22860">
            <a:solidFill>
              <a:srgbClr val="071B3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71B31"/>
                </a:solidFill>
                <a:latin typeface="DejaVu Sans"/>
                <a:ea typeface="DejaVu Sans"/>
                <a:cs typeface="DejaVu Sans"/>
              </a:defRPr>
            </a:pPr>
            <a:r>
              <a:rPr sz="1500" b="1">
                <a:solidFill>
                  <a:srgbClr val="071B31"/>
                </a:solidFill>
                <a:latin typeface="DejaVu Sans"/>
                <a:ea typeface="DejaVu Sans"/>
                <a:cs typeface="DejaVu Sans"/>
              </a:rPr>
              <a:t>D4</a:t>
            </a:r>
          </a:p>
        </p:txBody>
      </p:sp>
      <p:sp>
        <p:nvSpPr>
          <p:cNvPr id="24" name="gate-title-4">
            <a:extLst xmlns:a="http://schemas.openxmlformats.org/drawingml/2006/main">
              <a:ext uri="{FF2B5EF4-FFF2-40B4-BE49-F238E27FC236}">
                <a16:creationId xmlns:a16="http://schemas.microsoft.com/office/drawing/2014/main" id="{90614F14-9D3B-4AD7-B566-8E623FFBF5B9}"/>
              </a:ext>
            </a:extLst>
          </p:cNvPr>
          <p:cNvSpPr>
            <a:spLocks xmlns:a="http://schemas.openxmlformats.org/drawingml/2006/main" noGrp="1"/>
          </p:cNvSpPr>
          <p:nvPr/>
        </p:nvSpPr>
        <p:spPr>
          <a:xfrm xmlns:a="http://schemas.openxmlformats.org/drawingml/2006/main">
            <a:off x="9810750" y="4000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071B31"/>
                </a:solidFill>
                <a:latin typeface="DejaVu Sans"/>
                <a:ea typeface="DejaVu Sans"/>
                <a:cs typeface="DejaVu Sans"/>
              </a:defRPr>
            </a:pPr>
            <a:r>
              <a:rPr sz="1200" b="1" i="0">
                <a:solidFill>
                  <a:srgbClr val="071B31"/>
                </a:solidFill>
                <a:latin typeface="DejaVu Sans"/>
                <a:ea typeface="DejaVu Sans"/>
                <a:cs typeface="DejaVu Sans"/>
              </a:rPr>
              <a:t>RENEW / RETIRE</a:t>
            </a:r>
          </a:p>
        </p:txBody>
      </p:sp>
      <p:sp>
        <p:nvSpPr>
          <p:cNvPr id="25" name="gate-question-4">
            <a:extLst xmlns:a="http://schemas.openxmlformats.org/drawingml/2006/main">
              <a:ext uri="{FF2B5EF4-FFF2-40B4-BE49-F238E27FC236}">
                <a16:creationId xmlns:a16="http://schemas.microsoft.com/office/drawing/2014/main" id="{E1B4D32C-825D-48C7-B71D-D41269105E95}"/>
              </a:ext>
            </a:extLst>
          </p:cNvPr>
          <p:cNvSpPr>
            <a:spLocks xmlns:a="http://schemas.openxmlformats.org/drawingml/2006/main" noGrp="1"/>
          </p:cNvSpPr>
          <p:nvPr/>
        </p:nvSpPr>
        <p:spPr>
          <a:xfrm xmlns:a="http://schemas.openxmlformats.org/drawingml/2006/main">
            <a:off x="9620250" y="4438650"/>
            <a:ext cx="186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6717F"/>
                </a:solidFill>
                <a:latin typeface="DejaVu Sans"/>
                <a:ea typeface="DejaVu Sans"/>
                <a:cs typeface="DejaVu Sans"/>
              </a:defRPr>
            </a:pPr>
            <a:r>
              <a:rPr sz="1275" b="0" i="0">
                <a:solidFill>
                  <a:srgbClr val="66717F"/>
                </a:solidFill>
                <a:latin typeface="DejaVu Sans"/>
                <a:ea typeface="DejaVu Sans"/>
                <a:cs typeface="DejaVu Sans"/>
              </a:rPr>
              <a:t>Proof current and institution still fit?</a:t>
            </a:r>
          </a:p>
        </p:txBody>
      </p:sp>
      <p:sp>
        <p:nvSpPr>
          <p:cNvPr id="26" name="gate-law">
            <a:extLst xmlns:a="http://schemas.openxmlformats.org/drawingml/2006/main">
              <a:ext uri="{FF2B5EF4-FFF2-40B4-BE49-F238E27FC236}">
                <a16:creationId xmlns:a16="http://schemas.microsoft.com/office/drawing/2014/main" id="{F85C94E2-8133-4892-AE42-DA6B06F70780}"/>
              </a:ext>
            </a:extLst>
          </p:cNvPr>
          <p:cNvSpPr>
            <a:spLocks xmlns:a="http://schemas.openxmlformats.org/drawingml/2006/main" noGrp="1"/>
          </p:cNvSpPr>
          <p:nvPr/>
        </p:nvSpPr>
        <p:spPr>
          <a:xfrm xmlns:a="http://schemas.openxmlformats.org/drawingml/2006/main">
            <a:off x="609600" y="56578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071B31"/>
                </a:solidFill>
                <a:latin typeface="DejaVu Serif"/>
                <a:ea typeface="DejaVu Serif"/>
                <a:cs typeface="DejaVu Serif"/>
              </a:defRPr>
            </a:pPr>
            <a:r>
              <a:rPr sz="1500" b="1" i="0">
                <a:solidFill>
                  <a:srgbClr val="071B31"/>
                </a:solidFill>
                <a:latin typeface="DejaVu Serif"/>
                <a:ea typeface="DejaVu Serif"/>
                <a:cs typeface="DejaVu Serif"/>
              </a:rPr>
              <a:t>A pass at one gate creates no presumption at the next. A failure receipt is a valid governance outcome.</a:t>
            </a:r>
          </a:p>
        </p:txBody>
      </p:sp>
    </p:spTree>
    <p:extLst>
      <p:ext uri="{BB962C8B-B14F-4D97-AF65-F5344CB8AC3E}">
        <p14:creationId xmlns:p14="http://schemas.microsoft.com/office/powerpoint/2010/main" val="1207302524"/>
      </p:ext>
    </p:extLst>
  </p:cSld>
</p:sld>
</file>

<file path=ppt/slides/slide12.xml><?xml version="1.0" encoding="utf-8"?>
<p:sld xmlns:p="http://schemas.openxmlformats.org/presentationml/2006/main">
  <p:cSld>
    <p:bg>
      <p:bgPr>
        <a:solidFill xmlns:a="http://schemas.openxmlformats.org/drawingml/2006/main">
          <a:srgbClr val="F7F1E6"/>
        </a:solidFill>
      </p:bgPr>
    </p:bg>
    <p:spTree>
      <p:nvGrpSpPr>
        <p:cNvPr id="1" name=""/>
        <p:cNvGrpSpPr/>
        <p:nvPr/>
      </p:nvGrpSpPr>
      <p:grpSpPr>
        <a:xfrm xmlns:a="http://schemas.openxmlformats.org/drawingml/2006/main"/>
      </p:grpSpPr>
      <p:sp>
        <p:nvSpPr>
          <p:cNvPr id="22" name="eyebrow-MONTREAL.A">
            <a:extLst xmlns:a="http://schemas.openxmlformats.org/drawingml/2006/main">
              <a:ext uri="{FF2B5EF4-FFF2-40B4-BE49-F238E27FC236}">
                <a16:creationId xmlns:a16="http://schemas.microsoft.com/office/drawing/2014/main" id="{E6B46852-F40B-4673-8F45-441A26F13C61}"/>
              </a:ext>
            </a:extLst>
          </p:cNvPr>
          <p:cNvSpPr>
            <a:spLocks xmlns:a="http://schemas.openxmlformats.org/drawingml/2006/main" noGrp="1"/>
          </p:cNvSpPr>
          <p:nvPr/>
        </p:nvSpPr>
        <p:spPr>
          <a:xfrm xmlns:a="http://schemas.openxmlformats.org/drawingml/2006/main">
            <a:off x="609600" y="2476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i="0">
                <a:solidFill>
                  <a:srgbClr val="C8942A"/>
                </a:solidFill>
                <a:latin typeface="DejaVu Sans"/>
                <a:ea typeface="DejaVu Sans"/>
                <a:cs typeface="DejaVu Sans"/>
              </a:defRPr>
            </a:pPr>
            <a:r>
              <a:rPr sz="1050" b="1" i="0">
                <a:solidFill>
                  <a:srgbClr val="C8942A"/>
                </a:solidFill>
                <a:latin typeface="DejaVu Sans"/>
                <a:ea typeface="DejaVu Sans"/>
                <a:cs typeface="DejaVu Sans"/>
              </a:rPr>
              <a:t>MONTREAL.AI  ◆  BOARD DECISION PACK</a:t>
            </a:r>
          </a:p>
        </p:txBody>
      </p:sp>
      <p:sp>
        <p:nvSpPr>
          <p:cNvPr id="2" name="top-rule-12">
            <a:extLst xmlns:a="http://schemas.openxmlformats.org/drawingml/2006/main">
              <a:ext uri="{FF2B5EF4-FFF2-40B4-BE49-F238E27FC236}">
                <a16:creationId xmlns:a16="http://schemas.microsoft.com/office/drawing/2014/main" id="{363797F8-57F2-4D1F-9238-854A874D8812}"/>
              </a:ext>
            </a:extLst>
          </p:cNvPr>
          <p:cNvSpPr>
            <a:spLocks xmlns:a="http://schemas.openxmlformats.org/drawingml/2006/main" noGrp="1"/>
          </p:cNvSpPr>
          <p:nvPr/>
        </p:nvSpPr>
        <p:spPr>
          <a:xfrm xmlns:a="http://schemas.openxmlformats.org/drawingml/2006/main">
            <a:off x="609600" y="533400"/>
            <a:ext cx="10972800" cy="0"/>
          </a:xfrm>
          <a:prstGeom xmlns:a="http://schemas.openxmlformats.org/drawingml/2006/main" prst="line">
            <a:avLst/>
          </a:prstGeom>
          <a:noFill xmlns:a="http://schemas.openxmlformats.org/drawingml/2006/main"/>
          <a:ln xmlns:a="http://schemas.openxmlformats.org/drawingml/2006/main" w="13335">
            <a:solidFill>
              <a:srgbClr val="D7C7A5"/>
            </a:solidFill>
            <a:prstDash val="solid"/>
          </a:ln>
        </p:spPr>
      </p:sp>
      <p:sp>
        <p:nvSpPr>
          <p:cNvPr id="3" name="bottom-rule-12">
            <a:extLst xmlns:a="http://schemas.openxmlformats.org/drawingml/2006/main">
              <a:ext uri="{FF2B5EF4-FFF2-40B4-BE49-F238E27FC236}">
                <a16:creationId xmlns:a16="http://schemas.microsoft.com/office/drawing/2014/main" id="{8B4E108F-DDCC-4CB0-A0FE-2183E0C96F4D}"/>
              </a:ext>
            </a:extLst>
          </p:cNvPr>
          <p:cNvSpPr>
            <a:spLocks xmlns:a="http://schemas.openxmlformats.org/drawingml/2006/main" noGrp="1"/>
          </p:cNvSpPr>
          <p:nvPr/>
        </p:nvSpPr>
        <p:spPr>
          <a:xfrm xmlns:a="http://schemas.openxmlformats.org/drawingml/2006/main">
            <a:off x="609600" y="6477000"/>
            <a:ext cx="10972800" cy="0"/>
          </a:xfrm>
          <a:prstGeom xmlns:a="http://schemas.openxmlformats.org/drawingml/2006/main" prst="line">
            <a:avLst/>
          </a:prstGeom>
          <a:noFill xmlns:a="http://schemas.openxmlformats.org/drawingml/2006/main"/>
          <a:ln xmlns:a="http://schemas.openxmlformats.org/drawingml/2006/main" w="9525">
            <a:solidFill>
              <a:srgbClr val="D7C7A5"/>
            </a:solidFill>
            <a:prstDash val="solid"/>
          </a:ln>
        </p:spPr>
      </p:sp>
      <p:sp>
        <p:nvSpPr>
          <p:cNvPr id="4" name="footer-12">
            <a:extLst xmlns:a="http://schemas.openxmlformats.org/drawingml/2006/main">
              <a:ext uri="{FF2B5EF4-FFF2-40B4-BE49-F238E27FC236}">
                <a16:creationId xmlns:a16="http://schemas.microsoft.com/office/drawing/2014/main" id="{32715FF1-A9E0-4EAA-8821-AD694C4A9AAC}"/>
              </a:ext>
            </a:extLst>
          </p:cNvPr>
          <p:cNvSpPr>
            <a:spLocks xmlns:a="http://schemas.openxmlformats.org/drawingml/2006/main" noGrp="1"/>
          </p:cNvSpPr>
          <p:nvPr/>
        </p:nvSpPr>
        <p:spPr>
          <a:xfrm xmlns:a="http://schemas.openxmlformats.org/drawingml/2006/main">
            <a:off x="609600" y="65341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1" i="0">
                <a:solidFill>
                  <a:srgbClr val="66717F"/>
                </a:solidFill>
                <a:latin typeface="DejaVu Sans"/>
                <a:ea typeface="DejaVu Sans"/>
                <a:cs typeface="DejaVu Sans"/>
              </a:defRPr>
            </a:pPr>
            <a:r>
              <a:rPr sz="825" b="1" i="0">
                <a:solidFill>
                  <a:srgbClr val="66717F"/>
                </a:solidFill>
                <a:latin typeface="DejaVu Sans"/>
                <a:ea typeface="DejaVu Sans"/>
                <a:cs typeface="DejaVu Sans"/>
              </a:rPr>
              <a:t>NEURAL-SYMBOLIC SUCCESSOR Ω</a:t>
            </a:r>
          </a:p>
        </p:txBody>
      </p:sp>
      <p:sp>
        <p:nvSpPr>
          <p:cNvPr id="5" name="page-12">
            <a:extLst xmlns:a="http://schemas.openxmlformats.org/drawingml/2006/main">
              <a:ext uri="{FF2B5EF4-FFF2-40B4-BE49-F238E27FC236}">
                <a16:creationId xmlns:a16="http://schemas.microsoft.com/office/drawing/2014/main" id="{23547AA2-FF99-4266-9C7E-1B9B86327D00}"/>
              </a:ext>
            </a:extLst>
          </p:cNvPr>
          <p:cNvSpPr>
            <a:spLocks xmlns:a="http://schemas.openxmlformats.org/drawingml/2006/main" noGrp="1"/>
          </p:cNvSpPr>
          <p:nvPr/>
        </p:nvSpPr>
        <p:spPr>
          <a:xfrm xmlns:a="http://schemas.openxmlformats.org/drawingml/2006/main">
            <a:off x="11010900" y="65341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825" b="1" i="0">
                <a:solidFill>
                  <a:srgbClr val="071B31"/>
                </a:solidFill>
                <a:latin typeface="DejaVu Sans"/>
                <a:ea typeface="DejaVu Sans"/>
                <a:cs typeface="DejaVu Sans"/>
              </a:defRPr>
            </a:pPr>
            <a:r>
              <a:rPr sz="825" b="1" i="0">
                <a:solidFill>
                  <a:srgbClr val="071B31"/>
                </a:solidFill>
                <a:latin typeface="DejaVu Sans"/>
                <a:ea typeface="DejaVu Sans"/>
                <a:cs typeface="DejaVu Sans"/>
              </a:rPr>
              <a:t>12</a:t>
            </a:r>
          </a:p>
        </p:txBody>
      </p:sp>
      <p:sp>
        <p:nvSpPr>
          <p:cNvPr id="6" name="title-12">
            <a:extLst xmlns:a="http://schemas.openxmlformats.org/drawingml/2006/main">
              <a:ext uri="{FF2B5EF4-FFF2-40B4-BE49-F238E27FC236}">
                <a16:creationId xmlns:a16="http://schemas.microsoft.com/office/drawing/2014/main" id="{5710D12E-C9F7-4575-9C0C-28160310DD08}"/>
              </a:ext>
            </a:extLst>
          </p:cNvPr>
          <p:cNvSpPr>
            <a:spLocks xmlns:a="http://schemas.openxmlformats.org/drawingml/2006/main" noGrp="1"/>
          </p:cNvSpPr>
          <p:nvPr/>
        </p:nvSpPr>
        <p:spPr>
          <a:xfrm xmlns:a="http://schemas.openxmlformats.org/drawingml/2006/main">
            <a:off x="609600" y="76200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i="0">
                <a:solidFill>
                  <a:srgbClr val="071B31"/>
                </a:solidFill>
                <a:latin typeface="DejaVu Serif"/>
                <a:ea typeface="DejaVu Serif"/>
                <a:cs typeface="DejaVu Serif"/>
              </a:defRPr>
            </a:pPr>
            <a:r>
              <a:rPr sz="2925" b="1" i="0">
                <a:solidFill>
                  <a:srgbClr val="071B31"/>
                </a:solidFill>
                <a:latin typeface="DejaVu Serif"/>
                <a:ea typeface="DejaVu Serif"/>
                <a:cs typeface="DejaVu Serif"/>
              </a:rPr>
              <a:t>Board resolution: authorize D0 — Underwrite.</a:t>
            </a:r>
          </a:p>
        </p:txBody>
      </p:sp>
      <p:sp>
        <p:nvSpPr>
          <p:cNvPr id="7" name="title-accent-12">
            <a:extLst xmlns:a="http://schemas.openxmlformats.org/drawingml/2006/main">
              <a:ext uri="{FF2B5EF4-FFF2-40B4-BE49-F238E27FC236}">
                <a16:creationId xmlns:a16="http://schemas.microsoft.com/office/drawing/2014/main" id="{7B38FA22-6E12-4AE0-963C-8E54056F5B0B}"/>
              </a:ext>
            </a:extLst>
          </p:cNvPr>
          <p:cNvSpPr>
            <a:spLocks xmlns:a="http://schemas.openxmlformats.org/drawingml/2006/main" noGrp="1"/>
          </p:cNvSpPr>
          <p:nvPr/>
        </p:nvSpPr>
        <p:spPr>
          <a:xfrm xmlns:a="http://schemas.openxmlformats.org/drawingml/2006/main">
            <a:off x="609600" y="1447800"/>
            <a:ext cx="914400" cy="0"/>
          </a:xfrm>
          <a:prstGeom xmlns:a="http://schemas.openxmlformats.org/drawingml/2006/main" prst="line">
            <a:avLst/>
          </a:prstGeom>
          <a:noFill xmlns:a="http://schemas.openxmlformats.org/drawingml/2006/main"/>
          <a:ln xmlns:a="http://schemas.openxmlformats.org/drawingml/2006/main" w="38100">
            <a:solidFill>
              <a:srgbClr val="C8942A"/>
            </a:solidFill>
            <a:prstDash val="solid"/>
          </a:ln>
        </p:spPr>
      </p:sp>
      <p:sp>
        <p:nvSpPr>
          <p:cNvPr id="8" name="resolution-rule">
            <a:extLst xmlns:a="http://schemas.openxmlformats.org/drawingml/2006/main">
              <a:ext uri="{FF2B5EF4-FFF2-40B4-BE49-F238E27FC236}">
                <a16:creationId xmlns:a16="http://schemas.microsoft.com/office/drawing/2014/main" id="{F96B7C66-0C2F-45BF-8498-1307E5A9070B}"/>
              </a:ext>
            </a:extLst>
          </p:cNvPr>
          <p:cNvSpPr>
            <a:spLocks xmlns:a="http://schemas.openxmlformats.org/drawingml/2006/main" noGrp="1"/>
          </p:cNvSpPr>
          <p:nvPr/>
        </p:nvSpPr>
        <p:spPr>
          <a:xfrm xmlns:a="http://schemas.openxmlformats.org/drawingml/2006/main">
            <a:off x="609600" y="2095500"/>
            <a:ext cx="0" cy="3124200"/>
          </a:xfrm>
          <a:prstGeom xmlns:a="http://schemas.openxmlformats.org/drawingml/2006/main" prst="line">
            <a:avLst/>
          </a:prstGeom>
          <a:noFill xmlns:a="http://schemas.openxmlformats.org/drawingml/2006/main"/>
          <a:ln xmlns:a="http://schemas.openxmlformats.org/drawingml/2006/main" w="47625">
            <a:solidFill>
              <a:srgbClr val="C8942A"/>
            </a:solidFill>
            <a:prstDash val="solid"/>
          </a:ln>
        </p:spPr>
      </p:sp>
      <p:sp>
        <p:nvSpPr>
          <p:cNvPr id="9" name="resolution-main">
            <a:extLst xmlns:a="http://schemas.openxmlformats.org/drawingml/2006/main">
              <a:ext uri="{FF2B5EF4-FFF2-40B4-BE49-F238E27FC236}">
                <a16:creationId xmlns:a16="http://schemas.microsoft.com/office/drawing/2014/main" id="{31E0EA9F-4CB5-4EA1-990D-09FB1EC554ED}"/>
              </a:ext>
            </a:extLst>
          </p:cNvPr>
          <p:cNvSpPr>
            <a:spLocks xmlns:a="http://schemas.openxmlformats.org/drawingml/2006/main" noGrp="1"/>
          </p:cNvSpPr>
          <p:nvPr/>
        </p:nvSpPr>
        <p:spPr>
          <a:xfrm xmlns:a="http://schemas.openxmlformats.org/drawingml/2006/main">
            <a:off x="933450" y="201930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071B31"/>
                </a:solidFill>
                <a:latin typeface="DejaVu Serif"/>
                <a:ea typeface="DejaVu Serif"/>
                <a:cs typeface="DejaVu Serif"/>
              </a:defRPr>
            </a:pPr>
            <a:r>
              <a:rPr sz="2325" b="1" i="0">
                <a:solidFill>
                  <a:srgbClr val="071B31"/>
                </a:solidFill>
                <a:latin typeface="DejaVu Serif"/>
                <a:ea typeface="DejaVu Serif"/>
                <a:cs typeface="DejaVu Serif"/>
              </a:rPr>
              <a:t>Authorize one mission to enter a bounded evidence and proof-design phase.</a:t>
            </a:r>
          </a:p>
        </p:txBody>
      </p:sp>
      <p:sp>
        <p:nvSpPr>
          <p:cNvPr id="10" name="step-1">
            <a:extLst xmlns:a="http://schemas.openxmlformats.org/drawingml/2006/main">
              <a:ext uri="{FF2B5EF4-FFF2-40B4-BE49-F238E27FC236}">
                <a16:creationId xmlns:a16="http://schemas.microsoft.com/office/drawing/2014/main" id="{0D3D2FB5-840F-4560-A2CE-D1539CBE021D}"/>
              </a:ext>
            </a:extLst>
          </p:cNvPr>
          <p:cNvSpPr>
            <a:spLocks xmlns:a="http://schemas.openxmlformats.org/drawingml/2006/main" noGrp="1"/>
          </p:cNvSpPr>
          <p:nvPr/>
        </p:nvSpPr>
        <p:spPr>
          <a:xfrm xmlns:a="http://schemas.openxmlformats.org/drawingml/2006/main">
            <a:off x="952500" y="3048000"/>
            <a:ext cx="438150" cy="438150"/>
          </a:xfrm>
          <a:prstGeom xmlns:a="http://schemas.openxmlformats.org/drawingml/2006/main" prst="ellipse">
            <a:avLst/>
          </a:prstGeom>
          <a:solidFill xmlns:a="http://schemas.openxmlformats.org/drawingml/2006/main">
            <a:srgbClr val="FFFDF7"/>
          </a:solidFill>
          <a:ln xmlns:a="http://schemas.openxmlformats.org/drawingml/2006/main" w="19050">
            <a:solidFill>
              <a:srgbClr val="C8942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C8942A"/>
                </a:solidFill>
                <a:latin typeface="DejaVu Sans"/>
                <a:ea typeface="DejaVu Sans"/>
                <a:cs typeface="DejaVu Sans"/>
              </a:defRPr>
            </a:pPr>
            <a:r>
              <a:rPr sz="1425" b="1">
                <a:solidFill>
                  <a:srgbClr val="C8942A"/>
                </a:solidFill>
                <a:latin typeface="DejaVu Sans"/>
                <a:ea typeface="DejaVu Sans"/>
                <a:cs typeface="DejaVu Sans"/>
              </a:rPr>
              <a:t>1</a:t>
            </a:r>
          </a:p>
        </p:txBody>
      </p:sp>
      <p:sp>
        <p:nvSpPr>
          <p:cNvPr id="11" name="resolution-clause-0">
            <a:extLst xmlns:a="http://schemas.openxmlformats.org/drawingml/2006/main">
              <a:ext uri="{FF2B5EF4-FFF2-40B4-BE49-F238E27FC236}">
                <a16:creationId xmlns:a16="http://schemas.microsoft.com/office/drawing/2014/main" id="{C8C931DE-1E8B-487B-A307-117400BF6A63}"/>
              </a:ext>
            </a:extLst>
          </p:cNvPr>
          <p:cNvSpPr>
            <a:spLocks xmlns:a="http://schemas.openxmlformats.org/drawingml/2006/main" noGrp="1"/>
          </p:cNvSpPr>
          <p:nvPr/>
        </p:nvSpPr>
        <p:spPr>
          <a:xfrm xmlns:a="http://schemas.openxmlformats.org/drawingml/2006/main">
            <a:off x="1600200" y="30289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071B31"/>
                </a:solidFill>
                <a:latin typeface="DejaVu Sans"/>
                <a:ea typeface="DejaVu Sans"/>
                <a:cs typeface="DejaVu Sans"/>
              </a:defRPr>
            </a:pPr>
            <a:r>
              <a:rPr sz="1425" b="0" i="0">
                <a:solidFill>
                  <a:srgbClr val="071B31"/>
                </a:solidFill>
                <a:latin typeface="DejaVu Sans"/>
                <a:ea typeface="DejaVu Sans"/>
                <a:cs typeface="DejaVu Sans"/>
              </a:rPr>
              <a:t>Name one accountable sponsor and a narrow mission boundary.</a:t>
            </a:r>
          </a:p>
        </p:txBody>
      </p:sp>
      <p:sp>
        <p:nvSpPr>
          <p:cNvPr id="12" name="step-2">
            <a:extLst xmlns:a="http://schemas.openxmlformats.org/drawingml/2006/main">
              <a:ext uri="{FF2B5EF4-FFF2-40B4-BE49-F238E27FC236}">
                <a16:creationId xmlns:a16="http://schemas.microsoft.com/office/drawing/2014/main" id="{9D5A847A-A438-476D-925F-E44FA5377DF3}"/>
              </a:ext>
            </a:extLst>
          </p:cNvPr>
          <p:cNvSpPr>
            <a:spLocks xmlns:a="http://schemas.openxmlformats.org/drawingml/2006/main" noGrp="1"/>
          </p:cNvSpPr>
          <p:nvPr/>
        </p:nvSpPr>
        <p:spPr>
          <a:xfrm xmlns:a="http://schemas.openxmlformats.org/drawingml/2006/main">
            <a:off x="952500" y="3638550"/>
            <a:ext cx="438150" cy="438150"/>
          </a:xfrm>
          <a:prstGeom xmlns:a="http://schemas.openxmlformats.org/drawingml/2006/main" prst="ellipse">
            <a:avLst/>
          </a:prstGeom>
          <a:solidFill xmlns:a="http://schemas.openxmlformats.org/drawingml/2006/main">
            <a:srgbClr val="FFFDF7"/>
          </a:solidFill>
          <a:ln xmlns:a="http://schemas.openxmlformats.org/drawingml/2006/main" w="19050">
            <a:solidFill>
              <a:srgbClr val="C8942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C8942A"/>
                </a:solidFill>
                <a:latin typeface="DejaVu Sans"/>
                <a:ea typeface="DejaVu Sans"/>
                <a:cs typeface="DejaVu Sans"/>
              </a:defRPr>
            </a:pPr>
            <a:r>
              <a:rPr sz="1425" b="1">
                <a:solidFill>
                  <a:srgbClr val="C8942A"/>
                </a:solidFill>
                <a:latin typeface="DejaVu Sans"/>
                <a:ea typeface="DejaVu Sans"/>
                <a:cs typeface="DejaVu Sans"/>
              </a:rPr>
              <a:t>2</a:t>
            </a:r>
          </a:p>
        </p:txBody>
      </p:sp>
      <p:sp>
        <p:nvSpPr>
          <p:cNvPr id="13" name="resolution-clause-1">
            <a:extLst xmlns:a="http://schemas.openxmlformats.org/drawingml/2006/main">
              <a:ext uri="{FF2B5EF4-FFF2-40B4-BE49-F238E27FC236}">
                <a16:creationId xmlns:a16="http://schemas.microsoft.com/office/drawing/2014/main" id="{B889D812-C502-46EB-AA11-9E49305D8BA6}"/>
              </a:ext>
            </a:extLst>
          </p:cNvPr>
          <p:cNvSpPr>
            <a:spLocks xmlns:a="http://schemas.openxmlformats.org/drawingml/2006/main" noGrp="1"/>
          </p:cNvSpPr>
          <p:nvPr/>
        </p:nvSpPr>
        <p:spPr>
          <a:xfrm xmlns:a="http://schemas.openxmlformats.org/drawingml/2006/main">
            <a:off x="1600200" y="36195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071B31"/>
                </a:solidFill>
                <a:latin typeface="DejaVu Sans"/>
                <a:ea typeface="DejaVu Sans"/>
                <a:cs typeface="DejaVu Sans"/>
              </a:defRPr>
            </a:pPr>
            <a:r>
              <a:rPr sz="1425" b="0" i="0">
                <a:solidFill>
                  <a:srgbClr val="071B31"/>
                </a:solidFill>
                <a:latin typeface="DejaVu Sans"/>
                <a:ea typeface="DejaVu Sans"/>
                <a:cs typeface="DejaVu Sans"/>
              </a:rPr>
              <a:t>Produce the Mission Constitution, baseline hypothesis, value at risk, budget and exclusions.</a:t>
            </a:r>
          </a:p>
        </p:txBody>
      </p:sp>
      <p:sp>
        <p:nvSpPr>
          <p:cNvPr id="14" name="step-3">
            <a:extLst xmlns:a="http://schemas.openxmlformats.org/drawingml/2006/main">
              <a:ext uri="{FF2B5EF4-FFF2-40B4-BE49-F238E27FC236}">
                <a16:creationId xmlns:a16="http://schemas.microsoft.com/office/drawing/2014/main" id="{B407023D-C1B7-48BE-9983-9DC43AFA7EBB}"/>
              </a:ext>
            </a:extLst>
          </p:cNvPr>
          <p:cNvSpPr>
            <a:spLocks xmlns:a="http://schemas.openxmlformats.org/drawingml/2006/main" noGrp="1"/>
          </p:cNvSpPr>
          <p:nvPr/>
        </p:nvSpPr>
        <p:spPr>
          <a:xfrm xmlns:a="http://schemas.openxmlformats.org/drawingml/2006/main">
            <a:off x="952500" y="4229100"/>
            <a:ext cx="438150" cy="438150"/>
          </a:xfrm>
          <a:prstGeom xmlns:a="http://schemas.openxmlformats.org/drawingml/2006/main" prst="ellipse">
            <a:avLst/>
          </a:prstGeom>
          <a:solidFill xmlns:a="http://schemas.openxmlformats.org/drawingml/2006/main">
            <a:srgbClr val="FFFDF7"/>
          </a:solidFill>
          <a:ln xmlns:a="http://schemas.openxmlformats.org/drawingml/2006/main" w="19050">
            <a:solidFill>
              <a:srgbClr val="C8942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C8942A"/>
                </a:solidFill>
                <a:latin typeface="DejaVu Sans"/>
                <a:ea typeface="DejaVu Sans"/>
                <a:cs typeface="DejaVu Sans"/>
              </a:defRPr>
            </a:pPr>
            <a:r>
              <a:rPr sz="1425" b="1">
                <a:solidFill>
                  <a:srgbClr val="C8942A"/>
                </a:solidFill>
                <a:latin typeface="DejaVu Sans"/>
                <a:ea typeface="DejaVu Sans"/>
                <a:cs typeface="DejaVu Sans"/>
              </a:rPr>
              <a:t>3</a:t>
            </a:r>
          </a:p>
        </p:txBody>
      </p:sp>
      <p:sp>
        <p:nvSpPr>
          <p:cNvPr id="15" name="resolution-clause-2">
            <a:extLst xmlns:a="http://schemas.openxmlformats.org/drawingml/2006/main">
              <a:ext uri="{FF2B5EF4-FFF2-40B4-BE49-F238E27FC236}">
                <a16:creationId xmlns:a16="http://schemas.microsoft.com/office/drawing/2014/main" id="{5EADE1D1-AA1E-4176-BAA1-AD99B259E4BC}"/>
              </a:ext>
            </a:extLst>
          </p:cNvPr>
          <p:cNvSpPr>
            <a:spLocks xmlns:a="http://schemas.openxmlformats.org/drawingml/2006/main" noGrp="1"/>
          </p:cNvSpPr>
          <p:nvPr/>
        </p:nvSpPr>
        <p:spPr>
          <a:xfrm xmlns:a="http://schemas.openxmlformats.org/drawingml/2006/main">
            <a:off x="1600200" y="42100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071B31"/>
                </a:solidFill>
                <a:latin typeface="DejaVu Sans"/>
                <a:ea typeface="DejaVu Sans"/>
                <a:cs typeface="DejaVu Sans"/>
              </a:defRPr>
            </a:pPr>
            <a:r>
              <a:rPr sz="1425" b="1" i="0">
                <a:solidFill>
                  <a:srgbClr val="071B31"/>
                </a:solidFill>
                <a:latin typeface="DejaVu Sans"/>
                <a:ea typeface="DejaVu Sans"/>
                <a:cs typeface="DejaVu Sans"/>
              </a:rPr>
              <a:t>Grant no protected trial, Specialist ASI claim or production authority at D0.</a:t>
            </a:r>
          </a:p>
        </p:txBody>
      </p:sp>
      <p:sp>
        <p:nvSpPr>
          <p:cNvPr id="16" name="step-4">
            <a:extLst xmlns:a="http://schemas.openxmlformats.org/drawingml/2006/main">
              <a:ext uri="{FF2B5EF4-FFF2-40B4-BE49-F238E27FC236}">
                <a16:creationId xmlns:a16="http://schemas.microsoft.com/office/drawing/2014/main" id="{D9B8EC78-A76A-4A28-A2D8-31AAB61BE501}"/>
              </a:ext>
            </a:extLst>
          </p:cNvPr>
          <p:cNvSpPr>
            <a:spLocks xmlns:a="http://schemas.openxmlformats.org/drawingml/2006/main" noGrp="1"/>
          </p:cNvSpPr>
          <p:nvPr/>
        </p:nvSpPr>
        <p:spPr>
          <a:xfrm xmlns:a="http://schemas.openxmlformats.org/drawingml/2006/main">
            <a:off x="952500" y="4819650"/>
            <a:ext cx="438150" cy="438150"/>
          </a:xfrm>
          <a:prstGeom xmlns:a="http://schemas.openxmlformats.org/drawingml/2006/main" prst="ellipse">
            <a:avLst/>
          </a:prstGeom>
          <a:solidFill xmlns:a="http://schemas.openxmlformats.org/drawingml/2006/main">
            <a:srgbClr val="FFFDF7"/>
          </a:solidFill>
          <a:ln xmlns:a="http://schemas.openxmlformats.org/drawingml/2006/main" w="19050">
            <a:solidFill>
              <a:srgbClr val="C8942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C8942A"/>
                </a:solidFill>
                <a:latin typeface="DejaVu Sans"/>
                <a:ea typeface="DejaVu Sans"/>
                <a:cs typeface="DejaVu Sans"/>
              </a:defRPr>
            </a:pPr>
            <a:r>
              <a:rPr sz="1425" b="1">
                <a:solidFill>
                  <a:srgbClr val="C8942A"/>
                </a:solidFill>
                <a:latin typeface="DejaVu Sans"/>
                <a:ea typeface="DejaVu Sans"/>
                <a:cs typeface="DejaVu Sans"/>
              </a:rPr>
              <a:t>4</a:t>
            </a:r>
          </a:p>
        </p:txBody>
      </p:sp>
      <p:sp>
        <p:nvSpPr>
          <p:cNvPr id="17" name="resolution-clause-3">
            <a:extLst xmlns:a="http://schemas.openxmlformats.org/drawingml/2006/main">
              <a:ext uri="{FF2B5EF4-FFF2-40B4-BE49-F238E27FC236}">
                <a16:creationId xmlns:a16="http://schemas.microsoft.com/office/drawing/2014/main" id="{D1C3EF10-7393-4A73-B303-9733E5305801}"/>
              </a:ext>
            </a:extLst>
          </p:cNvPr>
          <p:cNvSpPr>
            <a:spLocks xmlns:a="http://schemas.openxmlformats.org/drawingml/2006/main" noGrp="1"/>
          </p:cNvSpPr>
          <p:nvPr/>
        </p:nvSpPr>
        <p:spPr>
          <a:xfrm xmlns:a="http://schemas.openxmlformats.org/drawingml/2006/main">
            <a:off x="1600200" y="48006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071B31"/>
                </a:solidFill>
                <a:latin typeface="DejaVu Sans"/>
                <a:ea typeface="DejaVu Sans"/>
                <a:cs typeface="DejaVu Sans"/>
              </a:defRPr>
            </a:pPr>
            <a:r>
              <a:rPr sz="1425" b="0" i="0">
                <a:solidFill>
                  <a:srgbClr val="071B31"/>
                </a:solidFill>
                <a:latin typeface="DejaVu Sans"/>
                <a:ea typeface="DejaVu Sans"/>
                <a:cs typeface="DejaVu Sans"/>
              </a:rPr>
              <a:t>Return at D1 with evidence readiness, threat model, baseline plan and proof plan.</a:t>
            </a:r>
          </a:p>
        </p:txBody>
      </p:sp>
      <p:sp>
        <p:nvSpPr>
          <p:cNvPr id="18" name="next-decision">
            <a:extLst xmlns:a="http://schemas.openxmlformats.org/drawingml/2006/main">
              <a:ext uri="{FF2B5EF4-FFF2-40B4-BE49-F238E27FC236}">
                <a16:creationId xmlns:a16="http://schemas.microsoft.com/office/drawing/2014/main" id="{58A144FB-921C-4A1C-802B-038DA66DF573}"/>
              </a:ext>
            </a:extLst>
          </p:cNvPr>
          <p:cNvSpPr>
            <a:spLocks xmlns:a="http://schemas.openxmlformats.org/drawingml/2006/main" noGrp="1"/>
          </p:cNvSpPr>
          <p:nvPr/>
        </p:nvSpPr>
        <p:spPr>
          <a:xfrm xmlns:a="http://schemas.openxmlformats.org/drawingml/2006/main">
            <a:off x="933450" y="5524500"/>
            <a:ext cx="10001250" cy="590550"/>
          </a:xfrm>
          <a:prstGeom xmlns:a="http://schemas.openxmlformats.org/drawingml/2006/main" prst="roundRect">
            <a:avLst>
              <a:gd name="adj" fmla="val 14516"/>
            </a:avLst>
          </a:prstGeom>
          <a:solidFill xmlns:a="http://schemas.openxmlformats.org/drawingml/2006/main">
            <a:srgbClr val="031426"/>
          </a:solidFill>
          <a:ln xmlns:a="http://schemas.openxmlformats.org/drawingml/2006/main" w="11430">
            <a:solidFill>
              <a:srgbClr val="C8942A"/>
            </a:solidFill>
            <a:prstDash val="solid"/>
          </a:ln>
        </p:spPr>
      </p:sp>
      <p:sp>
        <p:nvSpPr>
          <p:cNvPr id="19" name="next-decision-label">
            <a:extLst xmlns:a="http://schemas.openxmlformats.org/drawingml/2006/main">
              <a:ext uri="{FF2B5EF4-FFF2-40B4-BE49-F238E27FC236}">
                <a16:creationId xmlns:a16="http://schemas.microsoft.com/office/drawing/2014/main" id="{A67706D9-13CA-4303-86F9-6980D8DDFEE6}"/>
              </a:ext>
            </a:extLst>
          </p:cNvPr>
          <p:cNvSpPr>
            <a:spLocks xmlns:a="http://schemas.openxmlformats.org/drawingml/2006/main" noGrp="1"/>
          </p:cNvSpPr>
          <p:nvPr/>
        </p:nvSpPr>
        <p:spPr>
          <a:xfrm xmlns:a="http://schemas.openxmlformats.org/drawingml/2006/main">
            <a:off x="1162050" y="564832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i="0">
                <a:solidFill>
                  <a:srgbClr val="E7C978"/>
                </a:solidFill>
                <a:latin typeface="DejaVu Sans"/>
                <a:ea typeface="DejaVu Sans"/>
                <a:cs typeface="DejaVu Sans"/>
              </a:defRPr>
            </a:pPr>
            <a:r>
              <a:rPr sz="1125" b="1" i="0">
                <a:solidFill>
                  <a:srgbClr val="E7C978"/>
                </a:solidFill>
                <a:latin typeface="DejaVu Sans"/>
                <a:ea typeface="DejaVu Sans"/>
                <a:cs typeface="DejaVu Sans"/>
              </a:rPr>
              <a:t>NEXT BOARD DECISION</a:t>
            </a:r>
          </a:p>
        </p:txBody>
      </p:sp>
      <p:sp>
        <p:nvSpPr>
          <p:cNvPr id="20" name="next-decision-copy">
            <a:extLst xmlns:a="http://schemas.openxmlformats.org/drawingml/2006/main">
              <a:ext uri="{FF2B5EF4-FFF2-40B4-BE49-F238E27FC236}">
                <a16:creationId xmlns:a16="http://schemas.microsoft.com/office/drawing/2014/main" id="{702CF3E4-74DB-4D76-B2DC-8D1467F285BE}"/>
              </a:ext>
            </a:extLst>
          </p:cNvPr>
          <p:cNvSpPr>
            <a:spLocks xmlns:a="http://schemas.openxmlformats.org/drawingml/2006/main" noGrp="1"/>
          </p:cNvSpPr>
          <p:nvPr/>
        </p:nvSpPr>
        <p:spPr>
          <a:xfrm xmlns:a="http://schemas.openxmlformats.org/drawingml/2006/main">
            <a:off x="3505200" y="5648325"/>
            <a:ext cx="720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F7F1E6"/>
                </a:solidFill>
                <a:latin typeface="DejaVu Sans"/>
                <a:ea typeface="DejaVu Sans"/>
                <a:cs typeface="DejaVu Sans"/>
              </a:defRPr>
            </a:pPr>
            <a:r>
              <a:rPr sz="1425" b="1" i="0">
                <a:solidFill>
                  <a:srgbClr val="F7F1E6"/>
                </a:solidFill>
                <a:latin typeface="DejaVu Sans"/>
                <a:ea typeface="DejaVu Sans"/>
                <a:cs typeface="DejaVu Sans"/>
              </a:rPr>
              <a:t>D1 — Build: are evidence rights, evaluation, security and a safe test path adequate?</a:t>
            </a:r>
          </a:p>
        </p:txBody>
      </p:sp>
      <p:sp>
        <p:nvSpPr>
          <p:cNvPr id="21" name="final-disclosure">
            <a:extLst xmlns:a="http://schemas.openxmlformats.org/drawingml/2006/main">
              <a:ext uri="{FF2B5EF4-FFF2-40B4-BE49-F238E27FC236}">
                <a16:creationId xmlns:a16="http://schemas.microsoft.com/office/drawing/2014/main" id="{38B1DBF2-9A2F-437D-B1B7-D16AE4C2734D}"/>
              </a:ext>
            </a:extLst>
          </p:cNvPr>
          <p:cNvSpPr>
            <a:spLocks xmlns:a="http://schemas.openxmlformats.org/drawingml/2006/main" noGrp="1"/>
          </p:cNvSpPr>
          <p:nvPr/>
        </p:nvSpPr>
        <p:spPr>
          <a:xfrm xmlns:a="http://schemas.openxmlformats.org/drawingml/2006/main">
            <a:off x="933450" y="620077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i="0">
                <a:solidFill>
                  <a:srgbClr val="66717F"/>
                </a:solidFill>
                <a:latin typeface="DejaVu Sans"/>
                <a:ea typeface="DejaVu Sans"/>
                <a:cs typeface="DejaVu Sans"/>
              </a:defRPr>
            </a:pPr>
            <a:r>
              <a:rPr sz="825" b="0" i="0">
                <a:solidFill>
                  <a:srgbClr val="66717F"/>
                </a:solidFill>
                <a:latin typeface="DejaVu Sans"/>
                <a:ea typeface="DejaVu Sans"/>
                <a:cs typeface="DejaVu Sans"/>
              </a:rPr>
              <a:t>Target architecture. Customer-specific capability, Specialist ASI status, Mission Alpha, ownership, portability and authority are release-specific claims that must be earned through the paper’s tests.</a:t>
            </a:r>
          </a:p>
        </p:txBody>
      </p:sp>
    </p:spTree>
    <p:extLst>
      <p:ext uri="{BB962C8B-B14F-4D97-AF65-F5344CB8AC3E}">
        <p14:creationId xmlns:p14="http://schemas.microsoft.com/office/powerpoint/2010/main" val="161841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2026-08-26T15:58:54.1230000Z</dcterms:created>
  <dcterms:modified xsi:type="dcterms:W3CDTF">2026-08-26T15:58:54.1230000Z</dcterms:modified>
</coreProperties>
</file>