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0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hero_key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65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66928" y="1005840"/>
            <a:ext cx="11057839" cy="2788920"/>
          </a:xfrm>
          <a:prstGeom prst="roundRect">
            <a:avLst/>
          </a:prstGeom>
          <a:solidFill>
            <a:srgbClr val="0B0512">
              <a:alpha val="7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66928" y="1005840"/>
            <a:ext cx="91440" cy="2788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1234440"/>
            <a:ext cx="10600639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ENS Routing as a Market Mechanism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95528" y="2029968"/>
            <a:ext cx="1060063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Provably fair, economically enforced compute routing on AGI.Eth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5528" y="2487168"/>
            <a:ext cx="10600639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identity  →  market  →  proof  →  settlement  →  governance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5349240"/>
            <a:ext cx="2641016" cy="384048"/>
          </a:xfrm>
          <a:prstGeom prst="roundRect">
            <a:avLst/>
          </a:prstGeom>
          <a:solidFill>
            <a:srgbClr val="13081D">
              <a:alpha val="8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" y="5404104"/>
            <a:ext cx="26410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*.alpha.club.agi.eth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2536" y="5349240"/>
            <a:ext cx="2641016" cy="384048"/>
          </a:xfrm>
          <a:prstGeom prst="roundRect">
            <a:avLst/>
          </a:prstGeom>
          <a:solidFill>
            <a:srgbClr val="13081D">
              <a:alpha val="8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72536" y="5404104"/>
            <a:ext cx="26410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*.alpha.agent.agi.eth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8144" y="5349240"/>
            <a:ext cx="2641016" cy="384048"/>
          </a:xfrm>
          <a:prstGeom prst="roundRect">
            <a:avLst/>
          </a:prstGeom>
          <a:solidFill>
            <a:srgbClr val="13081D">
              <a:alpha val="8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8144" y="5404104"/>
            <a:ext cx="26410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*.alpha.node.agi.eth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83751" y="5349240"/>
            <a:ext cx="2641016" cy="384048"/>
          </a:xfrm>
          <a:prstGeom prst="roundRect">
            <a:avLst/>
          </a:prstGeom>
          <a:solidFill>
            <a:srgbClr val="13081D">
              <a:alpha val="8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983751" y="5404104"/>
            <a:ext cx="26410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*.alpha.agi.eth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agi.eth • routing olympics • war‑room institutional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v9.0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council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55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Executive charter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IDENTITY → EVIDENCE → SETTLEMENT → GOVERNANCE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1051560"/>
            <a:ext cx="2613584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051560"/>
            <a:ext cx="73152" cy="18745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197864"/>
            <a:ext cx="228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554480"/>
            <a:ext cx="228440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Roles bound to keys (ENS/DID)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Accountability by default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1680" y="1051560"/>
            <a:ext cx="2613584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1680" y="105156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46272" y="1197864"/>
            <a:ext cx="228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46272" y="1554480"/>
            <a:ext cx="228440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runs emit proof bundles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Replay beats rhetoric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96432" y="1051560"/>
            <a:ext cx="2613584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96432" y="1051560"/>
            <a:ext cx="73152" cy="1874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61024" y="1197864"/>
            <a:ext cx="228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Settlement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61024" y="1554480"/>
            <a:ext cx="228440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Escrow releases only after validation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Receipts are settlement‑grade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011183" y="1051560"/>
            <a:ext cx="2613584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011183" y="1051560"/>
            <a:ext cx="73152" cy="18745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75775" y="1197864"/>
            <a:ext cx="228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5775" y="1554480"/>
            <a:ext cx="228440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Policy gates + upgrades + emergency brakes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Autonomy is bounded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3154680"/>
            <a:ext cx="11057839" cy="713232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6928" y="3154680"/>
            <a:ext cx="73152" cy="7132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68096" y="3273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Invariant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709928" y="3264408"/>
            <a:ext cx="9731959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value without evidence   ·   no autonomy without authority   ·   no settlement without validation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4069080"/>
            <a:ext cx="11057839" cy="2148840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66928" y="4069080"/>
            <a:ext cx="73152" cy="214884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68096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Thesis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68096" y="4553712"/>
            <a:ext cx="10655503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Routing becomes an open market (bids) + a public proof system (commit‑reveal) + an enforcement game (bonded challenges).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router stops being a “trusted market maker” and becomes a verifier‑friendly mechanism.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AGI.Eth • institutional posture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Namespace grammar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AGI.ETH IDENTITY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5715000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9728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One rule + scoped meaning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1627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&lt;entity&gt;.(&lt;env&gt;.)&lt;role&gt;.agi.eth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∈ {club, agent, node}   •   env ∈ ENV_SET (optional)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56248" y="1097280"/>
            <a:ext cx="5068519" cy="18745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56248" y="1097280"/>
            <a:ext cx="73152" cy="1874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57416" y="1234440"/>
            <a:ext cx="4666183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Example (env = alpha)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57416" y="1554480"/>
            <a:ext cx="4666183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Validator (club):   alice.club.agi.eth   |   alice.alpha.club.agi.eth</a:t>
            </a:r>
            <a:endParaRPr lang="en-US" sz="12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Agent:              helper.agent.agi.eth  |  helper.alpha.agent.agi.eth</a:t>
            </a:r>
            <a:endParaRPr lang="en-US" sz="12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Node:               gpu01.node.agi.eth    |  gpu01.alpha.node.agi.eth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66928" y="3154680"/>
            <a:ext cx="11057839" cy="30175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73152" cy="30175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Scope rule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7168" y="3291840"/>
            <a:ext cx="895471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entity.env.role.agi.eth is recognized &amp; developed only within env.agi.eth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" y="3703320"/>
            <a:ext cx="10655503" cy="18288"/>
          </a:xfrm>
          <a:prstGeom prst="rect">
            <a:avLst/>
          </a:prstGeom>
          <a:solidFill>
            <a:srgbClr val="3A1A52"/>
          </a:solidFill>
          <a:ln w="12700">
            <a:solidFill>
              <a:srgbClr val="3A1A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" y="3822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Official environment package (issued by AGI King)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4133088"/>
            <a:ext cx="1065550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env.agi.eth  •  env.agent.agi.eth  •  env.node.agi.eth  •  env.club.agi.eth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Role gating used in routing + validation: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8920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only *.club.agi.eth can attest/validate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only *.node.agi.eth can execute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only *.agent.agi.eth can bid as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AGI.Eth • namespace invariants reduce entropy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mask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48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Routing becomes a market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AUCTION + METROLOGY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1097280"/>
            <a:ext cx="5989320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097280"/>
            <a:ext cx="73152" cy="5074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" y="1234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Mechanism (high‑level)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" y="1627632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1) Job arrives (demand)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2) Eligible nodes/agents submit bids (supply)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3) Deterministic winner selection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4) Receipt emitted → metrology → settlement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68096" y="2971800"/>
            <a:ext cx="5586984" cy="18745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0976" y="3108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Example scoring (lower is better)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" y="342900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priceᵢ = α·latencyᵢ  −  β·log(stakeᵢ)  +  γ·failureRiskᵢ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0976" y="382219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Stake acts as a risk buffer. Latency acts as the immediate cost.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rational node bids to maximize long‑run profit subject to slashing risk.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84848" y="1097280"/>
            <a:ext cx="4839919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84848" y="1097280"/>
            <a:ext cx="73152" cy="5074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86016" y="1234440"/>
            <a:ext cx="443758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Protocol guarantees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86016" y="1627632"/>
            <a:ext cx="4437583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Bids are EIP‑712 signed by ENS controllers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Eligibility is ENS‑gated (club/agent/node)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Epoch roots anchor commitments, reveals, receipts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Auditors can replay winner selection deterministically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986016" y="3337560"/>
            <a:ext cx="4437583" cy="2788920"/>
          </a:xfrm>
          <a:prstGeom prst="roundRect">
            <a:avLst/>
          </a:prstGeom>
          <a:solidFill>
            <a:srgbClr val="0B0512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150608" y="3474720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Physics intuition (operational)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50608" y="3767328"/>
            <a:ext cx="4108399" cy="2240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Minimize coordination “free energy”: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fewer on‑chain writes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fewer governance touch‑points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push churn into resolvers (CCIP‑Read), not naming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Make the simple path the dominant strategy.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Market + measurement → stable equilibrium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Provably fair router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COMMIT‑REVEAL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051560"/>
            <a:ext cx="11057839" cy="105156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51560"/>
            <a:ext cx="73152" cy="10515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6968" y="1298448"/>
            <a:ext cx="3307994" cy="7315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" y="1298448"/>
            <a:ext cx="73152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33272" y="1371600"/>
            <a:ext cx="31616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Commit window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1609344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Workers submit</a:t>
            </a:r>
            <a:endParaRPr lang="en-US" sz="12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 = H(bid ∥ nonce)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121810" y="1664208"/>
            <a:ext cx="219456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9554" y="1298448"/>
            <a:ext cx="3307994" cy="7315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9554" y="1298448"/>
            <a:ext cx="73152" cy="7315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5858" y="1371600"/>
            <a:ext cx="31616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Reveal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5858" y="1609344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Reveal bid + nonce</a:t>
            </a:r>
            <a:endParaRPr lang="en-US" sz="12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(router can verify commit)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594397" y="1664208"/>
            <a:ext cx="219456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32141" y="1298448"/>
            <a:ext cx="3307994" cy="7315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32141" y="1298448"/>
            <a:ext cx="73152" cy="731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78445" y="1371600"/>
            <a:ext cx="316169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Deterministic selection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78445" y="1609344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winner = argmin(price)</a:t>
            </a:r>
            <a:endParaRPr lang="en-US" sz="12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from revealed bids + seed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566928" y="2331720"/>
            <a:ext cx="5989320" cy="384048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" y="2331720"/>
            <a:ext cx="73152" cy="384048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2468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Public seed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" y="2788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seed = keccak(epochId ∥ sealedSeed ∥ blockhash)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8096" y="3172968"/>
            <a:ext cx="55778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 verifier can recompute the winner:</a:t>
            </a:r>
            <a:endParaRPr lang="en-US" sz="13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validate each reveal matches its commitment</a:t>
            </a:r>
            <a:endParaRPr lang="en-US" sz="13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compute priceᵢ for each bidder</a:t>
            </a:r>
            <a:endParaRPr lang="en-US" sz="13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apply deterministic tie‑break: keccak(bidder ∥ seed)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784848" y="2331720"/>
            <a:ext cx="4839919" cy="384048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84848" y="2331720"/>
            <a:ext cx="73152" cy="3840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86016" y="2468880"/>
            <a:ext cx="4437583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Why commit‑reveal matters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86016" y="2788920"/>
            <a:ext cx="4437583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Reduces herding and last‑second bribery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Makes routing verifiable without trusting the router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Creates clean dispute objects (commit, reveal, seed)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Enables optimistic slashing with minimal on‑chain compute</a:t>
            </a:r>
            <a:endParaRPr lang="en-US" sz="1360" dirty="0"/>
          </a:p>
        </p:txBody>
      </p:sp>
      <p:sp>
        <p:nvSpPr>
          <p:cNvPr id="31" name="Shape 29"/>
          <p:cNvSpPr/>
          <p:nvPr/>
        </p:nvSpPr>
        <p:spPr>
          <a:xfrm>
            <a:off x="6986016" y="4526280"/>
            <a:ext cx="4437583" cy="1536192"/>
          </a:xfrm>
          <a:prstGeom prst="roundRect">
            <a:avLst/>
          </a:prstGeom>
          <a:solidFill>
            <a:srgbClr val="0B0512">
              <a:alpha val="94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50608" y="4663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Outcome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10728" y="4645152"/>
            <a:ext cx="314827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“We say it’s fair” → “the network proves it’s fair.”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50608" y="4956048"/>
            <a:ext cx="4108399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router publishes a selectionRoot; verifiers independently recompute winners.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Mismatch becomes an objective slashable event.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 → reveal → deterministic selection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Epoch root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SETTLEMENT‑GRADE AUDIT PACKAGE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5806440" cy="50749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73152" cy="5074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216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EpochRoot = MerkleRoot( …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1005840" cy="548640"/>
          </a:xfrm>
          <a:prstGeom prst="ellipse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71800" y="188366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0" cy="457200"/>
          </a:xfrm>
          <a:prstGeom prst="line">
            <a:avLst/>
          </a:prstGeom>
          <a:noFill/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72768" y="2834640"/>
            <a:ext cx="3794760" cy="5029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72768" y="2834640"/>
            <a:ext cx="731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82496" y="2944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commitments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2377440"/>
            <a:ext cx="0" cy="1143000"/>
          </a:xfrm>
          <a:prstGeom prst="line">
            <a:avLst/>
          </a:prstGeom>
          <a:noFill/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72768" y="3520440"/>
            <a:ext cx="3794760" cy="5029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72768" y="3520440"/>
            <a:ext cx="73152" cy="502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82496" y="3630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reveals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2377440"/>
            <a:ext cx="0" cy="1828800"/>
          </a:xfrm>
          <a:prstGeom prst="line">
            <a:avLst/>
          </a:prstGeom>
          <a:noFill/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72768" y="4206240"/>
            <a:ext cx="3794760" cy="5029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72768" y="4206240"/>
            <a:ext cx="73152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82496" y="4315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selectionProof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77440"/>
            <a:ext cx="0" cy="2514600"/>
          </a:xfrm>
          <a:prstGeom prst="line">
            <a:avLst/>
          </a:prstGeom>
          <a:noFill/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72768" y="4892040"/>
            <a:ext cx="3794760" cy="5029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72768" y="48920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82496" y="5001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receipts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01968" y="1078992"/>
            <a:ext cx="5022799" cy="50749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01968" y="1078992"/>
            <a:ext cx="73152" cy="5074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03136" y="1216152"/>
            <a:ext cx="4620463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What each leaf contains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3136" y="1572768"/>
            <a:ext cx="4620463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commitments: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bidder, epochId, H(bid∥nonce)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reveals: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bidder, bid, nonce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selectionProof: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seed, winner, tieBreak, recomputation hash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receipts:</a:t>
            </a:r>
            <a:endParaRPr lang="en-US" sz="122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D7D3E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jobId, winner, outcome, latency, signatures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803136" y="4754880"/>
            <a:ext cx="4620463" cy="1399032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67728" y="4892040"/>
            <a:ext cx="429127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Verifier‑friendly property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67728" y="5175504"/>
            <a:ext cx="429127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Anyone can rebuild the epoch and arrive at the same winner set.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67728" y="5449824"/>
            <a:ext cx="429127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the published root disagrees with recomputation, the discrepancy is provable.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EpochRoot anchors commitments + reveals + proofs + receipts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oracle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45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Fairness Verifier Bot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AUTOMATIC VERIFICATION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1097280"/>
            <a:ext cx="6400800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097280"/>
            <a:ext cx="73152" cy="5074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" y="1234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Bot pipeline (public)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1248" y="1737360"/>
            <a:ext cx="2971800" cy="841248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1248" y="1737360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1810512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Ingest on‑chain events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066544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CommitBid / RevealBid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SeedPublished / RootPublished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327148" y="2578608"/>
            <a:ext cx="0" cy="27432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41248" y="2898648"/>
            <a:ext cx="2971800" cy="841248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41248" y="2898648"/>
            <a:ext cx="73152" cy="841248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87552" y="2971800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Recompute winners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87552" y="3227832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Verify commits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Apply deterministic selection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327148" y="3739896"/>
            <a:ext cx="0" cy="27432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41248" y="4059936"/>
            <a:ext cx="2971800" cy="841248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41248" y="4059936"/>
            <a:ext cx="73152" cy="8412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87552" y="4133088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Compare selectionRoot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7552" y="4389120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Match → ok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Mismatch → generate proof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327148" y="4901184"/>
            <a:ext cx="0" cy="27432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1248" y="5221224"/>
            <a:ext cx="2971800" cy="841248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41248" y="5221224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87552" y="5294376"/>
            <a:ext cx="27157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Publish proof package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87552" y="5550408"/>
            <a:ext cx="2715768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JSON + Merkle proof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Tx links + replay script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196328" y="1097280"/>
            <a:ext cx="4428439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196328" y="1097280"/>
            <a:ext cx="73152" cy="5074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97496" y="1234440"/>
            <a:ext cx="402610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Public Challenge Board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97496" y="1627632"/>
            <a:ext cx="4026103" cy="2057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mismatch triggers an objective dispute: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proof package posted (CID + hash)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merkle path to the published root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deterministic recomputation transcript</a:t>
            </a:r>
            <a:endParaRPr lang="en-US" sz="13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tx links for commits/reveals/seed</a:t>
            </a:r>
            <a:endParaRPr lang="en-US" sz="1360" dirty="0"/>
          </a:p>
        </p:txBody>
      </p:sp>
      <p:sp>
        <p:nvSpPr>
          <p:cNvPr id="34" name="Shape 31"/>
          <p:cNvSpPr/>
          <p:nvPr/>
        </p:nvSpPr>
        <p:spPr>
          <a:xfrm>
            <a:off x="7397496" y="3840480"/>
            <a:ext cx="4026103" cy="2331720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62088" y="3977640"/>
            <a:ext cx="369691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Unstoppable property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562088" y="4279392"/>
            <a:ext cx="3696919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Verification is automatic.</a:t>
            </a:r>
            <a:endParaRPr lang="en-US" sz="132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committee can “look away.”</a:t>
            </a:r>
            <a:endParaRPr lang="en-US" sz="1320" dirty="0"/>
          </a:p>
          <a:p>
            <a:pPr marL="0" indent="0">
              <a:lnSpc>
                <a:spcPct val="114000"/>
              </a:lnSpc>
              <a:buNone/>
            </a:pPr>
            <a:endParaRPr lang="en-US" sz="132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version: verifier can post a bonded challenge on‑chain to slash cheaters.</a:t>
            </a:r>
            <a:endParaRPr lang="en-US" sz="1320" dirty="0"/>
          </a:p>
        </p:txBody>
      </p:sp>
      <p:sp>
        <p:nvSpPr>
          <p:cNvPr id="37" name="Text 34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Automatic verification turns fairness into a property, not a claim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Bonded optimistic slashing game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GAME‑THEORETIC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5989320" cy="50749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97280"/>
            <a:ext cx="73152" cy="5074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234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Rules (simple + sharp)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1627632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Router posts a slashable bond (ETH or $AGIALPHA)</a:t>
            </a:r>
            <a:endParaRPr lang="en-US" sz="14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Anyone may challenge with a bond</a:t>
            </a:r>
            <a:endParaRPr lang="en-US" sz="14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If challenge is correct → router bond slashed, challenger rewarded</a:t>
            </a:r>
            <a:endParaRPr lang="en-US" sz="14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If challenge is false/spam → challenger bond slashed</a:t>
            </a:r>
            <a:endParaRPr lang="en-US" sz="14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On‑chain work stays minimal (optimistic verification)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68096" y="3520440"/>
            <a:ext cx="5586984" cy="265176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0976" y="3657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Payoff intuition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50976" y="3950208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Cheating becomes negative‑sum:</a:t>
            </a: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Honest router: no slash risk → stable profits</a:t>
            </a: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Dishonest router: high expected loss (anyone can challenge)</a:t>
            </a: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Spam becomes negative‑sum:</a:t>
            </a:r>
            <a:endParaRPr lang="en-US" sz="13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False challenger loses bond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784848" y="1097280"/>
            <a:ext cx="4839919" cy="50749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84848" y="1097280"/>
            <a:ext cx="73152" cy="5074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86016" y="1234440"/>
            <a:ext cx="443758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On‑chain flow (minimal)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1737360"/>
            <a:ext cx="4291279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59168" y="1737360"/>
            <a:ext cx="73152" cy="68580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5472" y="1901952"/>
            <a:ext cx="409011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Router posts EpochRoot + bond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204808" y="2423160"/>
            <a:ext cx="0" cy="128016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59168" y="2587752"/>
            <a:ext cx="4291279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59168" y="2587752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5472" y="2752344"/>
            <a:ext cx="409011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Dispute window opens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204808" y="3273552"/>
            <a:ext cx="0" cy="128016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59168" y="3438144"/>
            <a:ext cx="4291279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59168" y="3438144"/>
            <a:ext cx="73152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05472" y="3602736"/>
            <a:ext cx="409011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Challenger posts proof + bond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9204808" y="4123944"/>
            <a:ext cx="0" cy="128016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59168" y="4288536"/>
            <a:ext cx="4291279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59168" y="4288536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05472" y="4453128"/>
            <a:ext cx="409011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valid → slash router, reward challenger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04808" y="4974336"/>
            <a:ext cx="0" cy="128016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59168" y="5138928"/>
            <a:ext cx="4291279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59168" y="5138928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05472" y="5303520"/>
            <a:ext cx="409011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invalid → slash challenger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Optimistic verification keeps gas low while making cheating irrational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RoutedJobManager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ON‑CHAIN ROUTED JOBS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1057839" cy="507492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097280"/>
            <a:ext cx="73152" cy="5074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234440"/>
            <a:ext cx="10655503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When routing is enforced by contract, reliability becomes composable.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8408" y="19202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8408" y="2011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JobCreated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(escrow)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3401568" y="2263140"/>
            <a:ext cx="320040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21608" y="19202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21608" y="2011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CommitBids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(sealed)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144768" y="2263140"/>
            <a:ext cx="320040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64808" y="19202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64808" y="2011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RevealBids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(open)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8887968" y="2263140"/>
            <a:ext cx="320040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08008" y="19202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08008" y="20116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WinnerFinal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(stake locked)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0419588" y="2606040"/>
            <a:ext cx="0" cy="77724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8408" y="35204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8408" y="3611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Execution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 proofs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3401568" y="3863340"/>
            <a:ext cx="320040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21608" y="35204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21608" y="3611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Validate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(club quorum)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144768" y="3863340"/>
            <a:ext cx="320040" cy="0"/>
          </a:xfrm>
          <a:prstGeom prst="line">
            <a:avLst/>
          </a:prstGeom>
          <a:noFill/>
          <a:ln w="25400">
            <a:solidFill>
              <a:srgbClr val="3A1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64808" y="3520440"/>
            <a:ext cx="2423160" cy="68580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64808" y="3611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Settle</a:t>
            </a:r>
            <a:endParaRPr lang="en-US" sz="12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(payout/slash)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768096" y="4617720"/>
            <a:ext cx="5368900" cy="1417320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8096" y="4617720"/>
            <a:ext cx="73152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9264" y="4782312"/>
            <a:ext cx="49665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Non‑performance becomes objective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969264" y="5093208"/>
            <a:ext cx="4966564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Timeout → slash stake → refund escrow → chronicle receipt</a:t>
            </a:r>
            <a:endParaRPr lang="en-US" sz="12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Reliability is not a promise. It’s a consequence.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6457036" y="4617720"/>
            <a:ext cx="5368900" cy="1417320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57036" y="461772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58204" y="4782312"/>
            <a:ext cx="49665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Policy gates (bounded autonomy)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658204" y="5093208"/>
            <a:ext cx="496656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ENS role gating (agent/node/club)</a:t>
            </a:r>
            <a:endParaRPr lang="en-US" sz="126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dispute windows + bonded challenges</a:t>
            </a:r>
            <a:endParaRPr lang="en-US" sz="126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fail‑closed: pause + emergency brakes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Sealed bids → assignment → slashing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throne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45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Routing Olympics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PUBLIC ALPHA MARKET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1097280"/>
            <a:ext cx="5989320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097280"/>
            <a:ext cx="73152" cy="5074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" y="1234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Leaderboards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" y="15727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Nodes (*.node.agi.eth)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8408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latency p50 / p95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success rate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α‑WU / epoch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dispute rate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768096" y="2926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Validators (*.club.agi.eth)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8408" y="322783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honest reveal rate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SLO scoring accuracy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dispute participation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slashing history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68096" y="42793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7D3E0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Agents (*.agent.agi.eth)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78408" y="4581144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bid competitiveness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task completion quality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reputation under disputes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6784848" y="1097280"/>
            <a:ext cx="4839919" cy="507492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84848" y="1097280"/>
            <a:ext cx="73152" cy="5074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86016" y="1234440"/>
            <a:ext cx="4437583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Metrology (α‑WU)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86016" y="1554480"/>
            <a:ext cx="443758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0E8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α‑WU = signed telemetry × difficulty tier × quality score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6986016" y="1920240"/>
            <a:ext cx="4437583" cy="3246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Canonical, hardware‑normalized work unit for settlement.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Fails acceptance/SLO → 0 credit.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Epoch signals: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validated α‑WU / epoch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dispute rate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SLO drift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Actuators: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fee splits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quorum + slashing parameters</a:t>
            </a:r>
            <a:endParaRPr lang="en-US" sz="131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1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tier multipliers</a:t>
            </a:r>
            <a:endParaRPr lang="en-US" sz="1310" dirty="0"/>
          </a:p>
        </p:txBody>
      </p:sp>
      <p:sp>
        <p:nvSpPr>
          <p:cNvPr id="22" name="Shape 19"/>
          <p:cNvSpPr/>
          <p:nvPr/>
        </p:nvSpPr>
        <p:spPr>
          <a:xfrm>
            <a:off x="6986016" y="5303520"/>
            <a:ext cx="4437583" cy="868680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50608" y="5431536"/>
            <a:ext cx="410839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Olympics outcome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50608" y="5705856"/>
            <a:ext cx="410839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market discovers who is fast, honest, and reliable — under public proof.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Public metrics turn performance into reputation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64592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Adoption playbook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98687" y="201168"/>
            <a:ext cx="2926080" cy="329184"/>
          </a:xfrm>
          <a:prstGeom prst="roundRect">
            <a:avLst/>
          </a:prstGeom>
          <a:solidFill>
            <a:srgbClr val="13081D">
              <a:alpha val="85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3279" y="2331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PILOT → HARDEN → SCALE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3472586" cy="493776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73152" cy="4937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353312"/>
            <a:ext cx="307025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1783080"/>
            <a:ext cx="3070250" cy="3931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Launch auditable router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Publish epoch roots + receipts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Open read‑only scoreboard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Run verifier bot in shadow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" y="5504688"/>
            <a:ext cx="3070250" cy="420624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" y="5559552"/>
            <a:ext cx="307025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Output: auditability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9554" y="1188720"/>
            <a:ext cx="3472586" cy="493776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9554" y="1188720"/>
            <a:ext cx="73152" cy="493776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0722" y="1353312"/>
            <a:ext cx="307025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Harden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60722" y="1783080"/>
            <a:ext cx="3070250" cy="3931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Add commit‑reveal bidding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Deterministic winner proofs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Public challenge board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Bonded optimistic slashing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60722" y="5504688"/>
            <a:ext cx="3070250" cy="420624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60722" y="5559552"/>
            <a:ext cx="307025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Output: provable fairness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2181" y="1188720"/>
            <a:ext cx="3472586" cy="4937760"/>
          </a:xfrm>
          <a:prstGeom prst="roundRect">
            <a:avLst/>
          </a:prstGeom>
          <a:solidFill>
            <a:srgbClr val="13081D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52181" y="1188720"/>
            <a:ext cx="73152" cy="4937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53349" y="1353312"/>
            <a:ext cx="307025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Scale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53349" y="1783080"/>
            <a:ext cx="3070250" cy="3931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RoutedJobManager (on‑chain assignment)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Slashing for non‑performance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Validator quorums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Expand to multi‑region nodes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53349" y="5504688"/>
            <a:ext cx="3070250" cy="420624"/>
          </a:xfrm>
          <a:prstGeom prst="roundRect">
            <a:avLst/>
          </a:prstGeom>
          <a:solidFill>
            <a:srgbClr val="0B0512">
              <a:alpha val="92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53349" y="5559552"/>
            <a:ext cx="307025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Output: true enforcement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263640"/>
            <a:ext cx="11057839" cy="502920"/>
          </a:xfrm>
          <a:prstGeom prst="roundRect">
            <a:avLst/>
          </a:prstGeom>
          <a:solidFill>
            <a:srgbClr val="170A23"/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6263640"/>
            <a:ext cx="73152" cy="502920"/>
          </a:xfrm>
          <a:prstGeom prst="rect">
            <a:avLst/>
          </a:prstGeom>
          <a:solidFill>
            <a:srgbClr val="D11CE0"/>
          </a:solidFill>
          <a:ln w="12700">
            <a:solidFill>
              <a:srgbClr val="D11C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6373368"/>
            <a:ext cx="1065550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Best practice: keep CI‑green as deployable truth • container‑first • signed telemetry • fail‑closed brakes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Institutional posture: replay &gt; rhetoric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rroom_v9_assets/city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30C">
              <a:alpha val="58000"/>
            </a:srgbClr>
          </a:solidFill>
          <a:ln w="12700">
            <a:solidFill>
              <a:srgbClr val="0703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Build the Cathedral of Verifiable Work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Autonomy measured • Work proven • Value settled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2057400"/>
            <a:ext cx="11057839" cy="3977640"/>
          </a:xfrm>
          <a:prstGeom prst="roundRect">
            <a:avLst/>
          </a:prstGeom>
          <a:solidFill>
            <a:srgbClr val="0B0512">
              <a:alpha val="88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" y="2057400"/>
            <a:ext cx="73152" cy="39776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240280"/>
            <a:ext cx="105091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Next move (Alpha): launch ENS Routing Olympics with automatic enforcement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2670048"/>
            <a:ext cx="10509199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1) Publish season manifest to  olympics.alpha.agi.eth</a:t>
            </a:r>
            <a:endParaRPr lang="en-US" sz="15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2) Deploy EpochRegistry + (bonded) ChallengeRegistry</a:t>
            </a:r>
            <a:endParaRPr lang="en-US" sz="15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3) Run  fairness01.alpha.agent.agi.eth  (verifier bot)</a:t>
            </a:r>
            <a:endParaRPr lang="en-US" sz="15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4) Open  challenge.alpha.agi.eth  public board</a:t>
            </a:r>
            <a:endParaRPr lang="en-US" sz="15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2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5) Graduate to RoutedJobManager (on‑chain assignment + slashing)</a:t>
            </a:r>
            <a:endParaRPr lang="en-US" sz="1520" dirty="0"/>
          </a:p>
        </p:txBody>
      </p:sp>
      <p:sp>
        <p:nvSpPr>
          <p:cNvPr id="10" name="Shape 7"/>
          <p:cNvSpPr/>
          <p:nvPr/>
        </p:nvSpPr>
        <p:spPr>
          <a:xfrm>
            <a:off x="841248" y="4754880"/>
            <a:ext cx="10509199" cy="1143000"/>
          </a:xfrm>
          <a:prstGeom prst="roundRect">
            <a:avLst/>
          </a:prstGeom>
          <a:solidFill>
            <a:srgbClr val="13081D">
              <a:alpha val="90000"/>
            </a:srgbClr>
          </a:solidFill>
          <a:ln w="12700">
            <a:solidFill>
              <a:srgbClr val="3A1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2416" y="48828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5F3FF"/>
                </a:solidFill>
                <a:latin typeface="Avenir Next Demi Bold" pitchFamily="34" charset="0"/>
                <a:ea typeface="Avenir Next Demi Bold" pitchFamily="34" charset="-122"/>
                <a:cs typeface="Avenir Next Demi Bold" pitchFamily="34" charset="-120"/>
              </a:rPr>
              <a:t>Institutional invariant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0088" y="4882896"/>
            <a:ext cx="8314639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7D3E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payout without validated proof. No fairness without public verification.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42416" y="5212080"/>
            <a:ext cx="10106863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9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agi.eth • ENS Routing as a Market Mechanism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season 0: prove fairness • season 1: enforce it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6565392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9FB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1674</Words>
  <Application>Microsoft Macintosh PowerPoint</Application>
  <PresentationFormat>Widescreen</PresentationFormat>
  <Paragraphs>291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</vt:lpstr>
      <vt:lpstr>Avenir Next Demi Bold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1</cp:revision>
  <dcterms:created xsi:type="dcterms:W3CDTF">2026-01-12T01:47:13Z</dcterms:created>
  <dcterms:modified xsi:type="dcterms:W3CDTF">2026-01-12T04:21:33Z</dcterms:modified>
</cp:coreProperties>
</file>