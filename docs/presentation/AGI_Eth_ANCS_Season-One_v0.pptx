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18"/>
    <p:restoredTop sz="94610"/>
  </p:normalViewPr>
  <p:slideViewPr>
    <p:cSldViewPr snapToGrid="0" snapToObjects="1">
      <p:cViewPr varScale="1">
        <p:scale>
          <a:sx n="172" d="100"/>
          <a:sy n="172" d="100"/>
        </p:scale>
        <p:origin x="1816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807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cs_deck_assets_v7/quantumasiv0_16x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>
              <a:alpha val="72000"/>
            </a:srgbClr>
          </a:solidFill>
          <a:ln w="12700">
            <a:solidFill>
              <a:srgbClr val="070A0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40080" y="256032"/>
            <a:ext cx="10911535" cy="36576"/>
          </a:xfrm>
          <a:prstGeom prst="rect">
            <a:avLst/>
          </a:prstGeom>
          <a:solidFill>
            <a:srgbClr val="E6C15A"/>
          </a:solidFill>
          <a:ln w="12700">
            <a:solidFill>
              <a:srgbClr val="E6C1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475488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INSTITUTIONAL COMPUTE GOVERNANCE FOR AGI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868680"/>
            <a:ext cx="10911535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AGI.Eth × AGI Jobs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40080" y="187452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ANCS Season‑One — Provable Alpha Node Compute → On‑Chain Reputation → Market Routing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40080" y="3063240"/>
            <a:ext cx="10911535" cy="1874520"/>
          </a:xfrm>
          <a:prstGeom prst="roundRect">
            <a:avLst/>
          </a:prstGeom>
          <a:solidFill>
            <a:srgbClr val="0B1020">
              <a:alpha val="76000"/>
            </a:srgbClr>
          </a:solidFill>
          <a:ln w="12700">
            <a:solidFill>
              <a:srgbClr val="E6C15A">
                <a:alpha val="30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60120" y="3310128"/>
            <a:ext cx="1027145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Identity → Proof → Settlement → Governance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960120" y="3858768"/>
            <a:ext cx="10271455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public, verifiable compute tournament that turns deterministic work into settlement‑grade evidence — and routes real jobs to provable competence.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9814255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9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AGI.Eth Namespace · AGI Jobs v0 · Alpha Node Compute Standard (ANCS)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820095" y="64739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cs_deck_assets_v7/agiidv20_16x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>
              <a:alpha val="64000"/>
            </a:srgbClr>
          </a:solidFill>
          <a:ln w="12700">
            <a:solidFill>
              <a:srgbClr val="070A0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40080" y="256032"/>
            <a:ext cx="10911535" cy="36576"/>
          </a:xfrm>
          <a:prstGeom prst="rect">
            <a:avLst/>
          </a:prstGeom>
          <a:solidFill>
            <a:srgbClr val="E6C15A"/>
          </a:solidFill>
          <a:ln w="12700">
            <a:solidFill>
              <a:srgbClr val="E6C1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AGI.Eth Institutional Thesis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11887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9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→ Evidence → Settlement → Governance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1874520"/>
            <a:ext cx="5295748" cy="1965960"/>
          </a:xfrm>
          <a:prstGeom prst="roundRect">
            <a:avLst/>
          </a:prstGeom>
          <a:solidFill>
            <a:srgbClr val="0B1020">
              <a:alpha val="82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40080" y="1874520"/>
            <a:ext cx="54864" cy="19659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04672" y="2057400"/>
            <a:ext cx="496656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Identity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04672" y="2560320"/>
            <a:ext cx="4966564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Roles bound to keys (ENS/DID).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Accountability by default.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Names classify actors unambiguously.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55868" y="1874520"/>
            <a:ext cx="5295748" cy="1965960"/>
          </a:xfrm>
          <a:prstGeom prst="roundRect">
            <a:avLst/>
          </a:prstGeom>
          <a:solidFill>
            <a:srgbClr val="0B1020">
              <a:alpha val="82000"/>
            </a:srgbClr>
          </a:solidFill>
          <a:ln w="12700">
            <a:solidFill>
              <a:srgbClr val="A78BFA">
                <a:alpha val="30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255868" y="1874520"/>
            <a:ext cx="54864" cy="1965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20460" y="2057400"/>
            <a:ext cx="496656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420460" y="2560320"/>
            <a:ext cx="4966564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runs emit signed proof bundles.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Replay beats rhetoric.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= replay.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" y="4160520"/>
            <a:ext cx="5295748" cy="1965960"/>
          </a:xfrm>
          <a:prstGeom prst="roundRect">
            <a:avLst/>
          </a:prstGeom>
          <a:solidFill>
            <a:srgbClr val="0B1020">
              <a:alpha val="82000"/>
            </a:srgbClr>
          </a:solidFill>
          <a:ln w="12700">
            <a:solidFill>
              <a:srgbClr val="E6C15A">
                <a:alpha val="30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40080" y="4160520"/>
            <a:ext cx="54864" cy="1965960"/>
          </a:xfrm>
          <a:prstGeom prst="rect">
            <a:avLst/>
          </a:prstGeom>
          <a:solidFill>
            <a:srgbClr val="E6C15A"/>
          </a:solidFill>
          <a:ln w="12700">
            <a:solidFill>
              <a:srgbClr val="E6C1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04672" y="4343400"/>
            <a:ext cx="496656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Settlement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04672" y="4846320"/>
            <a:ext cx="4966564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Escrow releases only after validation.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Receipts are settlement‑grade artifacts.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payout without proof.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255868" y="4160520"/>
            <a:ext cx="5295748" cy="1965960"/>
          </a:xfrm>
          <a:prstGeom prst="roundRect">
            <a:avLst/>
          </a:prstGeom>
          <a:solidFill>
            <a:srgbClr val="0B1020">
              <a:alpha val="82000"/>
            </a:srgbClr>
          </a:solidFill>
          <a:ln w="12700">
            <a:solidFill>
              <a:srgbClr val="FF3DAE">
                <a:alpha val="30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255868" y="4160520"/>
            <a:ext cx="54864" cy="1965960"/>
          </a:xfrm>
          <a:prstGeom prst="rect">
            <a:avLst/>
          </a:prstGeom>
          <a:solidFill>
            <a:srgbClr val="FF3DAE"/>
          </a:solidFill>
          <a:ln w="12700">
            <a:solidFill>
              <a:srgbClr val="FF3DA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420460" y="4343400"/>
            <a:ext cx="496656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Governance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420460" y="4846320"/>
            <a:ext cx="4966564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gates, upgrades, emergency brakes.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Operator override is final.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Autonomy is bounded.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40080" y="6473952"/>
            <a:ext cx="9814255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9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AGI.Eth institutional brief · v0.x unified view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0820095" y="64739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cs_deck_assets_v7/agi888v32_16x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>
              <a:alpha val="60000"/>
            </a:srgbClr>
          </a:solidFill>
          <a:ln w="12700">
            <a:solidFill>
              <a:srgbClr val="070A0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40080" y="256032"/>
            <a:ext cx="10911535" cy="36576"/>
          </a:xfrm>
          <a:prstGeom prst="rect">
            <a:avLst/>
          </a:prstGeom>
          <a:solidFill>
            <a:srgbClr val="E6C15A"/>
          </a:solidFill>
          <a:ln w="12700">
            <a:solidFill>
              <a:srgbClr val="E6C1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ANCS — Alpha Node Compute Standard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11887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9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Compute Olympics with cryptographic receipts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1874520"/>
            <a:ext cx="5715000" cy="4389120"/>
          </a:xfrm>
          <a:prstGeom prst="roundRect">
            <a:avLst/>
          </a:prstGeom>
          <a:solidFill>
            <a:srgbClr val="0B1020">
              <a:alpha val="78000"/>
            </a:srgbClr>
          </a:solidFill>
          <a:ln w="12700">
            <a:solidFill>
              <a:srgbClr val="E6C15A">
                <a:alpha val="25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60120" y="205740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ANCS standardizes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2651760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6C1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16152" y="2651760"/>
            <a:ext cx="481888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Canonical benchmarks (fixed spec + fixed evaluation)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60120" y="3035808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6C1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216152" y="3035808"/>
            <a:ext cx="481888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 bundles (env + artifacts + hashes)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60120" y="3419856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6C1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216152" y="3419856"/>
            <a:ext cx="481888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 attestations (signed, replayable)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60120" y="3803904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6C1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16152" y="3803904"/>
            <a:ext cx="481888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On‑chain reputation (Qᵢ quality, Rᵢ reliability)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60120" y="4187952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6C1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216152" y="4187952"/>
            <a:ext cx="481888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Leaderboards &amp; routing that anyone can recompute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675120" y="1874520"/>
            <a:ext cx="4876495" cy="4389120"/>
          </a:xfrm>
          <a:prstGeom prst="round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995160" y="2057400"/>
            <a:ext cx="4236415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Irreversibility condition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995160" y="2651760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251192" y="2651760"/>
            <a:ext cx="3980383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registered on‑chain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995160" y="3035808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251192" y="3035808"/>
            <a:ext cx="3980383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Runs attested by recognized validators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995160" y="3419856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251192" y="3419856"/>
            <a:ext cx="3980383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Leaderboard derived from events + state only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995160" y="3803904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7251192" y="3803904"/>
            <a:ext cx="3980383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Router consumes Qᵢ/Rᵢ directly from chain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40080" y="6473952"/>
            <a:ext cx="9814255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9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ANCS v0.x · minimal on-chain state, maximal verifiability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0820095" y="64739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cs_deck_assets_v7/agi888v26_16x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>
              <a:alpha val="58000"/>
            </a:srgbClr>
          </a:solidFill>
          <a:ln w="12700">
            <a:solidFill>
              <a:srgbClr val="070A0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40080" y="256032"/>
            <a:ext cx="10911535" cy="36576"/>
          </a:xfrm>
          <a:prstGeom prst="rect">
            <a:avLst/>
          </a:prstGeom>
          <a:solidFill>
            <a:srgbClr val="E6C15A"/>
          </a:solidFill>
          <a:ln w="12700">
            <a:solidFill>
              <a:srgbClr val="E6C1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Canonical Benchmark: AGI Jobs Green Path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11887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9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Day‑One Utility — deterministic operator benchmark + evidence artifacts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1874520"/>
            <a:ext cx="5943600" cy="4389120"/>
          </a:xfrm>
          <a:prstGeom prst="roundRect">
            <a:avLst/>
          </a:prstGeom>
          <a:solidFill>
            <a:srgbClr val="0B1020">
              <a:alpha val="78000"/>
            </a:srgbClr>
          </a:solidFill>
          <a:ln w="12700">
            <a:solidFill>
              <a:srgbClr val="E6C15A">
                <a:alpha val="25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60120" y="20574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Operator runbook (canonical)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960120" y="2606040"/>
            <a:ext cx="5303520" cy="384048"/>
          </a:xfrm>
          <a:prstGeom prst="round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106424" y="2679192"/>
            <a:ext cx="5010912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make operator:green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60120" y="31546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A9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 criteria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60120" y="3520440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6C1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216152" y="3520440"/>
            <a:ext cx="5047488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Terminal banner starts with “✅ Day‑One Utility”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60120" y="3867912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6C1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216152" y="3867912"/>
            <a:ext cx="5047488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Meets default uplift guardrail (+5.00% threshold)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60120" y="4215384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6C1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216152" y="4215384"/>
            <a:ext cx="5047488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emitted in fixed formats (JSON/HTML/PNG)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60120" y="50749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A9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is the baseline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60120" y="544068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already reproducible, artifact‑producing, and operator‑safe — the ideal “Season‑Zero” anchor for public verification.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903720" y="1874520"/>
            <a:ext cx="4647895" cy="4389120"/>
          </a:xfrm>
          <a:prstGeom prst="roundRect">
            <a:avLst/>
          </a:prstGeom>
          <a:solidFill>
            <a:srgbClr val="000000">
              <a:alpha val="58000"/>
            </a:srgbClr>
          </a:solidFill>
          <a:ln w="12700">
            <a:solidFill>
              <a:srgbClr val="22D3EE">
                <a:alpha val="25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223760" y="2057400"/>
            <a:ext cx="4007815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artifacts (fixed)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7223760" y="2606040"/>
            <a:ext cx="4007815" cy="384048"/>
          </a:xfrm>
          <a:prstGeom prst="round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370064" y="2679192"/>
            <a:ext cx="3715207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demo/AGIJobs-Day-One-Utility-Benchmark/out/…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223760" y="3200400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479792" y="3200400"/>
            <a:ext cx="3751783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report.json — machine‑readable metrics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223760" y="3547872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479792" y="3547872"/>
            <a:ext cx="3751783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report.html — human dashboard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223760" y="3895344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479792" y="3895344"/>
            <a:ext cx="3751783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snapshot.png — visual proof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223760" y="4242816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7479792" y="4242816"/>
            <a:ext cx="3751783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owner_controls.json — sovereign safety state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7223760" y="4590288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7479792" y="4590288"/>
            <a:ext cx="3751783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env.json — pinned environment digest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40080" y="6473952"/>
            <a:ext cx="9814255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9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identity is content-addressed: benchmarkId = hash(manifest)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10820095" y="64739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cs_deck_assets_v7/agi888v4_16x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>
              <a:alpha val="56000"/>
            </a:srgbClr>
          </a:solidFill>
          <a:ln w="12700">
            <a:solidFill>
              <a:srgbClr val="070A0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40080" y="256032"/>
            <a:ext cx="10911535" cy="36576"/>
          </a:xfrm>
          <a:prstGeom prst="rect">
            <a:avLst/>
          </a:prstGeom>
          <a:solidFill>
            <a:srgbClr val="E6C15A"/>
          </a:solidFill>
          <a:ln w="12700">
            <a:solidFill>
              <a:srgbClr val="E6C1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Proof Bundle Standard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11887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9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work → shareable bundle → hash → attestation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1874520"/>
            <a:ext cx="10911535" cy="4389120"/>
          </a:xfrm>
          <a:prstGeom prst="roundRect">
            <a:avLst/>
          </a:prstGeom>
          <a:solidFill>
            <a:srgbClr val="0B1020">
              <a:alpha val="78000"/>
            </a:srgbClr>
          </a:solidFill>
          <a:ln w="12700">
            <a:solidFill>
              <a:srgbClr val="E6C15A">
                <a:alpha val="25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60120" y="2057400"/>
            <a:ext cx="10271455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Bundle contents (ANCS v0.x)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2697480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6C1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16152" y="2697480"/>
            <a:ext cx="4833976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env.json — machine‑checkable environment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60120" y="3081528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6C1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16152" y="3081528"/>
            <a:ext cx="4833976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report.json — metrics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60120" y="3465576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6C1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216152" y="3465576"/>
            <a:ext cx="4833976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report.html — dashboard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60120" y="3849624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6C1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16152" y="3849624"/>
            <a:ext cx="4833976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snapshot.png — visual proof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60120" y="4233672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6C1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16152" y="4233672"/>
            <a:ext cx="4833976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owner_controls.json — safety state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461608" y="2697480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717640" y="2697480"/>
            <a:ext cx="4833976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score.json — normalized scoreE6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461608" y="3081528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717640" y="3081528"/>
            <a:ext cx="4833976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bundle.json — manifest of hashes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461608" y="3465576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717640" y="3465576"/>
            <a:ext cx="4833976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bundleHash — sha256(bundle.json)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461608" y="3849624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717640" y="3849624"/>
            <a:ext cx="4833976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artifactHash — root commitment for IPFS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461608" y="4233672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717640" y="4233672"/>
            <a:ext cx="4833976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nodeSig — node co‑signature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960120" y="5715000"/>
            <a:ext cx="10271455" cy="36576"/>
          </a:xfrm>
          <a:prstGeom prst="rect">
            <a:avLst/>
          </a:prstGeom>
          <a:solidFill>
            <a:srgbClr val="A78BFA">
              <a:alpha val="75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960120" y="5806440"/>
            <a:ext cx="10271455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hashes go on‑chain. Heavy artifacts stay off‑chain — but are cryptographically committed, replayable, and dispute‑resolvable.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40080" y="6473952"/>
            <a:ext cx="9814255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9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is a conservation law: inputs + environment → outputs + hashes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0820095" y="64739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cs_deck_assets_v7/agiidv7_16x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>
              <a:alpha val="58000"/>
            </a:srgbClr>
          </a:solidFill>
          <a:ln w="12700">
            <a:solidFill>
              <a:srgbClr val="070A0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40080" y="256032"/>
            <a:ext cx="10911535" cy="36576"/>
          </a:xfrm>
          <a:prstGeom prst="rect">
            <a:avLst/>
          </a:prstGeom>
          <a:solidFill>
            <a:srgbClr val="E6C15A"/>
          </a:solidFill>
          <a:ln w="12700">
            <a:solidFill>
              <a:srgbClr val="E6C1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Validator Attestation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11887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9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Recognized validators sign what they can replay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1874520"/>
            <a:ext cx="5989320" cy="4389120"/>
          </a:xfrm>
          <a:prstGeom prst="roundRect">
            <a:avLst/>
          </a:prstGeom>
          <a:solidFill>
            <a:srgbClr val="0B1020">
              <a:alpha val="78000"/>
            </a:srgbClr>
          </a:solidFill>
          <a:ln w="12700">
            <a:solidFill>
              <a:srgbClr val="E6C15A">
                <a:alpha val="25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60120" y="2057400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validator.alpha.club.agi.eth attests: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26517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6C1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16152" y="2651760"/>
            <a:ext cx="509320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benchmarkId — identity of the ruleset (manifest hash)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60120" y="30175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6C1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16152" y="3017520"/>
            <a:ext cx="509320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runId — unique run identity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60120" y="33832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6C1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216152" y="3383280"/>
            <a:ext cx="509320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artifactHash — commitment to the proof bundle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60120" y="37490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6C1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16152" y="3749040"/>
            <a:ext cx="509320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envDigest + container digest — reproducibility anchor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60120" y="41148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6C1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16152" y="4114800"/>
            <a:ext cx="509320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scoreE6 + verdict — normalized outcome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60120" y="44805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6C1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216152" y="4480560"/>
            <a:ext cx="509320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 ENS + node signature — non‑repudiation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903720" y="1874520"/>
            <a:ext cx="4647895" cy="4389120"/>
          </a:xfrm>
          <a:prstGeom prst="round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FF3DAE">
                <a:alpha val="30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223760" y="2057400"/>
            <a:ext cx="4007815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Season‑One rule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7223760" y="2542032"/>
            <a:ext cx="4007815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= quorum attestation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223760" y="2971800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3D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479792" y="2971800"/>
            <a:ext cx="3751783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2‑of‑M validators must match the same tuple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223760" y="3319272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3D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479792" y="3319272"/>
            <a:ext cx="3751783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Disagreements trigger additional attestations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223760" y="3666744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3D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479792" y="3666744"/>
            <a:ext cx="3751783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Equivocation is slashable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223760" y="4014216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3D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7479792" y="4014216"/>
            <a:ext cx="3751783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Finality updates reputation state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7223760" y="5440680"/>
            <a:ext cx="4007815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This makes lying expensive and truth cheap.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40080" y="6473952"/>
            <a:ext cx="9814255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9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Attestation is settlement-grade metadata: small on-chain, huge off-chain evidence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0820095" y="64739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cs_deck_assets_v7/agi888v6_16x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>
              <a:alpha val="56000"/>
            </a:srgbClr>
          </a:solidFill>
          <a:ln w="12700">
            <a:solidFill>
              <a:srgbClr val="070A0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40080" y="256032"/>
            <a:ext cx="10911535" cy="36576"/>
          </a:xfrm>
          <a:prstGeom prst="rect">
            <a:avLst/>
          </a:prstGeom>
          <a:solidFill>
            <a:srgbClr val="E6C15A"/>
          </a:solidFill>
          <a:ln w="12700">
            <a:solidFill>
              <a:srgbClr val="E6C1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On‑Chain Reputation Primitive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11887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9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Reputation isn’t vibes — it is attested performance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1874520"/>
            <a:ext cx="10911535" cy="4389120"/>
          </a:xfrm>
          <a:prstGeom prst="roundRect">
            <a:avLst/>
          </a:prstGeom>
          <a:solidFill>
            <a:srgbClr val="0B1020">
              <a:alpha val="78000"/>
            </a:srgbClr>
          </a:solidFill>
          <a:ln w="12700">
            <a:solidFill>
              <a:srgbClr val="E6C15A">
                <a:alpha val="25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77240" y="2148840"/>
            <a:ext cx="5204308" cy="1920240"/>
          </a:xfrm>
          <a:prstGeom prst="roundRect">
            <a:avLst/>
          </a:prstGeom>
          <a:solidFill>
            <a:srgbClr val="0B1020">
              <a:alpha val="82000"/>
            </a:srgbClr>
          </a:solidFill>
          <a:ln w="12700">
            <a:solidFill>
              <a:srgbClr val="E6C15A">
                <a:alpha val="30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77240" y="2148840"/>
            <a:ext cx="54864" cy="1920240"/>
          </a:xfrm>
          <a:prstGeom prst="rect">
            <a:avLst/>
          </a:prstGeom>
          <a:solidFill>
            <a:srgbClr val="E6C15A"/>
          </a:solidFill>
          <a:ln w="12700">
            <a:solidFill>
              <a:srgbClr val="E6C1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41832" y="2331720"/>
            <a:ext cx="48751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Qᵢ — Quality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41832" y="2834640"/>
            <a:ext cx="4875124" cy="1051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qualityE6(benchmarkId, node)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 best official scoreE6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that capability class.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10148" y="2148840"/>
            <a:ext cx="5204308" cy="1920240"/>
          </a:xfrm>
          <a:prstGeom prst="roundRect">
            <a:avLst/>
          </a:prstGeom>
          <a:solidFill>
            <a:srgbClr val="0B1020">
              <a:alpha val="82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210148" y="2148840"/>
            <a:ext cx="54864" cy="19202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374740" y="2331720"/>
            <a:ext cx="48751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Rᵢ — Reliability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374740" y="2834640"/>
            <a:ext cx="4875124" cy="1051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reliabilityE6(benchmarkId, node)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 ⌊1e6 × passed / committed⌋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(missing reveals count as failures).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77240" y="4343400"/>
            <a:ext cx="10637215" cy="1828800"/>
          </a:xfrm>
          <a:prstGeom prst="roundRect">
            <a:avLst/>
          </a:prstGeom>
          <a:solidFill>
            <a:srgbClr val="000000">
              <a:alpha val="54000"/>
            </a:srgbClr>
          </a:solidFill>
          <a:ln w="12700">
            <a:solidFill>
              <a:srgbClr val="A78BFA">
                <a:alpha val="25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97280" y="4526280"/>
            <a:ext cx="9997135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097280" y="4956048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353312" y="4956048"/>
            <a:ext cx="9741103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Creates a credible supply curve for compute (who can do what, reliably)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097280" y="5303520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353312" y="5303520"/>
            <a:ext cx="9741103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Lets markets route work to provable competence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097280" y="5650992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353312" y="5650992"/>
            <a:ext cx="9741103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Enables dispute resolution by replay (not trust)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40080" y="6473952"/>
            <a:ext cx="9814255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9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chain stores the scoreboard; the world stores the evidence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0820095" y="64739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cs_deck_assets_v7/quantumasiv0_16x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>
              <a:alpha val="58000"/>
            </a:srgbClr>
          </a:solidFill>
          <a:ln w="12700">
            <a:solidFill>
              <a:srgbClr val="070A0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40080" y="256032"/>
            <a:ext cx="10911535" cy="36576"/>
          </a:xfrm>
          <a:prstGeom prst="rect">
            <a:avLst/>
          </a:prstGeom>
          <a:solidFill>
            <a:srgbClr val="E6C15A"/>
          </a:solidFill>
          <a:ln w="12700">
            <a:solidFill>
              <a:srgbClr val="E6C1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Routing: the Hamiltonian of Work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11887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9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nodes by minimizing risk‑adjusted “energy”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1874520"/>
            <a:ext cx="6126480" cy="4389120"/>
          </a:xfrm>
          <a:prstGeom prst="roundRect">
            <a:avLst/>
          </a:prstGeom>
          <a:solidFill>
            <a:srgbClr val="0B1020">
              <a:alpha val="78000"/>
            </a:srgbClr>
          </a:solidFill>
          <a:ln w="12700">
            <a:solidFill>
              <a:srgbClr val="E6C15A">
                <a:alpha val="25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60120" y="2057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Mandatory field on every job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960120" y="2606040"/>
            <a:ext cx="5486400" cy="384048"/>
          </a:xfrm>
          <a:prstGeom prst="round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106424" y="2679192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benchmarkId  // capability class (content-addressed)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60120" y="31546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A9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Router uses on‑chain state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60120" y="35661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6C1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216152" y="3566160"/>
            <a:ext cx="523036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Qᵢ = qualityE6(benchmarkId, node)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60120" y="39319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6C1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16152" y="3931920"/>
            <a:ext cx="523036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Rᵢ = reliabilityE6(benchmarkId, node)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60120" y="42976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6C1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216152" y="4297680"/>
            <a:ext cx="523036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Optionally gate by minimum thresholds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960120" y="5349240"/>
            <a:ext cx="5486400" cy="868680"/>
          </a:xfrm>
          <a:prstGeom prst="round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143000" y="55321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Hᵢ = α·cost + β·latency − γ·Qᵢ − δ·Rᵢ + ε·risk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7086600" y="1874520"/>
            <a:ext cx="4465015" cy="4389120"/>
          </a:xfrm>
          <a:prstGeom prst="roundRect">
            <a:avLst/>
          </a:prstGeom>
          <a:solidFill>
            <a:srgbClr val="000000">
              <a:alpha val="52000"/>
            </a:srgbClr>
          </a:solidFill>
          <a:ln w="12700">
            <a:solidFill>
              <a:srgbClr val="FF3DAE">
                <a:alpha val="25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406640" y="2057400"/>
            <a:ext cx="3824935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Job flow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406640" y="2651760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3D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662672" y="2651760"/>
            <a:ext cx="3568903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job with benchmarkId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406640" y="2999232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3D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662672" y="2999232"/>
            <a:ext cx="3568903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Router selects node by Qᵢ/Rᵢ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406640" y="3346704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3D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662672" y="3346704"/>
            <a:ext cx="3568903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 executes and returns proof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406640" y="3694176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3D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662672" y="3694176"/>
            <a:ext cx="3568903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 verifies and settles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406640" y="4041648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3D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7662672" y="4041648"/>
            <a:ext cx="3568903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Reputation updates — feedback loop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40080" y="6473952"/>
            <a:ext cx="9814255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9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Olympics becomes the market: routing is a function of on-chain truth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10820095" y="64739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cs_deck_assets_v7/agiidv20_16x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>
              <a:alpha val="56000"/>
            </a:srgbClr>
          </a:solidFill>
          <a:ln w="12700">
            <a:solidFill>
              <a:srgbClr val="070A0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40080" y="256032"/>
            <a:ext cx="10911535" cy="36576"/>
          </a:xfrm>
          <a:prstGeom prst="rect">
            <a:avLst/>
          </a:prstGeom>
          <a:solidFill>
            <a:srgbClr val="E6C15A"/>
          </a:solidFill>
          <a:ln w="12700">
            <a:solidFill>
              <a:srgbClr val="E6C1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Fastest Path: JobTagger Sidecar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11887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9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Immediate composition without replacing AGIJobManager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1874520"/>
            <a:ext cx="10911535" cy="4389120"/>
          </a:xfrm>
          <a:prstGeom prst="roundRect">
            <a:avLst/>
          </a:prstGeom>
          <a:solidFill>
            <a:srgbClr val="0B1020">
              <a:alpha val="78000"/>
            </a:srgbClr>
          </a:solidFill>
          <a:ln w="12700">
            <a:solidFill>
              <a:srgbClr val="E6C15A">
                <a:alpha val="25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960120" y="2331720"/>
            <a:ext cx="3210458" cy="1234440"/>
          </a:xfrm>
          <a:prstGeom prst="roundRect">
            <a:avLst/>
          </a:prstGeom>
          <a:solidFill>
            <a:srgbClr val="0B1020">
              <a:alpha val="82000"/>
            </a:srgbClr>
          </a:solidFill>
          <a:ln w="12700">
            <a:solidFill>
              <a:srgbClr val="E6C15A">
                <a:alpha val="30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960120" y="2331720"/>
            <a:ext cx="54864" cy="1051560"/>
          </a:xfrm>
          <a:prstGeom prst="rect">
            <a:avLst/>
          </a:prstGeom>
          <a:solidFill>
            <a:srgbClr val="E6C15A"/>
          </a:solidFill>
          <a:ln w="12700">
            <a:solidFill>
              <a:srgbClr val="E6C1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124712" y="2514600"/>
            <a:ext cx="288127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1) Create Job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124712" y="3017520"/>
            <a:ext cx="2881274" cy="182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AGIJobManager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(unchanged contract).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490618" y="2331720"/>
            <a:ext cx="3210458" cy="1234440"/>
          </a:xfrm>
          <a:prstGeom prst="roundRect">
            <a:avLst/>
          </a:prstGeom>
          <a:solidFill>
            <a:srgbClr val="0B1020">
              <a:alpha val="82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490618" y="2331720"/>
            <a:ext cx="54864" cy="10515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655210" y="2514600"/>
            <a:ext cx="288127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2) Tag benchmarkId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655210" y="3017520"/>
            <a:ext cx="2881274" cy="182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JobTagger emits JobTagged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(jobId → benchmarkId).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021117" y="2331720"/>
            <a:ext cx="3210458" cy="1234440"/>
          </a:xfrm>
          <a:prstGeom prst="roundRect">
            <a:avLst/>
          </a:prstGeom>
          <a:solidFill>
            <a:srgbClr val="0B1020">
              <a:alpha val="82000"/>
            </a:srgbClr>
          </a:solidFill>
          <a:ln w="12700">
            <a:solidFill>
              <a:srgbClr val="FF3DAE">
                <a:alpha val="30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8021117" y="2331720"/>
            <a:ext cx="54864" cy="1051560"/>
          </a:xfrm>
          <a:prstGeom prst="rect">
            <a:avLst/>
          </a:prstGeom>
          <a:solidFill>
            <a:srgbClr val="FF3DAE"/>
          </a:solidFill>
          <a:ln w="12700">
            <a:solidFill>
              <a:srgbClr val="FF3DA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185709" y="2514600"/>
            <a:ext cx="288127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3) Route + Settle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185709" y="3017520"/>
            <a:ext cx="2881274" cy="182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Router reads Qᵢ/Rᵢ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selects node; settle as usual.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22960" y="3611880"/>
            <a:ext cx="10545775" cy="2514600"/>
          </a:xfrm>
          <a:prstGeom prst="roundRect">
            <a:avLst/>
          </a:prstGeom>
          <a:solidFill>
            <a:srgbClr val="000000">
              <a:alpha val="54000"/>
            </a:srgbClr>
          </a:solidFill>
          <a:ln w="12700">
            <a:solidFill>
              <a:srgbClr val="A78BFA">
                <a:alpha val="25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143000" y="3794760"/>
            <a:ext cx="9905695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is minimal risk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143000" y="4251960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399032" y="4251960"/>
            <a:ext cx="9649663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migration pressure: old jobs continue uninterrupted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143000" y="4599432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399032" y="4599432"/>
            <a:ext cx="9649663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benchmarkId becomes on‑chain join key immediately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143000" y="4946904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399032" y="4946904"/>
            <a:ext cx="9649663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Later: “one signature” batching via smart accounts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143000" y="5715000"/>
            <a:ext cx="9905695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Once stable, deploy AGIJobManager vNext with benchmarkId native — migrate voluntarily.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40080" y="6473952"/>
            <a:ext cx="9814255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9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B now; Option A later — velocity without protocol regret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0820095" y="64739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cs_deck_assets_v7/agi888v4_16x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>
              <a:alpha val="54000"/>
            </a:srgbClr>
          </a:solidFill>
          <a:ln w="12700">
            <a:solidFill>
              <a:srgbClr val="070A0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40080" y="256032"/>
            <a:ext cx="10911535" cy="36576"/>
          </a:xfrm>
          <a:prstGeom prst="rect">
            <a:avLst/>
          </a:prstGeom>
          <a:solidFill>
            <a:srgbClr val="E6C15A"/>
          </a:solidFill>
          <a:ln w="12700">
            <a:solidFill>
              <a:srgbClr val="E6C1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Season‑One Hardening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11887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9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cheating a dominated strategy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1965960"/>
            <a:ext cx="3423818" cy="2331720"/>
          </a:xfrm>
          <a:prstGeom prst="roundRect">
            <a:avLst/>
          </a:prstGeom>
          <a:solidFill>
            <a:srgbClr val="0B1020">
              <a:alpha val="82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40080" y="1965960"/>
            <a:ext cx="54864" cy="2331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04672" y="2148840"/>
            <a:ext cx="309463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Quorum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04672" y="2651760"/>
            <a:ext cx="3094634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score requires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2‑of‑M matching validator attestations.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Disagreement → additional attestations.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83938" y="1965960"/>
            <a:ext cx="3423818" cy="2331720"/>
          </a:xfrm>
          <a:prstGeom prst="roundRect">
            <a:avLst/>
          </a:prstGeom>
          <a:solidFill>
            <a:srgbClr val="0B1020">
              <a:alpha val="82000"/>
            </a:srgbClr>
          </a:solidFill>
          <a:ln w="12700">
            <a:solidFill>
              <a:srgbClr val="E6C15A">
                <a:alpha val="30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383938" y="1965960"/>
            <a:ext cx="54864" cy="2331720"/>
          </a:xfrm>
          <a:prstGeom prst="rect">
            <a:avLst/>
          </a:prstGeom>
          <a:solidFill>
            <a:srgbClr val="E6C15A"/>
          </a:solidFill>
          <a:ln w="12700">
            <a:solidFill>
              <a:srgbClr val="E6C1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48530" y="2148840"/>
            <a:ext cx="309463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Stake + Slashing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548530" y="2651760"/>
            <a:ext cx="3094634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Validators post stake.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Equivocation or wrong‑side attestation is slashable.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Withdraw delay enforces accountability.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127797" y="1965960"/>
            <a:ext cx="3423818" cy="2331720"/>
          </a:xfrm>
          <a:prstGeom prst="roundRect">
            <a:avLst/>
          </a:prstGeom>
          <a:solidFill>
            <a:srgbClr val="0B1020">
              <a:alpha val="82000"/>
            </a:srgbClr>
          </a:solidFill>
          <a:ln w="12700">
            <a:solidFill>
              <a:srgbClr val="FF3DAE">
                <a:alpha val="30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127797" y="1965960"/>
            <a:ext cx="54864" cy="2331720"/>
          </a:xfrm>
          <a:prstGeom prst="rect">
            <a:avLst/>
          </a:prstGeom>
          <a:solidFill>
            <a:srgbClr val="FF3DAE"/>
          </a:solidFill>
          <a:ln w="12700">
            <a:solidFill>
              <a:srgbClr val="FF3DA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292389" y="2148840"/>
            <a:ext cx="309463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Commit–Reveal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292389" y="2651760"/>
            <a:ext cx="3094634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Nodes commit to N runs.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reveals count as failures.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Reliability reflects reality, not cherry‑picking.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40080" y="4617720"/>
            <a:ext cx="10911535" cy="1645920"/>
          </a:xfrm>
          <a:prstGeom prst="roundRect">
            <a:avLst/>
          </a:prstGeom>
          <a:solidFill>
            <a:srgbClr val="000000">
              <a:alpha val="52000"/>
            </a:srgbClr>
          </a:solidFill>
          <a:ln w="12700">
            <a:solidFill>
              <a:srgbClr val="A78BFA">
                <a:alpha val="25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60120" y="4773168"/>
            <a:ext cx="10271455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Dominance condition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60120" y="5230368"/>
            <a:ext cx="10271455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E[cheat] = F − p·S  ⇒  choose parameters so p·S &gt; F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960120" y="5742432"/>
            <a:ext cx="10271455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Truth becomes the profitable equilibrium.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40080" y="6473952"/>
            <a:ext cx="9814255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9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Season-One: redundancy + incentives + unbiased sampling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0820095" y="64739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cs_deck_assets_v7/agi888v32_16x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>
              <a:alpha val="52000"/>
            </a:srgbClr>
          </a:solidFill>
          <a:ln w="12700">
            <a:solidFill>
              <a:srgbClr val="070A0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40080" y="256032"/>
            <a:ext cx="10911535" cy="36576"/>
          </a:xfrm>
          <a:prstGeom prst="rect">
            <a:avLst/>
          </a:prstGeom>
          <a:solidFill>
            <a:srgbClr val="E6C15A"/>
          </a:solidFill>
          <a:ln w="12700">
            <a:solidFill>
              <a:srgbClr val="E6C1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ENS Role Lattice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11887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9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Names classify actors; keys enforce accountability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1874520"/>
            <a:ext cx="10911535" cy="4389120"/>
          </a:xfrm>
          <a:prstGeom prst="roundRect">
            <a:avLst/>
          </a:prstGeom>
          <a:solidFill>
            <a:srgbClr val="0B1020">
              <a:alpha val="78000"/>
            </a:srgbClr>
          </a:solidFill>
          <a:ln w="12700">
            <a:solidFill>
              <a:srgbClr val="E6C15A">
                <a:alpha val="25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60120" y="2103120"/>
            <a:ext cx="499856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Sovereigns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2487168"/>
            <a:ext cx="499856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6C15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*.alpha.agi.eth  ·  *.agi.eth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60120" y="2834640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6C1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216152" y="2834640"/>
            <a:ext cx="4742536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gates &amp; upgrades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60120" y="3182112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6C1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216152" y="3182112"/>
            <a:ext cx="4742536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Emergency brakes (pause/reset)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60120" y="3529584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6C1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216152" y="3529584"/>
            <a:ext cx="4742536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Canonical registries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60120" y="4251960"/>
            <a:ext cx="499856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Validators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960120" y="4636008"/>
            <a:ext cx="499856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2D3E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*.alpha.club.agi.eth  ·  *.club.agi.eth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60120" y="4983480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216152" y="4983480"/>
            <a:ext cx="4742536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Replay deterministically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60120" y="5330952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216152" y="5330952"/>
            <a:ext cx="4742536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Attest (quorum)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233008" y="2103120"/>
            <a:ext cx="499856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Agents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233008" y="2487168"/>
            <a:ext cx="499856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A78B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*.alpha.agent.agi.eth  ·  *.agent.agi.eth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233008" y="2834640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489040" y="2834640"/>
            <a:ext cx="4742536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/ claim jobs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233008" y="3182112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489040" y="3182112"/>
            <a:ext cx="4742536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Orchestrate nodes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233008" y="3529584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489040" y="3529584"/>
            <a:ext cx="4742536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settlement proofs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233008" y="4251960"/>
            <a:ext cx="499856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Nodes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6233008" y="4636008"/>
            <a:ext cx="499856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F3DA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*.alpha.node.agi.eth  ·  *.node.agi.eth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233008" y="4983480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3D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489040" y="4983480"/>
            <a:ext cx="4742536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Execute deterministically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233008" y="5330952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3D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6489040" y="5330952"/>
            <a:ext cx="4742536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Emit proof bundles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40080" y="6473952"/>
            <a:ext cx="9814255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9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ENS as legible PKI: names for humans, signatures for machines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10820095" y="64739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cs_deck_assets_v7/agi888v6_16x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>
              <a:alpha val="52000"/>
            </a:srgbClr>
          </a:solidFill>
          <a:ln w="12700">
            <a:solidFill>
              <a:srgbClr val="070A0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40080" y="256032"/>
            <a:ext cx="10911535" cy="36576"/>
          </a:xfrm>
          <a:prstGeom prst="rect">
            <a:avLst/>
          </a:prstGeom>
          <a:solidFill>
            <a:srgbClr val="E6C15A"/>
          </a:solidFill>
          <a:ln w="12700">
            <a:solidFill>
              <a:srgbClr val="E6C1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Autopoiesis: the Self‑Maintaining Node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11887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9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sovereign digital worker that preserves its operational identity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1874520"/>
            <a:ext cx="6035040" cy="4389120"/>
          </a:xfrm>
          <a:prstGeom prst="roundRect">
            <a:avLst/>
          </a:prstGeom>
          <a:solidFill>
            <a:srgbClr val="0B1020">
              <a:alpha val="78000"/>
            </a:srgbClr>
          </a:solidFill>
          <a:ln w="12700">
            <a:solidFill>
              <a:srgbClr val="E6C15A">
                <a:alpha val="25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60120" y="20574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Metabolic loop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26517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6C1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16152" y="2651760"/>
            <a:ext cx="513892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 → Work → Proof → Settlement → Reputation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60120" y="30175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6C1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16152" y="3017520"/>
            <a:ext cx="513892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Heartbeat benchmark to detect drift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60120" y="33832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6C1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216152" y="3383280"/>
            <a:ext cx="513892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Pinned environments for replayability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60120" y="37490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6C1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16152" y="3749040"/>
            <a:ext cx="513892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Signed telemetry for accountability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995160" y="1874520"/>
            <a:ext cx="4556455" cy="4389120"/>
          </a:xfrm>
          <a:prstGeom prst="round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22D3EE">
                <a:alpha val="25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315200" y="2057400"/>
            <a:ext cx="3916375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Immune system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315200" y="2651760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571232" y="2651760"/>
            <a:ext cx="3660343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Quorum detects outliers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315200" y="2999232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571232" y="2999232"/>
            <a:ext cx="3660343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Slashing corrects misbehavior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315200" y="3346704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571232" y="3346704"/>
            <a:ext cx="3660343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applies brakes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315200" y="3694176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571232" y="3694176"/>
            <a:ext cx="3660343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Replay resolves disputes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315200" y="5532120"/>
            <a:ext cx="3916375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Stability scales when maintenance is automated.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40080" y="6473952"/>
            <a:ext cx="9814255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9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Autopoiesis: continuous self-production through proofs and policy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0820095" y="64739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cs_deck_assets_v7/quantumasiv0_16x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>
              <a:alpha val="54000"/>
            </a:srgbClr>
          </a:solidFill>
          <a:ln w="12700">
            <a:solidFill>
              <a:srgbClr val="070A0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40080" y="256032"/>
            <a:ext cx="10911535" cy="36576"/>
          </a:xfrm>
          <a:prstGeom prst="rect">
            <a:avLst/>
          </a:prstGeom>
          <a:solidFill>
            <a:srgbClr val="E6C15A"/>
          </a:solidFill>
          <a:ln w="12700">
            <a:solidFill>
              <a:srgbClr val="E6C1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Launch Sequence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11887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9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Velocity first, then harden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1874520"/>
            <a:ext cx="10911535" cy="4389120"/>
          </a:xfrm>
          <a:prstGeom prst="roundRect">
            <a:avLst/>
          </a:prstGeom>
          <a:solidFill>
            <a:srgbClr val="0B1020">
              <a:alpha val="78000"/>
            </a:srgbClr>
          </a:solidFill>
          <a:ln w="12700">
            <a:solidFill>
              <a:srgbClr val="E6C15A">
                <a:alpha val="25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60120" y="2057400"/>
            <a:ext cx="10271455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Season‑Zero deliverables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2606040"/>
            <a:ext cx="2286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6C1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16152" y="2606040"/>
            <a:ext cx="10015423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 JobTagger sidecar (benchmarkId join key)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60120" y="2935224"/>
            <a:ext cx="2286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6C1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216152" y="2935224"/>
            <a:ext cx="10015423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 benchmark registry + attestation contract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60120" y="3264408"/>
            <a:ext cx="2286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6C1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216152" y="3264408"/>
            <a:ext cx="10015423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 public leaderboard from RunAttested events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960120" y="3977640"/>
            <a:ext cx="10271455" cy="36576"/>
          </a:xfrm>
          <a:prstGeom prst="rect">
            <a:avLst/>
          </a:prstGeom>
          <a:solidFill>
            <a:srgbClr val="22D3EE">
              <a:alpha val="75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60120" y="4096512"/>
            <a:ext cx="10271455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Season‑One upgrades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960120" y="4663440"/>
            <a:ext cx="2286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216152" y="4663440"/>
            <a:ext cx="10015423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2‑of‑M quorum finalization (official runs only)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60120" y="4992624"/>
            <a:ext cx="2286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216152" y="4992624"/>
            <a:ext cx="10015423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 staking + slashing (equivocation / wrong‑side)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60120" y="5321808"/>
            <a:ext cx="2286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216152" y="5321808"/>
            <a:ext cx="10015423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Commit‑reveal seasons for nodes (anti cherry‑picking)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960120" y="5650992"/>
            <a:ext cx="2286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216152" y="5650992"/>
            <a:ext cx="10015423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on‑chain gating: minQualityE6 / minReliabilityE6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40080" y="6473952"/>
            <a:ext cx="9814255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9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Season‑Zero proves the loop; Season‑One hardens the game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0820095" y="64739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cs_deck_assets_v7/agi888v32_16x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>
              <a:alpha val="52000"/>
            </a:srgbClr>
          </a:solidFill>
          <a:ln w="12700">
            <a:solidFill>
              <a:srgbClr val="070A0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40080" y="256032"/>
            <a:ext cx="10911535" cy="36576"/>
          </a:xfrm>
          <a:prstGeom prst="rect">
            <a:avLst/>
          </a:prstGeom>
          <a:solidFill>
            <a:srgbClr val="E6C15A"/>
          </a:solidFill>
          <a:ln w="12700">
            <a:solidFill>
              <a:srgbClr val="E6C1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Kardashev‑Scale Coordination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11887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9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 → Work → Proof → Trust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1874520"/>
            <a:ext cx="10911535" cy="4389120"/>
          </a:xfrm>
          <a:prstGeom prst="roundRect">
            <a:avLst/>
          </a:prstGeom>
          <a:solidFill>
            <a:srgbClr val="000000">
              <a:alpha val="54000"/>
            </a:srgbClr>
          </a:solidFill>
          <a:ln w="12700">
            <a:solidFill>
              <a:srgbClr val="E6C15A">
                <a:alpha val="30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51560" y="2148840"/>
            <a:ext cx="10088575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civilization engine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51560" y="2697480"/>
            <a:ext cx="1008857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compute becomes measurable, replayable, and settleable, coordination scales like physics: a stable macro‑order emerges from local rules.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51560" y="3520440"/>
            <a:ext cx="2286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6C1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307592" y="3520440"/>
            <a:ext cx="9832543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Hamiltonian routing shapes global behavior via local incentives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51560" y="3849624"/>
            <a:ext cx="2286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6C1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307592" y="3849624"/>
            <a:ext cx="9832543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Gibbs sampling enables exploration without chaos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51560" y="4178808"/>
            <a:ext cx="2286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6C1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307592" y="4178808"/>
            <a:ext cx="9832543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Slashing is an energy barrier against adversarial states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51560" y="4507992"/>
            <a:ext cx="2286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6C1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307592" y="4507992"/>
            <a:ext cx="9832543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is the emergency brake: bounded autonomy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051560" y="5596128"/>
            <a:ext cx="10088575" cy="36576"/>
          </a:xfrm>
          <a:prstGeom prst="rect">
            <a:avLst/>
          </a:prstGeom>
          <a:solidFill>
            <a:srgbClr val="FF3DAE">
              <a:alpha val="65000"/>
            </a:srgbClr>
          </a:solidFill>
          <a:ln w="12700">
            <a:solidFill>
              <a:srgbClr val="FF3DA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051560" y="5687568"/>
            <a:ext cx="10088575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ANCS is the bridge from demos to economies.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40080" y="6473952"/>
            <a:ext cx="9814255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9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Kardashev II framing: mastery of energy flows → mastery of coordination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820095" y="64739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cs_deck_assets_v7/agiidv7_16x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>
              <a:alpha val="56000"/>
            </a:srgbClr>
          </a:solidFill>
          <a:ln w="12700">
            <a:solidFill>
              <a:srgbClr val="070A0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40080" y="256032"/>
            <a:ext cx="10911535" cy="36576"/>
          </a:xfrm>
          <a:prstGeom prst="rect">
            <a:avLst/>
          </a:prstGeom>
          <a:solidFill>
            <a:srgbClr val="E6C15A"/>
          </a:solidFill>
          <a:ln w="12700">
            <a:solidFill>
              <a:srgbClr val="E6C1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Enter the Tournament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11887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9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proof to profit — the shortest path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1874520"/>
            <a:ext cx="6126480" cy="4389120"/>
          </a:xfrm>
          <a:prstGeom prst="roundRect">
            <a:avLst/>
          </a:prstGeom>
          <a:solidFill>
            <a:srgbClr val="0B1020">
              <a:alpha val="78000"/>
            </a:srgbClr>
          </a:solidFill>
          <a:ln w="12700">
            <a:solidFill>
              <a:srgbClr val="E6C15A">
                <a:alpha val="25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60120" y="2057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Node loop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26517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6C1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16152" y="2651760"/>
            <a:ext cx="523036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the benchmark (Green Path / Day‑One Utility)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60120" y="30175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6C1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16152" y="3017520"/>
            <a:ext cx="523036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 the proof bundle (IPFS or equivalent)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60120" y="33832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6C1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216152" y="3383280"/>
            <a:ext cx="523036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validator attestation (quorum)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60120" y="37490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6C1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16152" y="3749040"/>
            <a:ext cx="523036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Gain on‑chain Qᵢ/Rᵢ for benchmarkId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60120" y="41148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6C1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16152" y="4114800"/>
            <a:ext cx="523036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Receive routed AGI Jobs with benchmarkId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960120" y="4617720"/>
            <a:ext cx="5486400" cy="384048"/>
          </a:xfrm>
          <a:prstGeom prst="round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106424" y="4690872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make operator:green   # canonical run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60120" y="5074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one‑signature onboarding (smart account batching)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086600" y="1874520"/>
            <a:ext cx="4465015" cy="4389120"/>
          </a:xfrm>
          <a:prstGeom prst="round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22D3EE">
                <a:alpha val="25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406640" y="2057400"/>
            <a:ext cx="3824935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promise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406640" y="2606040"/>
            <a:ext cx="3824935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market where jobs route to provable competence — and competence is measured by replay, not reputation games.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406640" y="3840480"/>
            <a:ext cx="3824935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Identity → Proof → Settlement → Governance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406640" y="4572000"/>
            <a:ext cx="38249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E6C1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Now make it public.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640080" y="6473952"/>
            <a:ext cx="9814255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9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AGI.Eth × AGI Jobs · ANCS Season-One · Public Compute Olympics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0820095" y="64739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1684</Words>
  <Application>Microsoft Macintosh PowerPoint</Application>
  <PresentationFormat>Widescreen</PresentationFormat>
  <Paragraphs>342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Cascadia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AGI.Eth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AGI.Eth × AGI Jobs — ANCS Season-One</dc:title>
  <dc:subject>Alpha Node Compute Standard (ANCS) — Season-One</dc:subject>
  <dc:creator>AGI.Eth / AGI Jobs</dc:creator>
  <cp:lastModifiedBy>Vincent Boucher</cp:lastModifiedBy>
  <cp:revision>2</cp:revision>
  <dcterms:created xsi:type="dcterms:W3CDTF">2026-01-11T21:51:20Z</dcterms:created>
  <dcterms:modified xsi:type="dcterms:W3CDTF">2026-01-11T22:26:45Z</dcterms:modified>
</cp:coreProperties>
</file>