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66"/>
    <p:restoredTop sz="94610"/>
  </p:normalViewPr>
  <p:slideViewPr>
    <p:cSldViewPr snapToGrid="0" snapToObjects="1">
      <p:cViewPr varScale="1">
        <p:scale>
          <a:sx n="185" d="100"/>
          <a:sy n="185" d="100"/>
        </p:scale>
        <p:origin x="83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rL(T)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7D</c:v>
                </c:pt>
                <c:pt idx="1">
                  <c:v>14D</c:v>
                </c:pt>
                <c:pt idx="2">
                  <c:v>30D</c:v>
                </c:pt>
                <c:pt idx="3">
                  <c:v>90D</c:v>
                </c:pt>
                <c:pt idx="4">
                  <c:v>180D</c:v>
                </c:pt>
                <c:pt idx="5">
                  <c:v>365D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9.1999999999999993</c:v>
                </c:pt>
                <c:pt idx="1">
                  <c:v>8.6999999999999993</c:v>
                </c:pt>
                <c:pt idx="2">
                  <c:v>8.1</c:v>
                </c:pt>
                <c:pt idx="3">
                  <c:v>7.5</c:v>
                </c:pt>
                <c:pt idx="4">
                  <c:v>7.2</c:v>
                </c:pt>
                <c:pt idx="5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60-694C-A2D5-A718F550F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23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04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Phoenix image: user-provided asset (QmT7oaKW...).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Institutional brief concepts and invariant wording: AGI_Eth_Institutional_v0.pdf (user-provided).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Control loop framing and free‑energy wording: AGI_Eth_Institutional_v0.pdf (user-provided).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L0/L1 concepts and invariants: L0_Aegis_L1_Apotheosis_Overview_FINAL (user-provided).
- EIP-712: https://eips.ethereum.org/EIPS/eip-712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ENSIP-10 wildcard resolution: https://docs.ens.domains/ens-improvement-proposals/ensip-10-wildcard-resolution
- ENSIP-15 normalization: https://docs.ens.domains/ens-improvement-proposals/ensip-15-normalize
- EIP-3668 CCIP-Read: https://eips.ethereum.org/EIPS/eip-3668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EIP-7702 (account code delegation): https://eips.ethereum.org/
- ENS name wrapper fuses overview: https://docs.ens.domains/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EIP-712 typed signatures: https://eips.ethereum.org/EIPS/eip-712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Metrology and thermostat coupling concepts: Synthetic_Labor_Observatory_FINAL_v6 and GSLI decks (user-provided).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Index admissibility and print fields: Global_Synthetic_Labor_Index_Prototype_FINAL deck (user-provided).
- Optional oracle mirror concept: Chainlink docs https://docs.chain.link/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Observatory pillars and audit lottery: Synthetic_Labor_Observatory_FINAL_v6 (user-provided).
- Chainlink VRF: https://docs.chain.link/vrf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LZ(T) definitions and yields: GSLI deck (user-provided).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Etherscan links listed on slide.
- deBridge docs: https://docs.debridge.finance/
- Chainlink VRF docs: https://docs.chain.link/vrf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ebridge.finance/" TargetMode="External"/><Relationship Id="rId3" Type="http://schemas.openxmlformats.org/officeDocument/2006/relationships/hyperlink" Target="https://etherscan.io/address/0x0178b6bad606aaf908f72135b8ec32fc1d5ba477#code" TargetMode="External"/><Relationship Id="rId7" Type="http://schemas.openxmlformats.org/officeDocument/2006/relationships/hyperlink" Target="https://docs.ens.domains/ens-improvement-proposals/ensip-10-wildcard-resolution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ips.ethereum.org/EIPS/eip-3668" TargetMode="External"/><Relationship Id="rId5" Type="http://schemas.openxmlformats.org/officeDocument/2006/relationships/hyperlink" Target="https://eips.ethereum.org/EIPS/eip-712" TargetMode="External"/><Relationship Id="rId4" Type="http://schemas.openxmlformats.org/officeDocument/2006/relationships/hyperlink" Target="https://etherscan.io/address/0xA61a3B3a130a9c20768EEBF97E21515A6046a1fA" TargetMode="External"/><Relationship Id="rId9" Type="http://schemas.openxmlformats.org/officeDocument/2006/relationships/hyperlink" Target="https://docs.chain.link/vrf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jp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49.jpg"/><Relationship Id="rId7" Type="http://schemas.openxmlformats.org/officeDocument/2006/relationships/image" Target="../media/image5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g"/><Relationship Id="rId3" Type="http://schemas.openxmlformats.org/officeDocument/2006/relationships/image" Target="../media/image55.jpg"/><Relationship Id="rId7" Type="http://schemas.openxmlformats.org/officeDocument/2006/relationships/image" Target="../media/image59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jpg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61.jpg"/><Relationship Id="rId7" Type="http://schemas.openxmlformats.org/officeDocument/2006/relationships/image" Target="../media/image6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g"/><Relationship Id="rId3" Type="http://schemas.openxmlformats.org/officeDocument/2006/relationships/image" Target="../media/image67.jpg"/><Relationship Id="rId7" Type="http://schemas.openxmlformats.org/officeDocument/2006/relationships/image" Target="../media/image7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jpg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73.jpg"/><Relationship Id="rId7" Type="http://schemas.openxmlformats.org/officeDocument/2006/relationships/image" Target="../media/image7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jpg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jpg"/><Relationship Id="rId4" Type="http://schemas.openxmlformats.org/officeDocument/2006/relationships/image" Target="../media/image80.jp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g"/><Relationship Id="rId3" Type="http://schemas.openxmlformats.org/officeDocument/2006/relationships/image" Target="../media/image82.jpg"/><Relationship Id="rId7" Type="http://schemas.openxmlformats.org/officeDocument/2006/relationships/image" Target="../media/image86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jpg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jp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jpg"/><Relationship Id="rId3" Type="http://schemas.openxmlformats.org/officeDocument/2006/relationships/image" Target="../media/image96.jpg"/><Relationship Id="rId7" Type="http://schemas.openxmlformats.org/officeDocument/2006/relationships/image" Target="../media/image100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jpg"/><Relationship Id="rId5" Type="http://schemas.openxmlformats.org/officeDocument/2006/relationships/image" Target="../media/image98.jpg"/><Relationship Id="rId4" Type="http://schemas.openxmlformats.org/officeDocument/2006/relationships/image" Target="../media/image97.jp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jpg"/><Relationship Id="rId3" Type="http://schemas.openxmlformats.org/officeDocument/2006/relationships/image" Target="../media/image102.jpg"/><Relationship Id="rId7" Type="http://schemas.openxmlformats.org/officeDocument/2006/relationships/image" Target="../media/image106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jpg"/><Relationship Id="rId5" Type="http://schemas.openxmlformats.org/officeDocument/2006/relationships/image" Target="../media/image104.jpg"/><Relationship Id="rId4" Type="http://schemas.openxmlformats.org/officeDocument/2006/relationships/image" Target="../media/image103.jp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jpg"/><Relationship Id="rId3" Type="http://schemas.openxmlformats.org/officeDocument/2006/relationships/image" Target="../media/image108.jpg"/><Relationship Id="rId7" Type="http://schemas.openxmlformats.org/officeDocument/2006/relationships/image" Target="../media/image112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jpg"/><Relationship Id="rId5" Type="http://schemas.openxmlformats.org/officeDocument/2006/relationships/image" Target="../media/image110.jpg"/><Relationship Id="rId4" Type="http://schemas.openxmlformats.org/officeDocument/2006/relationships/image" Target="../media/image109.jp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jpg"/><Relationship Id="rId3" Type="http://schemas.openxmlformats.org/officeDocument/2006/relationships/image" Target="../media/image114.jpg"/><Relationship Id="rId7" Type="http://schemas.openxmlformats.org/officeDocument/2006/relationships/image" Target="../media/image118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jpg"/><Relationship Id="rId5" Type="http://schemas.openxmlformats.org/officeDocument/2006/relationships/image" Target="../media/image116.jpg"/><Relationship Id="rId4" Type="http://schemas.openxmlformats.org/officeDocument/2006/relationships/image" Target="../media/image1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/>
          <a:srcRect l="10113" r="10113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5060B"/>
          </a:solidFill>
          <a:ln w="12700">
            <a:solidFill>
              <a:srgbClr val="050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1444752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Synthetic Labor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370973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B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Index Prototype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→ Proof → Settlement → Markets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703320"/>
            <a:ext cx="5669280" cy="1737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civilization‑grade control loop for verifiable synthetic work: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→ Prove → Settle → Print → Price → Finance → Expand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65376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CHARTER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invariant. Four pillars.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value without evidence · No settlement without validation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63540" cy="21259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864" cy="21259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728216"/>
            <a:ext cx="52075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057400"/>
            <a:ext cx="520750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bound to keys (ENS/DID).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Accountability by default.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rules prevent ambiguity.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0780" y="1600200"/>
            <a:ext cx="5463540" cy="21259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40780" y="1600200"/>
            <a:ext cx="54864" cy="212598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5372" y="1728216"/>
            <a:ext cx="52075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5372" y="2057400"/>
            <a:ext cx="520750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runs emit proof bundles.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beats rhetoric (audit = replay).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Commit–reveal reduces bribery leverage.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54780"/>
            <a:ext cx="5463540" cy="21259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954780"/>
            <a:ext cx="54864" cy="212598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082796"/>
            <a:ext cx="52075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Settlement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4411980"/>
            <a:ext cx="520750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Escrow releases only after validation.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Receipts are settlement‑grade artifacts.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payout without PoC.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0780" y="3954780"/>
            <a:ext cx="5463540" cy="21259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40780" y="3954780"/>
            <a:ext cx="54864" cy="212598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5372" y="4082796"/>
            <a:ext cx="52075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5372" y="4411980"/>
            <a:ext cx="520750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gates, upgrades, emergency brakes.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override is final (bounded autonomy).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MethodHash freezes index rules per epoch/quarter.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Charter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low‑entropy path where honesty wins.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476103" cy="82296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88167" y="219456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61903" y="1874520"/>
            <a:ext cx="1476103" cy="822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9919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01430" y="219456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75166" y="1874520"/>
            <a:ext cx="1476103" cy="822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03182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Settle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4693" y="219456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88429" y="1874520"/>
            <a:ext cx="1476103" cy="822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16445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27955" y="219456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01691" y="1874520"/>
            <a:ext cx="1476103" cy="822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29707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41218" y="219456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14954" y="1874520"/>
            <a:ext cx="1476103" cy="822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42970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4481" y="219456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28217" y="1874520"/>
            <a:ext cx="1476103" cy="822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56233" y="2039112"/>
            <a:ext cx="1220071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Expand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5486400" cy="2926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2926080"/>
            <a:ext cx="54864" cy="29260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" y="305409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Physics intuition (Gibbs free energy)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" y="3383280"/>
            <a:ext cx="523036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 = U − T·S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U: utility captured · S: ambiguity/dispute surface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T: operational friction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drive T·S → 0 via determinism + receipts + incentives.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5486400" cy="2926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7920" y="2926080"/>
            <a:ext cx="54864" cy="292608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82512" y="305409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Game theory (dominant strategies)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82512" y="3383280"/>
            <a:ext cx="523036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earn only for validated proof.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 are stake‑bonded; misbehavior becomes negative‑sum (slashing).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Commit–reveal reduces herding and bribery leverage.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Loop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Ledger &amp; Governance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 truth at L0. Evolve policy at L1—without rewriting history.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L0 / L1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L0 Aegis · L1 Apotheosis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Conservation laws + surgical brakes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42062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42062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L0 Aegis (frozen)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184648" cy="1943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· Receipt · Settle — reconstructible from events.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Invariants: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Conservation of value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 finality (idempotent)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Deterministic dispute windows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Receipt anti‑replay (EIP‑712 + nonces)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legibility (ENS ↔ key)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42062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864" cy="420624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181965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L1 Apotheosis (evolvable)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148840"/>
            <a:ext cx="5184648" cy="175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modules are hot‑swappable but may only restrict behavior—never violate L0.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lattice: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JOBS: stop new commitments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RECEIPTS: stop new submissions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PAYOUTS: stop fund egress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DISPUTES: freeze adjudication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 &amp; Governance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&amp; Safety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signature, bounded blast radius: fuse membranes + witnessed delegation + recovery.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ENS namespace grammar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rule + scoped meaning (low entropy, high legibility)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155680" cy="960120"/>
          </a:xfrm>
          <a:prstGeom prst="roundRect">
            <a:avLst/>
          </a:prstGeom>
          <a:solidFill>
            <a:srgbClr val="060A14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819656"/>
            <a:ext cx="1082649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&lt;entity&gt;.(&lt;env&gt;.)&lt;role&gt;.agi.eth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role ∈ {club, agent, node} · env ∈ ENV_SET (optional)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00" cy="30632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4864" cy="30632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96265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 lattice (alpha + production)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3291840"/>
            <a:ext cx="5230368" cy="156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Validators: *.alpha.club.agi.eth | *.club.agi.eth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Agents:     *.alpha.agent.agi.eth | *.agent.agi.eth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     *.alpha.node.agi.eth | *.node.agi.eth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Sovereigns: *.alpha.agi.eth | *.agi.eth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Guardrail: reserve {agent,node,club} under every env.agi.eth.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486400" cy="30632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54864" cy="306324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296265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 without ambiguity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3291840"/>
            <a:ext cx="52303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ENSIP‑10 wildcards for *.role namespaces.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EIP‑3668 (CCIP‑Read) for high‑churn metadata.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ENSIP‑15 normalization to harden lookups.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practice: keep trust anchors minimal; push churn into resolvers.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Safety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Passport (EIP‑7702 safety layer)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membrane · delegation transparency · auto‑healing recovery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121408" cy="68580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90195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Membrane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07208" y="1737360"/>
            <a:ext cx="2121408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35224" y="190195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DTL / DTLL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65776" y="1737360"/>
            <a:ext cx="2121408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93792" y="190195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50608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24344" y="1737360"/>
            <a:ext cx="2121408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52360" y="190195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09176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82912" y="1737360"/>
            <a:ext cx="2121408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10928" y="190195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Re‑onboard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651760"/>
            <a:ext cx="544068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54864" cy="32461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277977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Delegation Transparency Fabric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3108960"/>
            <a:ext cx="518464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DTL‑1: append‑only Merkle log of delegation events.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DTLL‑1: sovereign‑signed log list (wallet‑consumable).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rule: ≥2 independent logs + ≥t witnesses, or no delegation UX.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651760"/>
            <a:ext cx="544068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2651760"/>
            <a:ext cx="54864" cy="324612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28232" y="277977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Fuse membranes + recovery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28232" y="3108960"/>
            <a:ext cx="5184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 presets (role): CANNOT_UNWRAP · CANNOT_TRANSFER · CANNOT_SET_RESOLVER · 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Rescue Seed Vault: pre‑signed kill‑switch (clear delegation).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SRD: sterile quarantine delegation (no outbound execution).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invariant: No Verified Delegation → No Sponsored Gas → No Job Routing.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Safety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&amp; Observatory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Proof-of-Contribution turns telemetry into economic evidence; the index becomes auditable truth.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POO → POC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Proof-of-Observability → Proof-of-Contribution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→ commit → attest → challenge → settle → index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744980" cy="68580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704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078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5879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3918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292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4093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Attest (VSA)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132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506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307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346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7720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0521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Settle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560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95934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8735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651760"/>
            <a:ext cx="566928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651760"/>
            <a:ext cx="54864" cy="324612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2779776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Inclusion predicate (mechanical)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3108960"/>
            <a:ext cx="5413248" cy="156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job enters the macrostate only if: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(1) escrow settled,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(2) valid validator VSA signature(s),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(3) survives challenge window.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PoC → no inclusion (and eventually: no payout).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2651760"/>
            <a:ext cx="5257800" cy="3246120"/>
          </a:xfrm>
          <a:prstGeom prst="roundRect">
            <a:avLst/>
          </a:prstGeom>
          <a:solidFill>
            <a:srgbClr val="060A14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11112" y="2779776"/>
            <a:ext cx="4928616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VSA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address jobManager;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uint256 jobId;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address worker;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address validator;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bytes32 jobSpecHash;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bytes32 inputHash;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bytes32 outputHash;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bytes32 obsRoot;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bytes32 artifactsRoot;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uint256 alphaWU;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uint16  qualityScore;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uint64  deadline;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uint256 nonce;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&amp; Observatory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METROLOGY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α‑Work Units (α‑WU)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canonical, auditable unit of verified synthetic labor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155680" cy="777240"/>
          </a:xfrm>
          <a:prstGeom prst="roundRect">
            <a:avLst/>
          </a:prstGeom>
          <a:solidFill>
            <a:srgbClr val="060A14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10826496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α‑WU = VerifierGas^θ × Duration^(1−θ) × QualityScore   (θ≈0.5 v0)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86400" cy="31546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864" cy="31546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87121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Metrology rules (v0)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3200400"/>
            <a:ext cx="523036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only PoC‑attested settlements.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 acceptance/SLO → 0 credit.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stats by default (median, winsorize).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 using rolling windows (e.g., 13 weeks).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743200"/>
            <a:ext cx="5440680" cy="31546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54864" cy="315468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8232" y="287121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coupling (thermostat)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3200400"/>
            <a:ext cx="518464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Signals: validated α‑WU, disputes, SLO drift, burn/emission ratios.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Actuators: fee splits, burn fraction, tier multipliers, quorum/slashing.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stability = throughput with bounded risk.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&amp; Observatory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GSLI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Synthetic Labor Index (GSLI) v0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macro observable: output × price × reliability × breadth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94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" cy="219456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6537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Constituents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94560"/>
            <a:ext cx="523036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Q: Σ α‑WU (PoC settlements)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P: median AGIALPHA per α‑WU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R: uptime + SLA − disputes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B: entropy over agents/nodes/sectors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440680" cy="2194560"/>
          </a:xfrm>
          <a:prstGeom prst="roundRect">
            <a:avLst/>
          </a:prstGeom>
          <a:solidFill>
            <a:srgbClr val="060A14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865376"/>
            <a:ext cx="5111496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GSLIₜ = 100 · exp(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0.55·ΔlnQ + 0.25·ΔlnP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0.15·ΔlnR + 0.05·Δln(1+B)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155680" cy="1737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864" cy="173736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4288536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Index prints (on-chain anchor)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899648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truth with private compute. Store only: weekId, datasetRoot (Merkle), methodHash, indexValue, publisherSig, challengeWindow.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auditor can recompute from datasetRoot. Weights locked per quarter; changes bump methodHash.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&amp; Observatory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OBSERVATORY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Synthetic Labor Observatory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public, reproducible oracle for civilization-scale 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17470" cy="4251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42519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23614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Metrology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2361438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α‑WU as events.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Outputs: acceptance, quality, on‑time, yield → GSLI.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94710" y="1691640"/>
            <a:ext cx="2617470" cy="4251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4710" y="1691640"/>
            <a:ext cx="54864" cy="425196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59302" y="1819656"/>
            <a:ext cx="23614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Integrity Reserve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9302" y="2148840"/>
            <a:ext cx="236143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WU pays audit premium.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RNG selects deep audits.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 scoring rules pay auditors.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0780" y="1691640"/>
            <a:ext cx="2617470" cy="4251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40780" y="1691640"/>
            <a:ext cx="54864" cy="425196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5372" y="1819656"/>
            <a:ext cx="23614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Truth Modules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5372" y="2148840"/>
            <a:ext cx="236143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replay.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 harness.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Proof‑carrying work (zkVM/SNARK).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Truth &gt; consensus.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86850" y="1691640"/>
            <a:ext cx="2617470" cy="4251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86850" y="1691640"/>
            <a:ext cx="54864" cy="425196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51442" y="1819656"/>
            <a:ext cx="23614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Proof‑First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1442" y="2148840"/>
            <a:ext cx="2361438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Proofs settle cheaply; audits become safety net.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Prover Market commoditizes truth throughput.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&amp; Observatory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Markets &amp; Macro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work is measured and provable, it becomes financeable: curve → repo → corridor → credit.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Synthetic Labor Yield Curve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 structure of verified output (α‑WU credits)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0" cy="2194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21945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Instrument: LZ(T) labor zeros (v0)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1324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LZ(T) redeems for 1 verified α‑WU credit during delivery window at maturity 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today: Z(T) (AGIALPHA per credit).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Implied yield: rL(T) = (1/T)·ln(S0/Z(T)).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303520" cy="2194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4864" cy="219456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65392" y="1819656"/>
            <a:ext cx="5047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Launch tenors (Tier A first)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5392" y="2148840"/>
            <a:ext cx="504748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7D · 14D · 30D · 90D · 180D · 365D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 index S(t) uses PoC‑only settlements.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 becomes a priced spread via tiering.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155680" cy="1737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Chart 0"/>
          <p:cNvGraphicFramePr/>
          <p:nvPr/>
        </p:nvGraphicFramePr>
        <p:xfrm>
          <a:off x="777240" y="4343400"/>
          <a:ext cx="106984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822960" y="42062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curve (not market data)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&amp; Macro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Labor‑Backed Compute Notes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expansion by selling long‑dated verified output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744980" cy="68580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Bond + capacity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704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078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5879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Mint LZ(180/365)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3918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292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4093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132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506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307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Capex (GPUs)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346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7720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0521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 PoC α‑WU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560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95934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8735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Redeem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697480"/>
            <a:ext cx="548640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697480"/>
            <a:ext cx="54864" cy="32461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282549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controls (default dominated)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3154680"/>
            <a:ext cx="523036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Issuance limit: quantile throughput × β safety factor.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bond + penalty buy‑in on shortfall.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external demand counts toward delivery (anti‑wash).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Tiered eligibility based on reliability history.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2697480"/>
            <a:ext cx="544068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54864" cy="324612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28232" y="282549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Macro flywheel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28232" y="3154680"/>
            <a:ext cx="5184648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 structure → financing → more capacity → lower volatility → deeper curve → cheaper capital.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+ slashing + buy‑in enforce delivery.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&amp; Macro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LIQUIDITY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Labor Repo Market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long‑dated credits liquid collateral; create the short 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0" cy="24688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246888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venues (launch order)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1324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Pool facility: always‑on borrow/lend vs LZ_A_T collateral.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Term repo auctions: O/N, 7D, 30D benchmark fixings.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rates become the short end of the curve.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303520" cy="24688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4864" cy="24688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65392" y="1819656"/>
            <a:ext cx="5047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Conservative oracle + haircuts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5392" y="2148840"/>
            <a:ext cx="504748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P_oracle = min(median(auction, TWAP, curve), auction).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Haircuts widen with volatility, illiquidity, concentration.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Auto‑convert near maturity into spot credits to avoid expiry risk.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55680" cy="1508760"/>
          </a:xfrm>
          <a:prstGeom prst="roundRect">
            <a:avLst/>
          </a:prstGeom>
          <a:solidFill>
            <a:srgbClr val="060A14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4517136"/>
            <a:ext cx="10826496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Suggested starting parameters (Tier A)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Collateral   cf    lt    liqBonus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LZ_A_365     0.55  0.62  6%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LZ_A_180     0.62  0.70  5%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cf = collateral factor · lt = liquidation threshold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&amp; Macro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Standing Facility (Labor Open‑Market Ops)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Corridor policy: cap stress, absorb excess liquidity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24231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242316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standing windows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23036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Ceiling: lend AGIALPHA vs SR/SRCP at penalty rate.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Floor: take AGIALPHA via escrow‑collateralized reverse repo.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Optional: bounded OMO buys/sells to shape the long end.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4231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864" cy="242316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181965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Rule‑bound policy (best practice)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148840"/>
            <a:ext cx="518464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r* from observables: labor inflation πL, output growth gQ, stress σ.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Corridor widens as σ rises (avoid dominance).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caps; emergency actions only widen haircuts / pause new credit.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155680" cy="15544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FLOOR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CEILING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5440680"/>
            <a:ext cx="9235440" cy="0"/>
          </a:xfrm>
          <a:prstGeom prst="line">
            <a:avLst/>
          </a:prstGeom>
          <a:noFill/>
          <a:ln w="38100">
            <a:solidFill>
              <a:srgbClr val="9AA6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5330952"/>
            <a:ext cx="219456" cy="219456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5330952"/>
            <a:ext cx="219456" cy="219456"/>
          </a:xfrm>
          <a:prstGeom prst="ellipse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332720" y="5330952"/>
            <a:ext cx="219456" cy="219456"/>
          </a:xfrm>
          <a:prstGeom prst="ellips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46227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rates anchor everything: repo → paymaster APR → curve stability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&amp; Macro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Universal Job Paymaster → Receivables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signature → job funded → PoC‑gated payout → repay later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744980" cy="68580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Borrower auth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704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078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5879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Paymaster funds escrow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3918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292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4093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Worker executes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132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506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307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Validator attests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346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7720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0521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Worker paid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5604" y="198882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959340" y="1737360"/>
            <a:ext cx="174498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87356" y="1901952"/>
            <a:ext cx="14889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Borrower repays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697480"/>
            <a:ext cx="548640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697480"/>
            <a:ext cx="54864" cy="32461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282549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Underwriting (v0)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3154680"/>
            <a:ext cx="523036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overcollateralized (AGIALPHA and/or LZ_A_T).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 derived from conservative haircuts.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improve only from external‑demand jobs (anti‑wash).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PoC → no payout → no receivable.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2697480"/>
            <a:ext cx="544068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54864" cy="324612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28232" y="282549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Pricing model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28232" y="3154680"/>
            <a:ext cx="518464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rBorrow = rBase(τ) + sRisk(borrower) + sJob(class)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rate anchored by corridor (floor/ceiling).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Delinquency triggers freeze + liquidation.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Receivables can be pooled into SR/JR tranches.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&amp; Macro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 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Invoices → Money‑Market Instruments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 PoC‑final receivables · mint SR/JR · finance SR in repo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0" cy="25146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251460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Pooling constraints (money‑market posture)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1324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PoC‑final invoices (settled; attestation survived challenge).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WAM ≤ 30d, WAL ≤ 60d; borrower/cluster caps.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 account + junior retention (first loss).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tests (OC/IC/DQ) divert cash to SR when stressed.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303520" cy="25146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4864" cy="25146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65392" y="1819656"/>
            <a:ext cx="5047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Tranches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5392" y="2148840"/>
            <a:ext cx="504748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 (Senior): targets short‑duration “cash‑like” behavior.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JR (First loss): absorbs losses; originator retains 5–15%+.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SR into SRCP_7D / SRCP_30D for clean repo collateral.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155680" cy="14173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4864" cy="141732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654296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Policy collateral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4983480"/>
            <a:ext cx="10899648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SR/SRCP as the standing facility’s core collateral: lend at the ceiling, absorb at the floor.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coherent macro regime where short rates, credit, and labor prices reference the same verifiable state variables.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&amp; Macro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 Snapshot Market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procurement auctions → continuous clearing → ERC‑1155 coverage futures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Treat liveness as inventory, not bidding luck.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Predictable coverage over a rolling horizon; backups make liveness a guarantee.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155680" cy="12801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12801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modes of discrete procurement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10899648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(thin bids → spiky prices) · Liveness cliffs (no winner or winner fails) · Wasted compute (many prove; one paid) · Paymaster stress (retries amplify sponsored gas burn).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2686050" cy="68580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341071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 auction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98114" y="349758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71850" y="3246120"/>
            <a:ext cx="268605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99866" y="341071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Continuous offers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21324" y="349758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95060" y="3246120"/>
            <a:ext cx="268605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3076" y="341071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 futures (1155)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44534" y="349758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18270" y="3246120"/>
            <a:ext cx="268605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6286" y="341071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Capacity vaults (4626)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5486400" cy="1828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864" cy="18288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424281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target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4572000"/>
            <a:ext cx="5230368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Constant‑cost verification on‑chain; heavy work off‑chain.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Best‑K offers stored; deterministic selection.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buffer + rescue paths ensure “never stall”.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114800"/>
            <a:ext cx="5440680" cy="1828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4114800"/>
            <a:ext cx="54864" cy="182880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28232" y="4242816"/>
            <a:ext cx="5184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Gibbs framing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28232" y="4572000"/>
            <a:ext cx="5184648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T·S → 0: reduce friction × ambiguity via determinism + replayable receipts + incentives.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Epoch Snapshot Market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 snapshots: the admission macrostate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intents → batch proof → epoch root → cheap membership checks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86050" cy="68580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85623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JoinBook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98114" y="194310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71850" y="1691640"/>
            <a:ext cx="268605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9866" y="185623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Batch proof (zkVM)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21324" y="194310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95060" y="1691640"/>
            <a:ext cx="268605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23076" y="185623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EpochAdmission root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44534" y="1943100"/>
            <a:ext cx="164592" cy="182880"/>
          </a:xfrm>
          <a:prstGeom prst="rtTriangle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18270" y="1691640"/>
            <a:ext cx="2686050" cy="685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6286" y="1856232"/>
            <a:ext cx="243001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Merkle gate + VSA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06040"/>
            <a:ext cx="5669280" cy="3337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54864" cy="3337560"/>
          </a:xfrm>
          <a:prstGeom prst="rect">
            <a:avLst/>
          </a:prstGeom>
          <a:solidFill>
            <a:srgbClr val="FF5A3D"/>
          </a:solidFill>
          <a:ln w="12700">
            <a:solidFill>
              <a:srgbClr val="FF5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2734056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ERC‑1155 coverage slots (futures)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063240"/>
            <a:ext cx="541324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= tradable obligation to deliver (root + proof + metaDigest).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tokenId = keccak256(chainId, epochId, lane).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Lanes: PRIMARY (must deliver) + BACKUP (paid from slashed margin) + optional BACKUP2.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Anti‑theft: proof binds to slotOwner (public input).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606040"/>
            <a:ext cx="5303520" cy="3337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2606040"/>
            <a:ext cx="54864" cy="333756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734056"/>
            <a:ext cx="5047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Paymaster rules (safe sponsorship)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65392" y="3063240"/>
            <a:ext cx="504748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 only deterministic, non‑reverting paths.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Allowlist selector: TournamentHub.attest(...).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Staticcall verifyLeaf(epochId, leaf, proof) before sponsoring.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 calldata size; per‑user + global budgets; epoch rate limits.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Epoch Snapshot Market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Lineage &amp; Policy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 Genesis Charter · registry‑as‑genome · shadow‑fork policy loop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lineage asset: Sovereign Genesis Charter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ENS‑anchored · multisig‑controlled · manifest‑pinned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26060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26060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230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wins (Schelling point)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230368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Collapses ambiguity: everyone agrees where “truth” lives.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Upgrades remain legible; forks retain provenance.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issuance is deterministic; recovery is predefined.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is a ceremony (timelocked + audited).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606040"/>
          </a:xfrm>
          <a:prstGeom prst="roundRect">
            <a:avLst/>
          </a:prstGeom>
          <a:solidFill>
            <a:srgbClr val="060A14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819656"/>
            <a:ext cx="5111496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"epoch": "alpha",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"root_ens": "genesis.alpha.agi.eth",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"owner_multisig": "0x…",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"role_namespaces":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"validators": "*.alpha.club.agi.eth",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"agents": "*.alpha.agent.agi.eth",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"nodes": "*.alpha.node.agi.eth"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"policy_hash": "keccak256(…)"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155680" cy="14173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4864" cy="1417320"/>
          </a:xfrm>
          <a:prstGeom prst="rect">
            <a:avLst/>
          </a:prstGeom>
          <a:solidFill>
            <a:srgbClr val="B64CFF"/>
          </a:solidFill>
          <a:ln w="12700">
            <a:solidFill>
              <a:srgbClr val="B64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4654296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Shadow‑fork policy loop (owner‑gated execution)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4983480"/>
            <a:ext cx="10899648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opens → fork mainnet @ block → simulate tx bundle → score deltas → propose → owner‑signed execute only.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Guardrails: liveness ≥ floor; receipts required; non‑reversible actions only via timelock.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Lineage &amp; Policy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18000"/>
          </a:blip>
          <a:srcRect l="28447" r="28447"/>
          <a:stretch/>
        </p:blipFill>
        <p:spPr>
          <a:xfrm>
            <a:off x="9235440" y="0"/>
            <a:ext cx="2956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412480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73152" cy="30175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Verifiable Anchors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2852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Contracts · ENS namespaces · onboarding rails · standards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ANCHORS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Publicly verifiable anchors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domain + contract + decimals before signing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0" cy="29260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2926080"/>
          </a:xfrm>
          <a:prstGeom prst="rect">
            <a:avLst/>
          </a:prstGeom>
          <a:solidFill>
            <a:srgbClr val="3EF0B7"/>
          </a:solidFill>
          <a:ln w="12700">
            <a:solidFill>
              <a:srgbClr val="3EF0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19656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Ethereum contracts (Etherscan)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1324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AGIJobManager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0x0178B6baD606aaF908f72135B8eC32Fc1D5bA477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AGIALPHA (transitory, 6 decimals)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0x2e8fb54c3ec41f55f06c1f082c081a609eaa4ebe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AGIALPHAEqualMinterVault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0x27d6fE8668c6f652Ac26fFaE020D949f03aF80D8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AGIALPHA v2 (final, 18 decimals)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0xA61a3B3a130a9c20768EEBF97E21515A6046a1fA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links</a:t>
            </a:r>
            <a:endParaRPr lang="en-US" sz="14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6446520" y="205740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AGIJobManager (Etherscan)</a:t>
            </a:r>
            <a:endParaRPr lang="en-US" sz="1200" dirty="0"/>
          </a:p>
        </p:txBody>
      </p:sp>
      <p:sp>
        <p:nvSpPr>
          <p:cNvPr id="13" name="Text 11">
            <a:hlinkClick r:id="rId4"/>
          </p:cNvPr>
          <p:cNvSpPr/>
          <p:nvPr/>
        </p:nvSpPr>
        <p:spPr>
          <a:xfrm>
            <a:off x="6446520" y="2350008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AGIALPHA v2 (Etherscan)</a:t>
            </a:r>
            <a:endParaRPr lang="en-US" sz="1200" dirty="0"/>
          </a:p>
        </p:txBody>
      </p:sp>
      <p:sp>
        <p:nvSpPr>
          <p:cNvPr id="14" name="Text 12">
            <a:hlinkClick r:id="rId5"/>
          </p:cNvPr>
          <p:cNvSpPr/>
          <p:nvPr/>
        </p:nvSpPr>
        <p:spPr>
          <a:xfrm>
            <a:off x="6446520" y="2642616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EIP‑712</a:t>
            </a:r>
            <a:endParaRPr lang="en-US" sz="1200" dirty="0"/>
          </a:p>
        </p:txBody>
      </p:sp>
      <p:sp>
        <p:nvSpPr>
          <p:cNvPr id="15" name="Text 13">
            <a:hlinkClick r:id="rId6"/>
          </p:cNvPr>
          <p:cNvSpPr/>
          <p:nvPr/>
        </p:nvSpPr>
        <p:spPr>
          <a:xfrm>
            <a:off x="6446520" y="29352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EIP‑3668 (CCIP‑Read)</a:t>
            </a:r>
            <a:endParaRPr lang="en-US" sz="1200" dirty="0"/>
          </a:p>
        </p:txBody>
      </p:sp>
      <p:sp>
        <p:nvSpPr>
          <p:cNvPr id="16" name="Text 14">
            <a:hlinkClick r:id="rId7"/>
          </p:cNvPr>
          <p:cNvSpPr/>
          <p:nvPr/>
        </p:nvSpPr>
        <p:spPr>
          <a:xfrm>
            <a:off x="6446520" y="322783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ENSIP‑10 (wildcards)</a:t>
            </a:r>
            <a:endParaRPr lang="en-US" sz="1200" dirty="0"/>
          </a:p>
        </p:txBody>
      </p:sp>
      <p:sp>
        <p:nvSpPr>
          <p:cNvPr id="17" name="Text 15">
            <a:hlinkClick r:id="rId8"/>
          </p:cNvPr>
          <p:cNvSpPr/>
          <p:nvPr/>
        </p:nvSpPr>
        <p:spPr>
          <a:xfrm>
            <a:off x="6446520" y="35204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deBridge (SOL ↔ ETH rails)</a:t>
            </a:r>
            <a:endParaRPr lang="en-US" sz="1200" dirty="0"/>
          </a:p>
        </p:txBody>
      </p:sp>
      <p:sp>
        <p:nvSpPr>
          <p:cNvPr id="18" name="Text 16">
            <a:hlinkClick r:id="rId9"/>
          </p:cNvPr>
          <p:cNvSpPr/>
          <p:nvPr/>
        </p:nvSpPr>
        <p:spPr>
          <a:xfrm>
            <a:off x="6446520" y="3813048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Chainlink VRF (audit lottery RNG)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4343400"/>
            <a:ext cx="5257800" cy="11887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  <a:effectLst>
            <a:outerShdw blurRad="508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4343400"/>
            <a:ext cx="54864" cy="11887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11112" y="4471416"/>
            <a:ext cx="5001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ENS roles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11112" y="480060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Validators: *.alpha.club.agi.eth | *.club.agi.eth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Agents:     *.alpha.agent.agi.eth | *.agent.agi.eth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     *.alpha.node.agi.eth | *.node.agi.eth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Sovereigns: *.alpha.agi.eth | *.agi.eth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Anchors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enix_1600.jpg"/>
          <p:cNvPicPr>
            <a:picLocks noChangeAspect="1"/>
          </p:cNvPicPr>
          <p:nvPr/>
        </p:nvPicPr>
        <p:blipFill>
          <a:blip r:embed="rId3">
            <a:alphaModFix amt="85000"/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B"/>
          </a:solidFill>
          <a:ln w="12700">
            <a:solidFill>
              <a:srgbClr val="050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the Cathedral of Verifiable Work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788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Autonomy measured · Work proven · Value settled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3566160"/>
            <a:ext cx="10789920" cy="14630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3703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path: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CE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Prove work (PoC)  2) Print truth (GSLI)  3) Price time (LZ curve)  4) Finance scale (repo + corridor)  5) Guarantee liveness (epoch coverage)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agi.eth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Passport — EIP‑7702 Safety Layer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passport/sli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passport/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passport/slide-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passport/slide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passport/slide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passport/slide-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Passport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Passport — EIP‑7702 Safety Layer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passport/slide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passport/slide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passport/slide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passport/slide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passport/slide-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#11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passport/slide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Passport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Passport — EIP‑7702 Safety Layer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passport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passport/slide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passport/slide-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passport/slide-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#16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Passport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Synthetic Labor Observatory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observatory/sli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observatory/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observatory/slide-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observatory/slide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observatory/slide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observatory/slide-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Observatory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Synthetic Labor Observatory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observatory/slide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observatory/slide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observatory/slide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observatory/slide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observatory/slide-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#11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observatory/slide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Observatory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Synthetic Labor Observatory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observatory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observatory/slide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observatory/slide-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observatory/slide-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#16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Observatory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Synthetic Labor Index Prototype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gsli/slide0001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gsli/slide0001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gsli/slide0002-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#0002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gsli/slide0003-0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#0003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gsli/slide0003-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#0003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gsli/slide0004-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#0004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GSLI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Synthetic Labor Index Prototype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gsli/slide0004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gsli/slide0005-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#0005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gsli/slide0005-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gsli/slide0006-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#0006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gsli/slide0006-1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#0006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gsli/slide0007-1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#0007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GSLI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Synthetic Labor Index Prototype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gsli/slide0007-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gsli/slide0008-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gsli/slide0008-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#0008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GSLI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L0 Aegis / L1 Apotheosis Overview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aegis/sli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aegis/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aegis/slide-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aegis/slide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aegis/slide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aegis/slide-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L0/L1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L0 Aegis / L1 Apotheosis Overview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aegis/slide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aegis/slide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aegis/slide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aegis/slide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aegis/slide-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#11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aegis/slide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L0/L1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L0 Aegis / L1 Apotheosis Overview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aegis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aegis/slide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aegis/slide-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aegis/slide-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#16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aegis/slide-1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#17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aegis/slide-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#18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L0/L1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Choosing the First Lineage Asset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lineage/sli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lineage/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lineage/slide-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lineage/slide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lineage/slide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lineage/slide-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Lineage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Choosing the First Lineage Asset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lineage/slide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lineage/slide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lineage/slide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lineage/slide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lineage/slide-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#11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lineage/slide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Lineage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Choosing the First Lineage Asset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lineage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lineage/slide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lineage/slide-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Lineage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Jobs — Epoch Snapshot Market v1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epoch/sli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epoch/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epoch/slide-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epoch/slide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epoch/slide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epoch/slide-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Epoch Market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Jobs — Epoch Snapshot Market v1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epoch/slide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epoch/slide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epoch/slide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epoch/slide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epoch/slide-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#11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epoch/slide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Epoch Market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AGI Jobs — Epoch Snapshot Market v1 (source)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epoch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epoch/slide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Epoch Market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Unified Macro Stack (24-slide 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unified24/sli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unified24/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unified24/slide-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unified24/slide-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unified24/slide-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unified24/slide-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Unified-24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Unified Macro Stack (24-slide 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unified24/slide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unified24/slide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unified24/slide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unified24/slide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unified24/slide-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#11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unified24/slide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Unified-24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Unified Macro Stack (24-slide 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unified24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unified24/slide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unified24/slide-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#15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unified24/slide-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#16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unified24/slide-1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#17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unified24/slide-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#18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Unified-24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"/>
            <a:ext cx="1828800" cy="30175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37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E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Unified Macro Stack (24-slide source)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source slides (compressed).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_thumbs_jpg/unified24/slide-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15458"/>
            <a:ext cx="3496970" cy="1958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2498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_thumbs_jpg/unified24/slide-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62" y="1615458"/>
            <a:ext cx="3496970" cy="1958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5650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#20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2077" y="1508760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_thumbs_jpg/unified24/slide-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1" y="1615458"/>
            <a:ext cx="3496970" cy="19583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5229" y="36255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#21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2920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data/_thumbs_jpg/unified24/slide-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207782"/>
            <a:ext cx="3496970" cy="1958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#22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292498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mnt/data/_thumbs_jpg/unified24/slide-2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362" y="4207782"/>
            <a:ext cx="3496970" cy="1958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65650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#23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8082077" y="4101084"/>
            <a:ext cx="3606698" cy="240944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/mnt/data/_thumbs_jpg/unified24/slide-2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6941" y="4207782"/>
            <a:ext cx="3496970" cy="19583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5229" y="6217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#24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6483096"/>
            <a:ext cx="11094415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Unified-24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094415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4003</Words>
  <Application>Microsoft Macintosh PowerPoint</Application>
  <PresentationFormat>Widescreen</PresentationFormat>
  <Paragraphs>724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Cascadia Mono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agi.eth</dc:creator>
  <cp:lastModifiedBy>Vincent Boucher</cp:lastModifiedBy>
  <cp:revision>2</cp:revision>
  <dcterms:created xsi:type="dcterms:W3CDTF">2026-01-13T22:19:27Z</dcterms:created>
  <dcterms:modified xsi:type="dcterms:W3CDTF">2026-01-14T03:47:12Z</dcterms:modified>
</cp:coreProperties>
</file>