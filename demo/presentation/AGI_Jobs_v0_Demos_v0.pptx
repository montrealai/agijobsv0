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92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20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73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hero image (key).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demo constellation, owner control, CI v2 artefacts.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load simulation artefacts; owner scripts; CI wall feeds.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demo tracks &amp; companion workflows.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architecture overview; control plane artefacts.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owner:* scripts and generated reports/owner-control/**.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owner pause scripts; mission-control &amp; CI status feeds.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GitHub REST API documentation; repository CI workflow outputs.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CI status wall and branch protection scripts.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reports/** artefact taxonomy.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Sovereign Constellation demo and CI companion gating.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provenance/signers registry and authority matrix parity checks.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owner pipeline and CI parity enforcement.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scenario track directories and progression.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load sims, thermostat controls, proof loops.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Repository demo docs: pinned toolchain and operator checklist.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hero image (key).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1463040"/>
            <a:ext cx="6583680" cy="2834640"/>
          </a:xfrm>
          <a:prstGeom prst="roundRect">
            <a:avLst/>
          </a:prstGeom>
          <a:solidFill>
            <a:srgbClr val="10172C">
              <a:alpha val="9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635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33272" y="18745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33272" y="2697480"/>
            <a:ext cx="1828800" cy="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28803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Master Presentation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33272" y="3429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command lattice for verifiable agentic 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" y="603504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617220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 •  agialpha.com  •  main branch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seeing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 is engineered as a unified operational surface: agents + contracts + paymasters + orchestrators + simulations + demos — enforced by CI v2 so “main” is deployable truth.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3527450" cy="411480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2978810" cy="0"/>
          </a:xfrm>
          <a:prstGeom prst="line">
            <a:avLst/>
          </a:prstGeom>
          <a:noFill/>
          <a:ln w="38100">
            <a:solidFill>
              <a:srgbClr val="E85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28873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Intelligence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288737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lattice composing mission-critical subsystems into a single control surface.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2122" y="2057400"/>
            <a:ext cx="3527450" cy="411480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06442" y="2377440"/>
            <a:ext cx="2978810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2162" y="2560320"/>
            <a:ext cx="28873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Owner Control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52162" y="3063240"/>
            <a:ext cx="288737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command center scripts keep pausing, upgrades, and parameters under owner authority.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3893" y="2057400"/>
            <a:ext cx="3527450" cy="411480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08213" y="2377440"/>
            <a:ext cx="2978810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3933" y="2560320"/>
            <a:ext cx="28873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Operations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3933" y="3063240"/>
            <a:ext cx="288737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v2 produces auditable artefacts (status feeds, authority matrices, load sims) that gate merges.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are rehearsal engines — not marketing assets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demo pressure-tests the control plane under conditions that matter: adversarial timing, parameter drift, and execution constraints.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11130991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10582351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104909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demos do (in practice)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10490911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economic parameters via Monte Carlo load simulations and compare dissipation metrics across configurations.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pause/unpause, upgrades, and rotation paths with deterministic owner command scripts.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artefacts (status feeds, matrices, plans) that travel with every decision: review → approval → deployment.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“green wall” objective: no merge or release without reproducible verification.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Constellation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constellation map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rehearsals codified as reproducible scripts + UI bundles, enforced by companion workflows.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4754880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4206240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Constellation — build-level rehearsal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Celestial Archon — control doctrine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Hypernova Governance — time-pressure tuning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Kardashev II — omega-grade scenario envelopes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08192" y="2240280"/>
            <a:ext cx="5669280" cy="3886200"/>
          </a:xfrm>
          <a:prstGeom prst="ellipse">
            <a:avLst/>
          </a:prstGeom>
          <a:solidFill>
            <a:srgbClr val="10172C">
              <a:alpha val="8000"/>
            </a:srgbClr>
          </a:solidFill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93992" y="2788920"/>
            <a:ext cx="4297680" cy="2788920"/>
          </a:xfrm>
          <a:prstGeom prst="ellipse">
            <a:avLst/>
          </a:prstGeom>
          <a:solidFill>
            <a:srgbClr val="10172C">
              <a:alpha val="5000"/>
            </a:srgbClr>
          </a:solidFill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71432" y="3154680"/>
            <a:ext cx="1828800" cy="1828800"/>
          </a:xfrm>
          <a:prstGeom prst="ellipse">
            <a:avLst/>
          </a:prstGeom>
          <a:solidFill>
            <a:srgbClr val="10172C">
              <a:alpha val="90000"/>
            </a:srgbClr>
          </a:solidFill>
          <a:ln w="12700">
            <a:solidFill>
              <a:srgbClr val="F5B700"/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81160" y="3447288"/>
            <a:ext cx="160934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panorama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command. Core executes. Observability proves. CI enforces.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14884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19456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73070" y="2583180"/>
            <a:ext cx="32004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3110" y="214884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93110" y="219456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Control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35828" y="2583180"/>
            <a:ext cx="32004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55868" y="214884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5868" y="219456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98585" y="2583180"/>
            <a:ext cx="32004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18625" y="214884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E85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18625" y="219456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Gateway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324612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29184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73070" y="3680460"/>
            <a:ext cx="32004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93110" y="324612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93110" y="329184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35828" y="3680460"/>
            <a:ext cx="32004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55868" y="324612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55868" y="329184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98585" y="3680460"/>
            <a:ext cx="32004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18625" y="3246120"/>
            <a:ext cx="2542718" cy="868680"/>
          </a:xfrm>
          <a:prstGeom prst="roundRect">
            <a:avLst/>
          </a:prstGeom>
          <a:solidFill>
            <a:srgbClr val="10172C">
              <a:alpha val="88000"/>
            </a:srgbClr>
          </a:solidFill>
          <a:ln w="254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18625" y="3291840"/>
            <a:ext cx="25427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89984" y="3017520"/>
            <a:ext cx="0" cy="22860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0352" y="4343400"/>
            <a:ext cx="11130991" cy="187452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4672" y="4663440"/>
            <a:ext cx="10582351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0392" y="4846320"/>
            <a:ext cx="104909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control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392" y="5349240"/>
            <a:ext cx="1049091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and CI outcomes cycle back to owners and operators as decision-grade proofs — a control loop that keeps promotion legible, bounded, and reversible.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Command Center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 plane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that converts configuration reality into executable, auditable actions.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1991140"/>
            <a:ext cx="5120640" cy="2377440"/>
          </a:xfrm>
          <a:prstGeom prst="roundRect">
            <a:avLst/>
          </a:prstGeom>
          <a:solidFill>
            <a:srgbClr val="0A0F1E">
              <a:alpha val="95000"/>
            </a:srgbClr>
          </a:solidFill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18661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owner:surface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owner:parameters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owner:doctor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owner:mission-control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owner:update-all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6752" y="1991140"/>
            <a:ext cx="5644591" cy="237744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91072" y="2278050"/>
            <a:ext cx="5095951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36792" y="2460930"/>
            <a:ext cx="50045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pipeline does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6792" y="2963850"/>
            <a:ext cx="5004511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scan fingerprints config drift → parameter matrices export a complete tuning map → doctor triage scores pass/warn/fail → mission-control condenses a decision brief → update-all executes deterministically and archives artefacts.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6752" y="4518329"/>
            <a:ext cx="5644591" cy="1776183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91072" y="4838370"/>
            <a:ext cx="5095951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5021250"/>
            <a:ext cx="50045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5524170"/>
            <a:ext cx="500451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in air-gapped control rooms. Every step emits files suitable for approvals, compliance, and post-mortems — and CI can refuse merges if owner control coverage is incomplete.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" y="6395498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Levers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Resume as a first-class operation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lattice must stop, it stops deterministically — with previewed calldata and ownership checks.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11130991" cy="1234440"/>
          </a:xfrm>
          <a:prstGeom prst="roundRect">
            <a:avLst/>
          </a:prstGeom>
          <a:solidFill>
            <a:srgbClr val="0A0F1E">
              <a:alpha val="95000"/>
            </a:srgbClr>
          </a:solidFill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1058235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owner:system-pause -- --network &lt;net&gt;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pause/unpause calldata + tx preview 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3520440"/>
            <a:ext cx="5405476" cy="26974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384048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402336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4526280"/>
            <a:ext cx="47653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produces everything an operator needs: what will change, how it will be signed, and how it will be verified — before it touches the chain.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5868" y="3520440"/>
            <a:ext cx="5405476" cy="26974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0188" y="3840480"/>
            <a:ext cx="4856836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75908" y="402336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posture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5908" y="4526280"/>
            <a:ext cx="47653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is treated as an audited change: regenerate authority matrices, re-check CI status feeds, and re-run the rehearsal that triggered the pause before restoring full throughput.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API-level verification (no local tooling)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can corroborate the CI wall directly from the GitHub REST API with standard tools.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11130991" cy="3246120"/>
          </a:xfrm>
          <a:prstGeom prst="roundRect">
            <a:avLst/>
          </a:prstGeom>
          <a:solidFill>
            <a:srgbClr val="0A0F1E">
              <a:alpha val="95000"/>
            </a:srgbClr>
          </a:solidFill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10582351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latest workflow result on 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'https://api.github.com/repos/MontrealAI/AGIJobsv0/actions/workflows/ci.yml/runs?branch=main&amp;per_page=1'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-r '.workflow_runs[0].status, .workflow_runs[0].conclusion'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capture run 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RUN_ID=$(curl -s 'https://api.github.com/repos/MontrealAI/AGIJobsv0/actions/workflows/ci.yml/runs?branch=main&amp;per_page=1'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-r '.workflow_runs[0].id')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 job conclusions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"https://api.github.com/repos/MontrealAI/AGIJobsv0/actions/runs/${RUN_ID}/jobs?per_page=100"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-r '.jobs[] | "\(.name): \(.conclusion)"'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assert all success (exit code 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"https://api.github.com/repos/MontrealAI/AGIJobsv0/actions/runs/${RUN_ID}/jobs?per_page=100"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jq -e 'all(.jobs[].conclusion == "success")'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5440680"/>
            <a:ext cx="11130991" cy="777240"/>
          </a:xfrm>
          <a:prstGeom prst="roundRect">
            <a:avLst/>
          </a:prstGeom>
          <a:solidFill>
            <a:srgbClr val="10172C">
              <a:alpha val="86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5696712"/>
            <a:ext cx="10582351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5788152"/>
            <a:ext cx="1049091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— Independent parties can validate the same enforcement wall without cloning the repo: a portable proof primitive for institutions.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v2 Enforcement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wall is policy, not preference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telemetry produces machine-readable feeds; branch protection scripts keep required contexts aligned with the workflow lattice.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reports/ci/status.json → dashboards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reports/ci/status.md → briefings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CLI reproduces the same wall on demand and gates deployments.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npm run ci:status-wall -- --require-success --include-companion --format json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5868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0188" y="2377440"/>
            <a:ext cx="4856836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5908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autopilot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5908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ci:sync-contexts (check / regenerate)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ci:verify-contexts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ci:verify-companion-contexts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ci:verify-branch-protection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ci:enforce-branch-protection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 checks cannot go green unless all required contexts — including demo companions — pass.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fabric: decision-grade artefacts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important becomes a file: status, authority, plans, and stress-test traces.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3527450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2978810" cy="0"/>
          </a:xfrm>
          <a:prstGeom prst="line">
            <a:avLst/>
          </a:prstGeom>
          <a:noFill/>
          <a:ln w="38100">
            <a:solidFill>
              <a:srgbClr val="E85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28873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Owner-control proofs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288737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reports/owner-control/**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authority matrices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reports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command-center digest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 plans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2122" y="2057400"/>
            <a:ext cx="3527450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06442" y="2377440"/>
            <a:ext cx="2978810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52162" y="2560320"/>
            <a:ext cx="28873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status feeds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52162" y="3063240"/>
            <a:ext cx="288737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reports/ci/status.{json,md}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machine-readable wall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briefing-ready mirror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3893" y="2057400"/>
            <a:ext cx="3527450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08213" y="2377440"/>
            <a:ext cx="2978810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3933" y="2560320"/>
            <a:ext cx="28873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simulations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3933" y="3063240"/>
            <a:ext cx="288737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reports/load-sim/**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 Carlo CSV + 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economic dissipation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Constellation Demo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Build-level rehearsal of the full constellation: core modules ↔ services ↔ operator surfaces ↔ proofs.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4856836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validates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integration between contracts, gateway/orchestrators, and apps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artefact production (reports/**)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companion workflow gating (the demo must pass beside the main wall)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2057400"/>
            <a:ext cx="5405476" cy="22402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0188" y="237744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5908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to watch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5908" y="3063240"/>
            <a:ext cx="47653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feeds match the checks wall; demo outputs are reproducible locally and in CI.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5868" y="4526280"/>
            <a:ext cx="5405476" cy="169164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0188" y="4846320"/>
            <a:ext cx="4856836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75908" y="502920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5908" y="55321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that behaves like a deployment: if it fails, the lattice does not advance.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Celestial Archon Demonstration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rehearsal of control doctrine: provenance, authority, and enforcement loops.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4856836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checks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signers registry + provenance checks for release readiness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matrix regeneration and parity with enforced contexts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guardrails report what is allowed to ship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0188" y="237744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5908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feels in operation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5908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never “trust the vibe.” They trust signed artefacts, visible checks, and deterministic scripts that can be re-run by independent parties.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Hypernova Governance Demonstration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under time pressure: recalibrate parameters without surrendering control.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103120"/>
            <a:ext cx="2079894" cy="685800"/>
          </a:xfrm>
          <a:prstGeom prst="roundRect">
            <a:avLst/>
          </a:prstGeom>
          <a:solidFill>
            <a:srgbClr val="10172C">
              <a:alpha val="90000"/>
            </a:srgbClr>
          </a:solidFill>
          <a:ln w="254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157984"/>
            <a:ext cx="207989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10246" y="2446020"/>
            <a:ext cx="18288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93126" y="2103120"/>
            <a:ext cx="2079894" cy="685800"/>
          </a:xfrm>
          <a:prstGeom prst="roundRect">
            <a:avLst/>
          </a:prstGeom>
          <a:solidFill>
            <a:srgbClr val="10172C">
              <a:alpha val="90000"/>
            </a:srgbClr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93126" y="2157984"/>
            <a:ext cx="207989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73020" y="2446020"/>
            <a:ext cx="18288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55900" y="2103120"/>
            <a:ext cx="2079894" cy="685800"/>
          </a:xfrm>
          <a:prstGeom prst="roundRect">
            <a:avLst/>
          </a:prstGeom>
          <a:solidFill>
            <a:srgbClr val="10172C">
              <a:alpha val="90000"/>
            </a:srgbClr>
          </a:solidFill>
          <a:ln w="254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55900" y="2157984"/>
            <a:ext cx="207989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5795" y="2446020"/>
            <a:ext cx="18288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8675" y="2103120"/>
            <a:ext cx="2079894" cy="685800"/>
          </a:xfrm>
          <a:prstGeom prst="roundRect">
            <a:avLst/>
          </a:prstGeom>
          <a:solidFill>
            <a:srgbClr val="10172C">
              <a:alpha val="90000"/>
            </a:srgbClr>
          </a:solidFill>
          <a:ln w="254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8675" y="2157984"/>
            <a:ext cx="207989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mission-control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98569" y="2446020"/>
            <a:ext cx="182880" cy="0"/>
          </a:xfrm>
          <a:prstGeom prst="line">
            <a:avLst/>
          </a:prstGeom>
          <a:noFill/>
          <a:ln w="25400">
            <a:solidFill>
              <a:srgbClr val="2A35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81449" y="2103120"/>
            <a:ext cx="2079894" cy="685800"/>
          </a:xfrm>
          <a:prstGeom prst="roundRect">
            <a:avLst/>
          </a:prstGeom>
          <a:solidFill>
            <a:srgbClr val="10172C">
              <a:alpha val="90000"/>
            </a:srgbClr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81449" y="2157984"/>
            <a:ext cx="207989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update-all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" y="3154680"/>
            <a:ext cx="5405476" cy="306324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4672" y="347472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" y="365760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“governance” means here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" y="4160520"/>
            <a:ext cx="47653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loop: owner council scripts regenerate the authority matrix; CI enforces parity with branch protection; artefacts cycle back into operator consoles and decision briefings.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55868" y="3154680"/>
            <a:ext cx="5405476" cy="306324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30188" y="3474720"/>
            <a:ext cx="4856836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5908" y="365760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end state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5908" y="4160520"/>
            <a:ext cx="47653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legible, bounded, and reversible — without sacrificing pace.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Tracks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Kardashev II • Omega-grade demo tracks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suite of progressively harder rehearsal variants packaged as dedicated tracks in the repository.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1918254"/>
            <a:ext cx="11130991" cy="2926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238294"/>
            <a:ext cx="10582351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421174"/>
            <a:ext cx="104909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roster (repo directories)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2924094"/>
            <a:ext cx="10490911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kardashev_ii_omega_grade_alpha_agi_business_3_demo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…_k2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…_k2_omega_upgrade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…_omega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…_ultra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kardashev_ii_omega_grade_upgrade_for_alpha_agi_business_3_demo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…_v2 / …_v3 / …_v4 / …_v5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4935773"/>
            <a:ext cx="11130991" cy="1292745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5255814"/>
            <a:ext cx="10582351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5438694"/>
            <a:ext cx="104909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" y="5941614"/>
            <a:ext cx="10490911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track as a reproducible scenario envelope; compare artefacts and stability across envelopes before promoting changes.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6362368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Intuitions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as a measurable property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operationalises two cross-checkable ideas: simulation-based stress testing and thermostat-style control services.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5405476" cy="237744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4856836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physics lens (practical)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47653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load sims generate traces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include “economic dissipation” analysis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re-tune parameters based on evidence, not intuition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2057400"/>
            <a:ext cx="5405476" cy="237744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0188" y="237744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5908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lens (practical)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5908" y="3063240"/>
            <a:ext cx="476539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and permissions are encoded as matrices and enforced contexts: if incentives drift, the wall blocks promotion.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4617720"/>
            <a:ext cx="11130991" cy="160020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" y="4937760"/>
            <a:ext cx="10582351" cy="0"/>
          </a:xfrm>
          <a:prstGeom prst="line">
            <a:avLst/>
          </a:prstGeom>
          <a:noFill/>
          <a:ln w="38100">
            <a:solidFill>
              <a:srgbClr val="B0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5120640"/>
            <a:ext cx="104909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Autopoiesis (operational)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" y="5623560"/>
            <a:ext cx="1049091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loops regenerate their own proofs: configs → matrices → actions → artefacts → CI gates → owners.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28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 v0 (v2)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20863" y="228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Readiness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30352" y="530352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113099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for operators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pinned toolchain so CI and local runs converge.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377440"/>
            <a:ext cx="4856836" cy="0"/>
          </a:xfrm>
          <a:prstGeom prst="line">
            <a:avLst/>
          </a:prstGeom>
          <a:noFill/>
          <a:ln w="381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20.18.1 (pinned via .nvmrc / .node-version)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runtime: npm run doctor:node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avoid “works on my machine.”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2057400"/>
            <a:ext cx="5405476" cy="4069080"/>
          </a:xfrm>
          <a:prstGeom prst="roundRect">
            <a:avLst/>
          </a:prstGeom>
          <a:solidFill>
            <a:srgbClr val="10172C">
              <a:alpha val="82000"/>
            </a:srgbClr>
          </a:solidFill>
          <a:ln w="12700">
            <a:solidFill>
              <a:srgbClr val="2A3554"/>
            </a:solidFill>
            <a:prstDash val="solid"/>
          </a:ln>
          <a:effectLst>
            <a:outerShdw blurRad="381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0188" y="2377440"/>
            <a:ext cx="4856836" cy="0"/>
          </a:xfrm>
          <a:prstGeom prst="line">
            <a:avLst/>
          </a:prstGeom>
          <a:noFill/>
          <a:ln w="38100">
            <a:solidFill>
              <a:srgbClr val="43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5908" y="2560320"/>
            <a:ext cx="4765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checklist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5908" y="3063240"/>
            <a:ext cx="476539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owner:surface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owner:parameters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owner:doctor warnings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mission-control brief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safe bundle (plan)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update-all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via CI status feeds + API checks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target demo suite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6309360"/>
            <a:ext cx="11130991" cy="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Montreal.AI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6463" y="6400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agialpha.com • main branch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31720"/>
            <a:ext cx="1113099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deployed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30352" y="3246120"/>
            <a:ext cx="1828800" cy="0"/>
          </a:xfrm>
          <a:prstGeom prst="line">
            <a:avLst/>
          </a:prstGeom>
          <a:noFill/>
          <a:ln w="635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34290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coordination at scale — with control, proofs, and enforcement baked into every path.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" y="6172200"/>
            <a:ext cx="11130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github.com/MontrealAI/AGIJobsv0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2260</Words>
  <Application>Microsoft Macintosh PowerPoint</Application>
  <PresentationFormat>Widescreen</PresentationFormat>
  <Paragraphs>284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Montreal.AI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 Jobs v0 (v2) — Demos Master Presentation</dc:title>
  <dc:subject>AGI Jobs v0 (v2) — Demos Master Presentation</dc:subject>
  <dc:creator>Montreal.AI</dc:creator>
  <cp:lastModifiedBy>Vincent Boucher</cp:lastModifiedBy>
  <cp:revision>2</cp:revision>
  <dcterms:created xsi:type="dcterms:W3CDTF">2026-01-07T22:04:38Z</dcterms:created>
  <dcterms:modified xsi:type="dcterms:W3CDTF">2026-01-07T22:21:10Z</dcterms:modified>
</cp:coreProperties>
</file>