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Positioning: institutional, inevitable, and verifiable.
Emphasize: this is a disciplined coordination substrate — not hype.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Keep pace fast. This is the executive map.
If challenged: insist on the evidence surface — every claim is backed by artefacts.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Frame as inevitability: coordination is the bottleneck.
We do not “add intelligence”; we add an accountable spine.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This slide defines the object.
Avoid anthropomorphism; emphasize: governance, determinism, evidence.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This is the spine.
Owner authority + deterministic replay make the system governable.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If asked “what’s novel?”: the coupling of orchestration to an assurance lattice.
The spine is accountable end‑to‑end.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The key is not the JSON — it’s that governance attaches to it.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The lattice converts coordination into an auditable, incentive‑compatible system.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This is how scale stays safe.
Incentives align because evidence is non‑negotiable.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We treat autonomy as a function of evidence and control.
More autonomy requires tighter invariants and stronger attestation.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This slide is about posture.
The organization becomes continuously ready because verification is continuous.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We demo “trust you can export.”
The deliverable is the evidence bundle.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Translate philosophy into primitives.
Honesty emerges from verifiability + incentives.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Use “autopoiesis” as a lens, not a claim.
Stress: governed self‑maintenance (checkpoints, CI, evidence).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Slow down here. Let the audience “feel” the simplicity.
The evidence bundle is the proof.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The emotional payload: calm power.
We do not promise miracles — we promise governable execution.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Tie applications back to the primitives: evidence, determinism, gating.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Avoid sensationalism.
State calmly: trusted coordination is where value accumulates.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Close with discipline: proof‑based promotion.
Offer a pilot path with clear governance.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cover_1920x10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502920"/>
            <a:ext cx="1087495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MASTER PRESENTATION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8368" y="96012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5400" b="1" dirty="0">
                <a:solidFill>
                  <a:srgbClr val="F6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Planetary Orchestrator</a:t>
            </a:r>
            <a:endParaRPr lang="en-US" sz="5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5400" b="1" dirty="0">
                <a:solidFill>
                  <a:srgbClr val="F6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Fabric v0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58368" y="2514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governed orchestration substrate for planetary‑scale missions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58368" y="3063240"/>
            <a:ext cx="2468880" cy="384048"/>
          </a:xfrm>
          <a:prstGeom prst="roundRect">
            <a:avLst/>
          </a:prstGeom>
          <a:solidFill>
            <a:srgbClr val="1008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11810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Institutional control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10128" y="3063240"/>
            <a:ext cx="2560320" cy="384048"/>
          </a:xfrm>
          <a:prstGeom prst="roundRect">
            <a:avLst/>
          </a:prstGeom>
          <a:solidFill>
            <a:srgbClr val="1008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10128" y="311810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execution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53328" y="3063240"/>
            <a:ext cx="2377440" cy="384048"/>
          </a:xfrm>
          <a:prstGeom prst="roundRect">
            <a:avLst/>
          </a:prstGeom>
          <a:solidFill>
            <a:srgbClr val="1008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311810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Planetary readiness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8368" y="3794760"/>
            <a:ext cx="10874959" cy="841248"/>
          </a:xfrm>
          <a:prstGeom prst="roundRect">
            <a:avLst/>
          </a:prstGeom>
          <a:solidFill>
            <a:srgbClr val="0A0611"/>
          </a:solidFill>
          <a:ln w="12700">
            <a:solidFill>
              <a:srgbClr val="E63B8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8096" y="3959352"/>
            <a:ext cx="54864" cy="5120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6112" y="3941064"/>
            <a:ext cx="1052748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accountable spine that converts intent into action 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continuous evidence, auditable replay, and fail‑closed promotion.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8368" y="6601968"/>
            <a:ext cx="1087495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Planetary Orchestrator Fabric v0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smic_purplered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57200"/>
            <a:ext cx="108749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SYNTHESIS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658368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complexity → coherence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58368" y="1335024"/>
            <a:ext cx="178308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00200"/>
            <a:ext cx="10874959" cy="128016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1764792"/>
            <a:ext cx="104360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Thesis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77824" y="2075688"/>
            <a:ext cx="10436047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2167128"/>
            <a:ext cx="10436047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Planetary Orchestrator Fabric v0 converts high‑level intent into governed execution — continuously backed by evidence.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58368" y="3063240"/>
            <a:ext cx="3368954" cy="306324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3227832"/>
            <a:ext cx="29300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Intent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77824" y="3538728"/>
            <a:ext cx="2930042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" y="3630168"/>
            <a:ext cx="2930042" cy="2386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Mission plans as declarative control objects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Invariants encoded as policy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Versioned + reviewable (diffable)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411370" y="3063240"/>
            <a:ext cx="3368954" cy="306324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30826" y="3227832"/>
            <a:ext cx="29300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Orchestration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630826" y="3538728"/>
            <a:ext cx="2930042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0826" y="3630168"/>
            <a:ext cx="2930042" cy="2386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Sharded execution across heterogeneous domains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Checkpointing + deterministic replay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Bounded autonomy via guardrails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64373" y="3063240"/>
            <a:ext cx="3368954" cy="306324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83829" y="3227832"/>
            <a:ext cx="29300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Assurance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383829" y="3538728"/>
            <a:ext cx="2930042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83829" y="3630168"/>
            <a:ext cx="2930042" cy="2386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CI gates, signed artefacts, provenance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Telemetry mesh + evidence bundles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Fail‑closed release posture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58368" y="6601968"/>
            <a:ext cx="1087495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Planetary Orchestrator Fabric v0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smic_purplered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57200"/>
            <a:ext cx="108749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658368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Coordination collapses under scale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58368" y="1335024"/>
            <a:ext cx="178308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91640"/>
            <a:ext cx="5245456" cy="416052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1856232"/>
            <a:ext cx="480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Symptoms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77824" y="2167128"/>
            <a:ext cx="4806544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2258568"/>
            <a:ext cx="4806544" cy="3483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Fragmented authority + unclear accountability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Opaque automation (no provenance, no replay)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Non‑reproducible runs; brittle recovery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Incentive misalignment (local wins, global loss)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Security drift across environments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87872" y="1691640"/>
            <a:ext cx="5245456" cy="416052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07328" y="1856232"/>
            <a:ext cx="480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Consequences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07328" y="2167128"/>
            <a:ext cx="4806544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07328" y="2258568"/>
            <a:ext cx="4806544" cy="3483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Slow response to shocks and emergent failures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Audit gaps and trust breakdown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Wasteful resource allocation (energy, labor, compute)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Cascade risk under correlated stress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Inability to coordinate beyond the firm boundary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58368" y="5760720"/>
            <a:ext cx="10874959" cy="566928"/>
          </a:xfrm>
          <a:prstGeom prst="roundRect">
            <a:avLst/>
          </a:prstGeom>
          <a:solidFill>
            <a:srgbClr val="0A0611"/>
          </a:solidFill>
          <a:ln w="12700">
            <a:solidFill>
              <a:srgbClr val="E63B8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8096" y="5925312"/>
            <a:ext cx="54864" cy="23774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6112" y="5907024"/>
            <a:ext cx="10527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Planetary scale requires a single accountable spine — and continuous evidence that travels with every action.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8368" y="6601968"/>
            <a:ext cx="1087495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Planetary Orchestrator Fabric v0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smic_purplered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57200"/>
            <a:ext cx="108749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658368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Fabric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58368" y="1335024"/>
            <a:ext cx="178308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91640"/>
            <a:ext cx="10874959" cy="379476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1856232"/>
            <a:ext cx="104360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planetary coordination substrate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77824" y="2167128"/>
            <a:ext cx="10436047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2258568"/>
            <a:ext cx="10436047" cy="3118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control plane: plan → execute → observe → attest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Operator‑friendly surface with owner supremacy (institutional governance)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Orchestration core that scales across shards and environments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Assurance lattice that turns operations into portable truth (artefacts + provenance)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the path becomes simple because invariants are strict, evidence is continuous, and promotion is gated.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8368" y="6601968"/>
            <a:ext cx="1087495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Planetary Orchestrator Fabric v0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smic_purplered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57200"/>
            <a:ext cx="108749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MODEL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658368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Owner supremacy + deterministic execution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58368" y="1335024"/>
            <a:ext cx="178308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91640"/>
            <a:ext cx="5245456" cy="160020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1856232"/>
            <a:ext cx="480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surface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77824" y="2167128"/>
            <a:ext cx="4806544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2258568"/>
            <a:ext cx="4806544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Designated Owner defines invariants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Commands are structured + reviewable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Every action emits evidence (logs, artefacts)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87872" y="1691640"/>
            <a:ext cx="5245456" cy="160020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07328" y="1856232"/>
            <a:ext cx="480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posture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07328" y="2167128"/>
            <a:ext cx="4806544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07328" y="2258568"/>
            <a:ext cx="4806544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Fail‑closed by default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Bounded autonomy via guardrails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Continuous verification via CI lattice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58368" y="3520440"/>
            <a:ext cx="10874959" cy="233172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" y="3685032"/>
            <a:ext cx="104360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lattice (closed loop)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77824" y="3995928"/>
            <a:ext cx="10436047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86968" y="4389120"/>
            <a:ext cx="1827520" cy="566928"/>
          </a:xfrm>
          <a:prstGeom prst="roundRect">
            <a:avLst/>
          </a:prstGeom>
          <a:solidFill>
            <a:srgbClr val="1008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6968" y="4462272"/>
            <a:ext cx="182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(invariants)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714488" y="4672584"/>
            <a:ext cx="320040" cy="0"/>
          </a:xfrm>
          <a:prstGeom prst="line">
            <a:avLst/>
          </a:prstGeom>
          <a:noFill/>
          <a:ln w="25400">
            <a:solidFill>
              <a:srgbClr val="FF2D55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3034528" y="4389120"/>
            <a:ext cx="1827520" cy="566928"/>
          </a:xfrm>
          <a:prstGeom prst="roundRect">
            <a:avLst/>
          </a:prstGeom>
          <a:solidFill>
            <a:srgbClr val="1008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034528" y="4462272"/>
            <a:ext cx="182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PLAN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(declarative)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862048" y="4672584"/>
            <a:ext cx="320040" cy="0"/>
          </a:xfrm>
          <a:prstGeom prst="line">
            <a:avLst/>
          </a:prstGeom>
          <a:noFill/>
          <a:ln w="25400">
            <a:solidFill>
              <a:srgbClr val="FF2D55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5182088" y="4389120"/>
            <a:ext cx="1827520" cy="566928"/>
          </a:xfrm>
          <a:prstGeom prst="roundRect">
            <a:avLst/>
          </a:prstGeom>
          <a:solidFill>
            <a:srgbClr val="1008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82088" y="4462272"/>
            <a:ext cx="182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(sharded)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009608" y="4672584"/>
            <a:ext cx="320040" cy="0"/>
          </a:xfrm>
          <a:prstGeom prst="line">
            <a:avLst/>
          </a:prstGeom>
          <a:noFill/>
          <a:ln w="25400">
            <a:solidFill>
              <a:srgbClr val="FF2D55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329648" y="4389120"/>
            <a:ext cx="1827520" cy="566928"/>
          </a:xfrm>
          <a:prstGeom prst="roundRect">
            <a:avLst/>
          </a:prstGeom>
          <a:solidFill>
            <a:srgbClr val="1008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29648" y="4462272"/>
            <a:ext cx="182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(telemetry)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9157167" y="4672584"/>
            <a:ext cx="320040" cy="0"/>
          </a:xfrm>
          <a:prstGeom prst="line">
            <a:avLst/>
          </a:prstGeom>
          <a:noFill/>
          <a:ln w="25400">
            <a:solidFill>
              <a:srgbClr val="FF2D55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9477207" y="4389120"/>
            <a:ext cx="1827520" cy="566928"/>
          </a:xfrm>
          <a:prstGeom prst="roundRect">
            <a:avLst/>
          </a:prstGeom>
          <a:solidFill>
            <a:srgbClr val="1008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477207" y="4462272"/>
            <a:ext cx="182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ASSURANCE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(CI + provenance)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58368" y="6601968"/>
            <a:ext cx="1087495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Planetary Orchestrator Fabric v0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smic_purplered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57200"/>
            <a:ext cx="108749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658368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layers; one accountable spine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58368" y="1335024"/>
            <a:ext cx="178308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737360"/>
            <a:ext cx="10874959" cy="141732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1901952"/>
            <a:ext cx="104360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Surface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77824" y="2212848"/>
            <a:ext cx="10436047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2304288"/>
            <a:ext cx="10436047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Mission authoring + approvals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Owner commands + policy‑as‑code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Human‑readable evidence bundles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" y="3502152"/>
            <a:ext cx="10874959" cy="141732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3666744"/>
            <a:ext cx="104360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Orchestration Core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77824" y="3977640"/>
            <a:ext cx="10436047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" y="4069080"/>
            <a:ext cx="10436047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Planner / scheduler / executor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Checkpointing + deterministic replay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Shards for heterogeneous environments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58368" y="5266944"/>
            <a:ext cx="10874959" cy="141732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" y="5431536"/>
            <a:ext cx="104360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Assurance Lattice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77824" y="5742432"/>
            <a:ext cx="10436047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7824" y="5833872"/>
            <a:ext cx="10436047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CI gates + signed artefacts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Provenance + branch protection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Fail‑closed release posture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58368" y="6601968"/>
            <a:ext cx="1087495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Planetary Orchestrator Fabric v0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smic_purplered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57200"/>
            <a:ext cx="108749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658368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Declarative control objects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58368" y="1335024"/>
            <a:ext cx="178308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91640"/>
            <a:ext cx="5245456" cy="416052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1856232"/>
            <a:ext cx="480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Plan (JSON)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77824" y="2167128"/>
            <a:ext cx="4806544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2258568"/>
            <a:ext cx="4806544" cy="3483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Declares intent, workloads, checkpoints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Pins invariants and guardrails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Defines evidence bundle outputs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plan is the operation — reviewable like code.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87872" y="1691640"/>
            <a:ext cx="5245456" cy="4160520"/>
          </a:xfrm>
          <a:prstGeom prst="roundRect">
            <a:avLst/>
          </a:prstGeom>
          <a:solidFill>
            <a:srgbClr val="1008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07328" y="1856232"/>
            <a:ext cx="480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structure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07328" y="2167128"/>
            <a:ext cx="4806544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07328" y="2258568"/>
            <a:ext cx="4806544" cy="3483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"mission": "k2-drill",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"workloads": 10000,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"checkpoints": ["t+15m"],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"faults": ["simulate_outage"],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"export": "evidence.zip"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}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8368" y="5760720"/>
            <a:ext cx="10874959" cy="566928"/>
          </a:xfrm>
          <a:prstGeom prst="roundRect">
            <a:avLst/>
          </a:prstGeom>
          <a:solidFill>
            <a:srgbClr val="0A0611"/>
          </a:solidFill>
          <a:ln w="12700">
            <a:solidFill>
              <a:srgbClr val="E63B8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8096" y="5925312"/>
            <a:ext cx="54864" cy="23774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6112" y="5907024"/>
            <a:ext cx="10527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Declarative objects make operations portable: approve once, replay anywhere, verify continuously.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8368" y="6601968"/>
            <a:ext cx="1087495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Planetary Orchestrator Fabric v0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smic_purplered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57200"/>
            <a:ext cx="108749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658368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Command Lattice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58368" y="1335024"/>
            <a:ext cx="178308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91640"/>
            <a:ext cx="10874959" cy="443484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1856232"/>
            <a:ext cx="104360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Closed‑loop accountability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77824" y="2167128"/>
            <a:ext cx="10436047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24128" y="2560320"/>
            <a:ext cx="2377440" cy="658368"/>
          </a:xfrm>
          <a:prstGeom prst="roundRect">
            <a:avLst/>
          </a:prstGeom>
          <a:solidFill>
            <a:srgbClr val="1008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264261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(invariants)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904488" y="2560320"/>
            <a:ext cx="2377440" cy="658368"/>
          </a:xfrm>
          <a:prstGeom prst="roundRect">
            <a:avLst/>
          </a:prstGeom>
          <a:solidFill>
            <a:srgbClr val="1008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04488" y="264261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(guardrails)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84848" y="2560320"/>
            <a:ext cx="2377440" cy="658368"/>
          </a:xfrm>
          <a:prstGeom prst="roundRect">
            <a:avLst/>
          </a:prstGeom>
          <a:solidFill>
            <a:srgbClr val="1008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84848" y="264261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PLAN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(versioned)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665208" y="2560320"/>
            <a:ext cx="2377440" cy="658368"/>
          </a:xfrm>
          <a:prstGeom prst="roundRect">
            <a:avLst/>
          </a:prstGeom>
          <a:solidFill>
            <a:srgbClr val="1008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65208" y="264261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(sharded)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24128" y="3813048"/>
            <a:ext cx="2377440" cy="658368"/>
          </a:xfrm>
          <a:prstGeom prst="roundRect">
            <a:avLst/>
          </a:prstGeom>
          <a:solidFill>
            <a:srgbClr val="1008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24128" y="389534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(mesh)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904488" y="3813048"/>
            <a:ext cx="2377440" cy="658368"/>
          </a:xfrm>
          <a:prstGeom prst="roundRect">
            <a:avLst/>
          </a:prstGeom>
          <a:solidFill>
            <a:srgbClr val="1008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04488" y="389534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(bundle)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784848" y="3813048"/>
            <a:ext cx="2377440" cy="658368"/>
          </a:xfrm>
          <a:prstGeom prst="roundRect">
            <a:avLst/>
          </a:prstGeom>
          <a:solidFill>
            <a:srgbClr val="1008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84848" y="389534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GATES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(checks)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665208" y="3813048"/>
            <a:ext cx="2377440" cy="658368"/>
          </a:xfrm>
          <a:prstGeom prst="roundRect">
            <a:avLst/>
          </a:prstGeom>
          <a:solidFill>
            <a:srgbClr val="1008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665208" y="389534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PROVENANCE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(attest)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2212848" y="3218688"/>
            <a:ext cx="0" cy="594360"/>
          </a:xfrm>
          <a:prstGeom prst="line">
            <a:avLst/>
          </a:prstGeom>
          <a:noFill/>
          <a:ln w="25400">
            <a:solidFill>
              <a:srgbClr val="FF2D55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093208" y="3218688"/>
            <a:ext cx="0" cy="594360"/>
          </a:xfrm>
          <a:prstGeom prst="line">
            <a:avLst/>
          </a:prstGeom>
          <a:noFill/>
          <a:ln w="25400">
            <a:solidFill>
              <a:srgbClr val="FF2D55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7973568" y="3218688"/>
            <a:ext cx="0" cy="594360"/>
          </a:xfrm>
          <a:prstGeom prst="line">
            <a:avLst/>
          </a:prstGeom>
          <a:noFill/>
          <a:ln w="25400">
            <a:solidFill>
              <a:srgbClr val="FF2D55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10853928" y="3218688"/>
            <a:ext cx="0" cy="594360"/>
          </a:xfrm>
          <a:prstGeom prst="line">
            <a:avLst/>
          </a:prstGeom>
          <a:noFill/>
          <a:ln w="25400">
            <a:solidFill>
              <a:srgbClr val="FF2D55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658368" y="5989320"/>
            <a:ext cx="10874959" cy="411480"/>
          </a:xfrm>
          <a:prstGeom prst="roundRect">
            <a:avLst/>
          </a:prstGeom>
          <a:solidFill>
            <a:srgbClr val="0A0611"/>
          </a:solidFill>
          <a:ln w="12700">
            <a:solidFill>
              <a:srgbClr val="E63B8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68096" y="6153912"/>
            <a:ext cx="54864" cy="82296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96112" y="6135624"/>
            <a:ext cx="10527487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edge emits evidence. Every promotion is gated. Every outcome is replayable.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58368" y="6601968"/>
            <a:ext cx="1087495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Planetary Orchestrator Fabric v0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smic_purplered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57200"/>
            <a:ext cx="108749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ASSURANCE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658368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Provenance as a promotion gate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58368" y="1335024"/>
            <a:ext cx="178308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91640"/>
            <a:ext cx="5245456" cy="416052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1856232"/>
            <a:ext cx="480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77824" y="2167128"/>
            <a:ext cx="4806544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2258568"/>
            <a:ext cx="4806544" cy="3483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trust without traceability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deployment without evidence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evidence without provenance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Promotion is not a meeting. It is a cryptographically backed state transition.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87872" y="1691640"/>
            <a:ext cx="5245456" cy="416052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07328" y="1856232"/>
            <a:ext cx="480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lattice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07328" y="2167128"/>
            <a:ext cx="4806544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07328" y="2258568"/>
            <a:ext cx="4806544" cy="3483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Signed build artefacts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Pinned dependencies + SBOM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Branch protection + approvals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CI checks (policy, tests, scans)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Attestation + audit bundle export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58368" y="5760720"/>
            <a:ext cx="10874959" cy="566928"/>
          </a:xfrm>
          <a:prstGeom prst="roundRect">
            <a:avLst/>
          </a:prstGeom>
          <a:solidFill>
            <a:srgbClr val="0A0611"/>
          </a:solidFill>
          <a:ln w="12700">
            <a:solidFill>
              <a:srgbClr val="E63B8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8096" y="5925312"/>
            <a:ext cx="54864" cy="23774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6112" y="5907024"/>
            <a:ext cx="10527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any link in the chain is missing, promotion fails closed — safely, automatically, and with a clear diagnosis.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8368" y="6601968"/>
            <a:ext cx="1087495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Planetary Orchestrator Fabric v0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smic_purplered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57200"/>
            <a:ext cx="108749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658368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levers that scale with autonomy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58368" y="1335024"/>
            <a:ext cx="178308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91640"/>
            <a:ext cx="3368954" cy="141732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1856232"/>
            <a:ext cx="29300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77824" y="2167128"/>
            <a:ext cx="2930042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2258568"/>
            <a:ext cx="2930042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constraints the system cannot violate.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411370" y="1691640"/>
            <a:ext cx="3368954" cy="141732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0826" y="1856232"/>
            <a:ext cx="29300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630826" y="2167128"/>
            <a:ext cx="2930042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30826" y="2258568"/>
            <a:ext cx="2930042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sign‑off for sensitive transitions.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164373" y="1691640"/>
            <a:ext cx="3368954" cy="141732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83829" y="1856232"/>
            <a:ext cx="29300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limits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383829" y="2167128"/>
            <a:ext cx="2930042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83829" y="2258568"/>
            <a:ext cx="2930042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action under uncertainty or stress.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58368" y="3520440"/>
            <a:ext cx="3368954" cy="141732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" y="3685032"/>
            <a:ext cx="29300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Kill switch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77824" y="3995928"/>
            <a:ext cx="2930042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7824" y="4087368"/>
            <a:ext cx="2930042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halt + checkpoint for safe resume.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411370" y="3520440"/>
            <a:ext cx="3368954" cy="141732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30826" y="3685032"/>
            <a:ext cx="29300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Rollback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630826" y="3995928"/>
            <a:ext cx="2930042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30826" y="4087368"/>
            <a:ext cx="2930042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replay + state recovery.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8164373" y="3520440"/>
            <a:ext cx="3368954" cy="141732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83829" y="3685032"/>
            <a:ext cx="29300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Scoping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383829" y="3995928"/>
            <a:ext cx="2930042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383829" y="4087368"/>
            <a:ext cx="2930042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 privilege: domains, budgets, permissions.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58368" y="6601968"/>
            <a:ext cx="1087495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Planetary Orchestrator Fabric v0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smic_purplered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57200"/>
            <a:ext cx="108749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&amp; OPERATIONS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658368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Continuous verification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58368" y="1335024"/>
            <a:ext cx="178308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91640"/>
            <a:ext cx="10874959" cy="452628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1856232"/>
            <a:ext cx="104360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v2 status wall (conceptual)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77824" y="2167128"/>
            <a:ext cx="10436047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2258568"/>
            <a:ext cx="10436047" cy="3849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Policy checks: invariants, permissions, scopes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Security checks: dependency scanning, secrets, SBOM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Determinism checks: replay parity, checkpoint integrity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 checks: bundle completeness, signatures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Release checks: branch protection, required approvals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 means “promotable.” Red means “evidence missing” — not “we hope it’s fine.”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8368" y="6601968"/>
            <a:ext cx="1087495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Planetary Orchestrator Fabric v0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smic_purplered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57200"/>
            <a:ext cx="108749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658368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 drill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58368" y="1335024"/>
            <a:ext cx="178308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91640"/>
            <a:ext cx="5245456" cy="2788920"/>
          </a:xfrm>
          <a:prstGeom prst="roundRect">
            <a:avLst/>
          </a:prstGeom>
          <a:solidFill>
            <a:srgbClr val="1008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1856232"/>
            <a:ext cx="480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 path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77824" y="2167128"/>
            <a:ext cx="4806544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2258568"/>
            <a:ext cx="4806544" cy="2112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run-demo --plan mission.json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--live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--bundle evidence.zip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87872" y="1691640"/>
            <a:ext cx="5245456" cy="2788920"/>
          </a:xfrm>
          <a:prstGeom prst="roundRect">
            <a:avLst/>
          </a:prstGeom>
          <a:solidFill>
            <a:srgbClr val="1008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07328" y="1856232"/>
            <a:ext cx="480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path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07328" y="2167128"/>
            <a:ext cx="4806544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07328" y="2258568"/>
            <a:ext cx="4806544" cy="2112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/missions {plan}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 /missions/{id}/telemetry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 /missions/{id}/evidence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58368" y="4617720"/>
            <a:ext cx="10874959" cy="178308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" y="4782312"/>
            <a:ext cx="104360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success looks like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77824" y="5093208"/>
            <a:ext cx="10436047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7824" y="5184648"/>
            <a:ext cx="10436047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Telemetry + checkpoints observed in real time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 bundle exported (human‑readable + machine‑verifiable)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Replay parity validates determinism under stress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58368" y="6601968"/>
            <a:ext cx="1087495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Planetary Orchestrator Fabric v0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smic_purplered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57200"/>
            <a:ext cx="108749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 THEORY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658368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honesty dominant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58368" y="1335024"/>
            <a:ext cx="178308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91640"/>
            <a:ext cx="10874959" cy="205740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1856232"/>
            <a:ext cx="104360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Coordination as mechanism design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77824" y="2167128"/>
            <a:ext cx="10436047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2258568"/>
            <a:ext cx="10436047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verification is cheap and continuous, the equilibrium shifts: truth becomes the dominant strategy for participants.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58368" y="3886200"/>
            <a:ext cx="3368954" cy="233172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4050792"/>
            <a:ext cx="29300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Verifiability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77824" y="4361688"/>
            <a:ext cx="2930042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" y="4453128"/>
            <a:ext cx="2930042" cy="1655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Signed artefacts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Replay parity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Deterministic logs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411370" y="3886200"/>
            <a:ext cx="3368954" cy="233172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30826" y="4050792"/>
            <a:ext cx="29300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Attribution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630826" y="4361688"/>
            <a:ext cx="2930042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30826" y="4453128"/>
            <a:ext cx="2930042" cy="1655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Owner commands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Versioned plans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Immutable evidence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64373" y="3886200"/>
            <a:ext cx="3368954" cy="233172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83829" y="4050792"/>
            <a:ext cx="29300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Enforcement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383829" y="4361688"/>
            <a:ext cx="2930042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83829" y="4453128"/>
            <a:ext cx="2930042" cy="1655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Fail‑closed promotion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Policy‑as‑code gates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Scope + budget limits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58368" y="6601968"/>
            <a:ext cx="1087495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Planetary Orchestrator Fabric v0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smic_purplered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57200"/>
            <a:ext cx="108749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658368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self‑maintaining job organism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58368" y="1335024"/>
            <a:ext cx="178308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91640"/>
            <a:ext cx="5245456" cy="443484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1856232"/>
            <a:ext cx="480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Autopoietic loop (operational)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77824" y="2167128"/>
            <a:ext cx="4806544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2258568"/>
            <a:ext cx="4806544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Ingest signals → update plan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Execute under guardrails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Emit evidence continuously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Recover via checkpoints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Improve via verification feedback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87872" y="1691640"/>
            <a:ext cx="5245456" cy="443484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07328" y="1856232"/>
            <a:ext cx="480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07328" y="2167128"/>
            <a:ext cx="4806544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07328" y="2258568"/>
            <a:ext cx="4806544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Resilience becomes automatic, not heroic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Complexity stays bounded as scale rises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Operations become a living discipline — continuously verified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“organism” is not sentient — it is governed, observable, and replayable.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6601968"/>
            <a:ext cx="1087495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Planetary Orchestrator Fabric v0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cover_1920x10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57200"/>
            <a:ext cx="108749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" y="658368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walkthrough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58368" y="1335024"/>
            <a:ext cx="178308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" y="1920240"/>
            <a:ext cx="6035040" cy="356616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2084832"/>
            <a:ext cx="5596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operator motion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77824" y="2395728"/>
            <a:ext cx="5596128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2487168"/>
            <a:ext cx="5596128" cy="2889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Select or author a mission plan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Review invariants + approvals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Execute the plan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telemetry + events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Export the evidence bundle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58368" y="5806440"/>
            <a:ext cx="10874959" cy="685800"/>
          </a:xfrm>
          <a:prstGeom prst="roundRect">
            <a:avLst/>
          </a:prstGeom>
          <a:solidFill>
            <a:srgbClr val="0A0611"/>
          </a:solidFill>
          <a:ln w="12700">
            <a:solidFill>
              <a:srgbClr val="E63B8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" y="5971032"/>
            <a:ext cx="54864" cy="356616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6112" y="5952744"/>
            <a:ext cx="10527487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operational miracle is not speed — it is governability at scale, backed by continuously verifiable truth.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6601968"/>
            <a:ext cx="1087495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Planetary Orchestrator Fabric v0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smic_purplered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57200"/>
            <a:ext cx="108749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658368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End‑to‑end run (conceptual)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58368" y="1335024"/>
            <a:ext cx="178308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91640"/>
            <a:ext cx="5245456" cy="288036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1856232"/>
            <a:ext cx="480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steps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77824" y="2167128"/>
            <a:ext cx="4806544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2258568"/>
            <a:ext cx="4806544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Select or author a mission plan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Review invariants + guardrails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Execute the plan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telemetry + events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Export evidence bundle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87872" y="1691640"/>
            <a:ext cx="5245456" cy="2880360"/>
          </a:xfrm>
          <a:prstGeom prst="roundRect">
            <a:avLst/>
          </a:prstGeom>
          <a:solidFill>
            <a:srgbClr val="10081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07328" y="1856232"/>
            <a:ext cx="480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command surface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07328" y="2167128"/>
            <a:ext cx="4806544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07328" y="2258568"/>
            <a:ext cx="4806544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run-demo --plan mission.json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--live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--bundle evidence.zip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58368" y="4800600"/>
            <a:ext cx="10874959" cy="178308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" y="4965192"/>
            <a:ext cx="104360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should feel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77824" y="5276088"/>
            <a:ext cx="10436047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7824" y="5367528"/>
            <a:ext cx="10436047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path is simple because invariants are strict.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Scale is possible because evidence is continuous.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Power is safe because promotion is gated.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58368" y="6601968"/>
            <a:ext cx="1087495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Planetary Orchestrator Fabric v0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smic_purplered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57200"/>
            <a:ext cx="108749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658368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planetary readiness matters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58368" y="1335024"/>
            <a:ext cx="178308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91640"/>
            <a:ext cx="3368954" cy="443484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1856232"/>
            <a:ext cx="29300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systems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77824" y="2167128"/>
            <a:ext cx="2930042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2258568"/>
            <a:ext cx="2930042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Grid balancing and dispatch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Climate operations readiness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Infrastructure outage drills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Portfolio‑level optimization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11370" y="1691640"/>
            <a:ext cx="3368954" cy="443484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0826" y="1856232"/>
            <a:ext cx="29300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 networks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630826" y="2167128"/>
            <a:ext cx="2930042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30826" y="2258568"/>
            <a:ext cx="2930042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End‑to‑end logistics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Bottleneck prediction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Resilient re‑routing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Evidence‑backed procurement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64373" y="1691640"/>
            <a:ext cx="3368954" cy="443484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83829" y="1856232"/>
            <a:ext cx="29300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Science &amp; frontier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383829" y="2167128"/>
            <a:ext cx="2930042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83829" y="2258568"/>
            <a:ext cx="2930042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High‑throughput experiment ops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Reproducible research pipelines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Multi‑site lab orchestration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 bundles for audits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58368" y="5989320"/>
            <a:ext cx="10874959" cy="411480"/>
          </a:xfrm>
          <a:prstGeom prst="roundRect">
            <a:avLst/>
          </a:prstGeom>
          <a:solidFill>
            <a:srgbClr val="0A0611"/>
          </a:solidFill>
          <a:ln w="12700">
            <a:solidFill>
              <a:srgbClr val="E63B8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8096" y="6153912"/>
            <a:ext cx="54864" cy="82296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6112" y="6135624"/>
            <a:ext cx="10527487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 can run a drill, you can run the world — responsibly.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58368" y="6601968"/>
            <a:ext cx="1087495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Planetary Orchestrator Fabric v0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smic_purplered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57200"/>
            <a:ext cx="108749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658368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concentrates where coordination is trusted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58368" y="1335024"/>
            <a:ext cx="178308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91640"/>
            <a:ext cx="5245456" cy="443484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1856232"/>
            <a:ext cx="480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primitives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77824" y="2167128"/>
            <a:ext cx="4806544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2258568"/>
            <a:ext cx="4806544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Owner‑defined invariants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Verifiable execution and replay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Exportable evidence bundles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Fail‑closed release mechanisms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Auditable provenance end‑to‑end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87872" y="1691640"/>
            <a:ext cx="5245456" cy="443484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07328" y="1856232"/>
            <a:ext cx="480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07328" y="2167128"/>
            <a:ext cx="4806544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07328" y="2258568"/>
            <a:ext cx="4806544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Coordination becomes a compounding advantage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Institutions can operate faster than crises propagate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Capital allocates to verifiable outcomes (not narratives)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New markets emerge around attestable execution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fabric becomes an infrastructure for trustworthy global action.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6601968"/>
            <a:ext cx="1087495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Planetary Orchestrator Fabric v0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smic_purplered.pn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457200"/>
            <a:ext cx="1087495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658368"/>
            <a:ext cx="1087495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 the spine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58368" y="1335024"/>
            <a:ext cx="1783080" cy="54864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91640"/>
            <a:ext cx="3368954" cy="393192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1856232"/>
            <a:ext cx="29300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Pilot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77824" y="2167128"/>
            <a:ext cx="2930042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2258568"/>
            <a:ext cx="2930042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Choose a high‑stakes domain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invariants + scope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 first evidence‑backed drill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11370" y="1691640"/>
            <a:ext cx="3368954" cy="393192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0826" y="1856232"/>
            <a:ext cx="29300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Integrate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630826" y="2167128"/>
            <a:ext cx="2930042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30826" y="2258568"/>
            <a:ext cx="2930042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Bind CI gates to promotion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Standardize evidence bundles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Instrument telemetry mesh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64373" y="1691640"/>
            <a:ext cx="3368954" cy="3931920"/>
          </a:xfrm>
          <a:prstGeom prst="roundRect">
            <a:avLst/>
          </a:prstGeom>
          <a:solidFill>
            <a:srgbClr val="0C0615"/>
          </a:solidFill>
          <a:ln w="12700">
            <a:solidFill>
              <a:srgbClr val="3B1A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83829" y="1856232"/>
            <a:ext cx="293004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Scale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383829" y="2167128"/>
            <a:ext cx="2930042" cy="0"/>
          </a:xfrm>
          <a:prstGeom prst="line">
            <a:avLst/>
          </a:prstGeom>
          <a:noFill/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83829" y="2258568"/>
            <a:ext cx="2930042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Shard across environments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Automate recovery + replay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Expand autonomy with proofs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58368" y="5669280"/>
            <a:ext cx="10874959" cy="713232"/>
          </a:xfrm>
          <a:prstGeom prst="roundRect">
            <a:avLst/>
          </a:prstGeom>
          <a:solidFill>
            <a:srgbClr val="0A0611"/>
          </a:solidFill>
          <a:ln w="12700">
            <a:solidFill>
              <a:srgbClr val="E63B8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8096" y="5833872"/>
            <a:ext cx="54864" cy="384048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6112" y="5815584"/>
            <a:ext cx="1052748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C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next planetary drill. Export the evidence. Promote only what can be proven.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58368" y="6601968"/>
            <a:ext cx="5437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montreal.ai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58368" y="6601968"/>
            <a:ext cx="1087495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D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Planetary Orchestrator Fabric v0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2026-01-09T15:10:47Z</dcterms:created>
  <dcterms:modified xsi:type="dcterms:W3CDTF">2026-01-09T15:10:47Z</dcterms:modified>
</cp:coreProperties>
</file>